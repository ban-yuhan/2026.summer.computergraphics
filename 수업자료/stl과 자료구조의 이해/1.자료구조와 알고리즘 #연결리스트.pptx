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5" r:id="rId4"/>
    <p:sldId id="273" r:id="rId5"/>
    <p:sldId id="263" r:id="rId6"/>
    <p:sldId id="268" r:id="rId7"/>
    <p:sldId id="267" r:id="rId8"/>
    <p:sldId id="266" r:id="rId9"/>
    <p:sldId id="275" r:id="rId10"/>
    <p:sldId id="270" r:id="rId11"/>
    <p:sldId id="276" r:id="rId12"/>
    <p:sldId id="277" r:id="rId13"/>
    <p:sldId id="278" r:id="rId14"/>
    <p:sldId id="279" r:id="rId15"/>
    <p:sldId id="2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CBC98-96B3-432A-ADA7-1890139EF500}" v="2" dt="2022-02-16T11:02:05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A5ACBC98-96B3-432A-ADA7-1890139EF500}"/>
    <pc:docChg chg="modSld">
      <pc:chgData name="김 홍규" userId="6d16d8e1c579a2a2" providerId="LiveId" clId="{A5ACBC98-96B3-432A-ADA7-1890139EF500}" dt="2022-02-16T11:02:05.468" v="1"/>
      <pc:docMkLst>
        <pc:docMk/>
      </pc:docMkLst>
      <pc:sldChg chg="modSp">
        <pc:chgData name="김 홍규" userId="6d16d8e1c579a2a2" providerId="LiveId" clId="{A5ACBC98-96B3-432A-ADA7-1890139EF500}" dt="2022-02-16T11:02:05.468" v="1"/>
        <pc:sldMkLst>
          <pc:docMk/>
          <pc:sldMk cId="2356933053" sldId="273"/>
        </pc:sldMkLst>
        <pc:spChg chg="mod">
          <ac:chgData name="김 홍규" userId="6d16d8e1c579a2a2" providerId="LiveId" clId="{A5ACBC98-96B3-432A-ADA7-1890139EF500}" dt="2022-02-16T11:02:05.468" v="1"/>
          <ac:spMkLst>
            <pc:docMk/>
            <pc:sldMk cId="2356933053" sldId="273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2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15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1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92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0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1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81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u/s!AqKiecXh2BZti7c8h7ITi0zpFJvNuw?e=kvMh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6" name="그룹 3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" name="직사각형 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" name="직사각형 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6" name="직사각형 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" name="그룹 3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2" name="그룹 11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3" name="직사각형 12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14" name="직사각형 1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15" name="직사각형 1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0" name="직사각형 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21" name="직사각형 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4" name="직사각형 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25" name="직사각형 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" name="직사각형 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28" name="직사각형 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0" name="꺾인 연결선 29"/>
              <p:cNvCxnSpPr>
                <a:stCxn id="6" idx="3"/>
                <a:endCxn id="14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꺾인 연결선 31"/>
              <p:cNvCxnSpPr>
                <a:stCxn id="14" idx="2"/>
                <a:endCxn id="24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7" name="직사각형 3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err="1"/>
              <a:t>연결리스트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30613"/>
            <a:ext cx="9144000" cy="1655762"/>
          </a:xfrm>
        </p:spPr>
        <p:txBody>
          <a:bodyPr/>
          <a:lstStyle/>
          <a:p>
            <a:r>
              <a:rPr lang="ko-KR" altLang="en-US"/>
              <a:t>자료구조와 알고리즘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550" y="5657671"/>
            <a:ext cx="296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/>
              <a:t>Ver. 3.10</a:t>
            </a:r>
            <a:br>
              <a:rPr lang="en-US" altLang="ko-KR"/>
            </a:br>
            <a:r>
              <a:rPr lang="en-US" altLang="ko-KR" err="1"/>
              <a:t>LastUpdate</a:t>
            </a:r>
            <a:r>
              <a:rPr lang="en-US" altLang="ko-KR"/>
              <a:t>: 2021.06.28</a:t>
            </a:r>
          </a:p>
          <a:p>
            <a:pPr algn="r"/>
            <a:r>
              <a:rPr lang="en-US" altLang="ko-KR"/>
              <a:t>downkhg@gmail.com</a:t>
            </a:r>
          </a:p>
          <a:p>
            <a:pPr algn="r"/>
            <a:r>
              <a:rPr lang="ko-KR" altLang="en-US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101100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리스트의 종류</a:t>
            </a:r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82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z="3600"/>
              <a:t>단일 연결 리스트</a:t>
            </a:r>
            <a:endParaRPr lang="en-US" altLang="ko-KR" sz="3600"/>
          </a:p>
          <a:p>
            <a:pPr marL="514350" indent="-514350">
              <a:buFont typeface="+mj-lt"/>
              <a:buAutoNum type="arabicPeriod"/>
            </a:pPr>
            <a:endParaRPr lang="en-US" altLang="ko-KR" sz="3600"/>
          </a:p>
          <a:p>
            <a:pPr marL="514350" indent="-514350">
              <a:buFont typeface="+mj-lt"/>
              <a:buAutoNum type="arabicPeriod"/>
            </a:pPr>
            <a:r>
              <a:rPr lang="ko-KR" altLang="en-US" sz="3600"/>
              <a:t>환형 연결 리스트</a:t>
            </a:r>
            <a:endParaRPr lang="en-US" altLang="ko-KR" sz="3600"/>
          </a:p>
          <a:p>
            <a:pPr marL="514350" indent="-514350">
              <a:buFont typeface="+mj-lt"/>
              <a:buAutoNum type="arabicPeriod"/>
            </a:pPr>
            <a:endParaRPr lang="en-US" altLang="ko-KR" sz="3600"/>
          </a:p>
          <a:p>
            <a:pPr marL="514350" indent="-514350">
              <a:buFont typeface="+mj-lt"/>
              <a:buAutoNum type="arabicPeriod"/>
            </a:pPr>
            <a:r>
              <a:rPr lang="ko-KR" altLang="en-US" sz="3600"/>
              <a:t>이중 연결 리스트</a:t>
            </a:r>
            <a:br>
              <a:rPr lang="en-US" altLang="ko-KR" sz="3200"/>
            </a:br>
            <a:endParaRPr lang="en-US" altLang="ko-KR" sz="3200"/>
          </a:p>
          <a:p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072316" y="2582580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2949533" y="2582580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3844581" y="2577383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4729985" y="2577383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cxnSp>
        <p:nvCxnSpPr>
          <p:cNvPr id="6" name="직선 화살표 연결선 5"/>
          <p:cNvCxnSpPr>
            <a:stCxn id="4" idx="3"/>
            <a:endCxn id="83" idx="1"/>
          </p:cNvCxnSpPr>
          <p:nvPr/>
        </p:nvCxnSpPr>
        <p:spPr>
          <a:xfrm>
            <a:off x="2695575" y="2786715"/>
            <a:ext cx="253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>
            <a:stCxn id="83" idx="3"/>
          </p:cNvCxnSpPr>
          <p:nvPr/>
        </p:nvCxnSpPr>
        <p:spPr>
          <a:xfrm>
            <a:off x="3572792" y="2786715"/>
            <a:ext cx="271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84" idx="3"/>
            <a:endCxn id="85" idx="1"/>
          </p:cNvCxnSpPr>
          <p:nvPr/>
        </p:nvCxnSpPr>
        <p:spPr>
          <a:xfrm>
            <a:off x="4467840" y="2781518"/>
            <a:ext cx="2621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2088821" y="3729908"/>
            <a:ext cx="3280928" cy="413467"/>
            <a:chOff x="2088821" y="3729908"/>
            <a:chExt cx="3280928" cy="413467"/>
          </a:xfrm>
        </p:grpSpPr>
        <p:sp>
          <p:nvSpPr>
            <p:cNvPr id="87" name="직사각형 86"/>
            <p:cNvSpPr/>
            <p:nvPr/>
          </p:nvSpPr>
          <p:spPr>
            <a:xfrm>
              <a:off x="2088821" y="3735105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966038" y="3735105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3861086" y="3729908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746490" y="3729908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cxnSp>
          <p:nvCxnSpPr>
            <p:cNvPr id="91" name="직선 화살표 연결선 90"/>
            <p:cNvCxnSpPr>
              <a:stCxn id="87" idx="3"/>
              <a:endCxn id="88" idx="1"/>
            </p:cNvCxnSpPr>
            <p:nvPr/>
          </p:nvCxnSpPr>
          <p:spPr>
            <a:xfrm>
              <a:off x="2712080" y="3939240"/>
              <a:ext cx="2539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>
              <a:stCxn id="88" idx="3"/>
            </p:cNvCxnSpPr>
            <p:nvPr/>
          </p:nvCxnSpPr>
          <p:spPr>
            <a:xfrm>
              <a:off x="3589297" y="3939240"/>
              <a:ext cx="2717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/>
            <p:cNvCxnSpPr>
              <a:stCxn id="89" idx="3"/>
              <a:endCxn id="90" idx="1"/>
            </p:cNvCxnSpPr>
            <p:nvPr/>
          </p:nvCxnSpPr>
          <p:spPr>
            <a:xfrm>
              <a:off x="4484345" y="3934043"/>
              <a:ext cx="2621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꺾인 연결선 15"/>
          <p:cNvCxnSpPr>
            <a:stCxn id="90" idx="3"/>
            <a:endCxn id="87" idx="1"/>
          </p:cNvCxnSpPr>
          <p:nvPr/>
        </p:nvCxnSpPr>
        <p:spPr>
          <a:xfrm flipH="1">
            <a:off x="2088821" y="3934043"/>
            <a:ext cx="3280928" cy="5197"/>
          </a:xfrm>
          <a:prstGeom prst="bentConnector5">
            <a:avLst>
              <a:gd name="adj1" fmla="val -6968"/>
              <a:gd name="adj2" fmla="val 8426631"/>
              <a:gd name="adj3" fmla="val 1069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2097737" y="5059080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106" name="직사각형 105"/>
          <p:cNvSpPr/>
          <p:nvPr/>
        </p:nvSpPr>
        <p:spPr>
          <a:xfrm>
            <a:off x="2974954" y="5059080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107" name="직사각형 106"/>
          <p:cNvSpPr/>
          <p:nvPr/>
        </p:nvSpPr>
        <p:spPr>
          <a:xfrm>
            <a:off x="3870002" y="5053883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108" name="직사각형 107"/>
          <p:cNvSpPr/>
          <p:nvPr/>
        </p:nvSpPr>
        <p:spPr>
          <a:xfrm>
            <a:off x="4755406" y="5053883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06885" y="1711395"/>
            <a:ext cx="5553243" cy="1429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2720996" y="5233995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H="1">
            <a:off x="2720996" y="5314945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3611281" y="5219714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H="1">
            <a:off x="3611281" y="5300664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>
          <a:xfrm>
            <a:off x="4501448" y="5214951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H="1">
            <a:off x="4501448" y="5295901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3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3" grpId="0" animBg="1"/>
      <p:bldP spid="84" grpId="0" animBg="1"/>
      <p:bldP spid="85" grpId="0" animBg="1"/>
      <p:bldP spid="105" grpId="0" animBg="1"/>
      <p:bldP spid="106" grpId="0" animBg="1"/>
      <p:bldP spid="107" grpId="0" animBg="1"/>
      <p:bldP spid="108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</a:t>
            </a:r>
            <a:r>
              <a:rPr lang="ko-KR" altLang="en-US" err="1"/>
              <a:t>연결리스트</a:t>
            </a:r>
            <a:r>
              <a:rPr lang="ko-KR" altLang="en-US"/>
              <a:t> </a:t>
            </a:r>
            <a:r>
              <a:rPr lang="en-US" altLang="ko-KR"/>
              <a:t>#</a:t>
            </a:r>
            <a:r>
              <a:rPr lang="ko-KR" altLang="en-US"/>
              <a:t>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1175"/>
          </a:xfrm>
        </p:spPr>
        <p:txBody>
          <a:bodyPr/>
          <a:lstStyle/>
          <a:p>
            <a:r>
              <a:rPr lang="ko-KR" altLang="en-US"/>
              <a:t>자료가 배열과 다르게 연속적이지 않으므로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추가 삽입이 간편하다</a:t>
            </a:r>
            <a:r>
              <a:rPr lang="en-US" altLang="ko-KR"/>
              <a:t>.</a:t>
            </a:r>
          </a:p>
          <a:p>
            <a:r>
              <a:rPr lang="ko-KR" altLang="en-US"/>
              <a:t>처음부터 시작해 검색하므로</a:t>
            </a:r>
            <a:r>
              <a:rPr lang="en-US" altLang="ko-KR"/>
              <a:t>,</a:t>
            </a:r>
            <a:r>
              <a:rPr lang="ko-KR" altLang="en-US"/>
              <a:t> 중간과 끝에 있는 자료는 찾는데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시간이 걸린다</a:t>
            </a:r>
            <a:r>
              <a:rPr lang="en-US" altLang="ko-KR"/>
              <a:t>.</a:t>
            </a:r>
          </a:p>
          <a:p>
            <a:r>
              <a:rPr lang="ko-KR" altLang="en-US" err="1"/>
              <a:t>노드</a:t>
            </a:r>
            <a:r>
              <a:rPr lang="ko-KR" altLang="en-US"/>
              <a:t> 다음 </a:t>
            </a:r>
            <a:r>
              <a:rPr lang="ko-KR" altLang="en-US" err="1"/>
              <a:t>노드를</a:t>
            </a:r>
            <a:r>
              <a:rPr lang="ko-KR" altLang="en-US"/>
              <a:t> </a:t>
            </a:r>
            <a:r>
              <a:rPr lang="ko-KR" altLang="en-US" err="1"/>
              <a:t>가르킨다</a:t>
            </a:r>
            <a:r>
              <a:rPr lang="en-US" altLang="ko-KR"/>
              <a:t>.</a:t>
            </a:r>
          </a:p>
          <a:p>
            <a:r>
              <a:rPr lang="ko-KR" altLang="en-US"/>
              <a:t>시작을 항상 가지고 있다</a:t>
            </a:r>
            <a:r>
              <a:rPr lang="en-US" altLang="ko-KR"/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29861" y="4679094"/>
            <a:ext cx="1528796" cy="1745498"/>
            <a:chOff x="996909" y="4679094"/>
            <a:chExt cx="1528796" cy="1745498"/>
          </a:xfrm>
        </p:grpSpPr>
        <p:grpSp>
          <p:nvGrpSpPr>
            <p:cNvPr id="53" name="그룹 52"/>
            <p:cNvGrpSpPr/>
            <p:nvPr/>
          </p:nvGrpSpPr>
          <p:grpSpPr>
            <a:xfrm>
              <a:off x="1079290" y="5059232"/>
              <a:ext cx="1446415" cy="1365360"/>
              <a:chOff x="3363359" y="3507971"/>
              <a:chExt cx="1446415" cy="1365360"/>
            </a:xfrm>
          </p:grpSpPr>
          <p:grpSp>
            <p:nvGrpSpPr>
              <p:cNvPr id="54" name="그룹 53"/>
              <p:cNvGrpSpPr/>
              <p:nvPr/>
            </p:nvGrpSpPr>
            <p:grpSpPr>
              <a:xfrm>
                <a:off x="3363359" y="3507971"/>
                <a:ext cx="1446415" cy="1030778"/>
                <a:chOff x="1363287" y="3507971"/>
                <a:chExt cx="1446415" cy="1030778"/>
              </a:xfrm>
            </p:grpSpPr>
            <p:sp>
              <p:nvSpPr>
                <p:cNvPr id="56" name="직사각형 55"/>
                <p:cNvSpPr/>
                <p:nvPr/>
              </p:nvSpPr>
              <p:spPr>
                <a:xfrm>
                  <a:off x="1363287" y="3507971"/>
                  <a:ext cx="1446415" cy="58189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/>
                    <a:t>0x01</a:t>
                  </a:r>
                </a:p>
                <a:p>
                  <a:pPr algn="ctr"/>
                  <a:r>
                    <a:rPr lang="en-US" altLang="ko-KR" sz="1000"/>
                    <a:t>(</a:t>
                  </a:r>
                  <a:r>
                    <a:rPr lang="ko-KR" altLang="en-US" sz="1000" err="1"/>
                    <a:t>노드의</a:t>
                  </a:r>
                  <a:r>
                    <a:rPr lang="ko-KR" altLang="en-US" sz="1000"/>
                    <a:t> 메모리 주소</a:t>
                  </a:r>
                  <a:r>
                    <a:rPr lang="en-US" altLang="ko-KR" sz="1000"/>
                    <a:t>)</a:t>
                  </a:r>
                  <a:endParaRPr lang="ko-KR" altLang="en-US" sz="1000"/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>
                  <a:off x="1363287" y="4089862"/>
                  <a:ext cx="1446415" cy="448887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ysClr val="windowText" lastClr="000000"/>
                      </a:solidFill>
                    </a:rPr>
                    <a:t>A</a:t>
                  </a:r>
                  <a:br>
                    <a:rPr lang="en-US" altLang="ko-KR">
                      <a:solidFill>
                        <a:sysClr val="windowText" lastClr="000000"/>
                      </a:solidFill>
                    </a:rPr>
                  </a:br>
                  <a:r>
                    <a:rPr lang="en-US" altLang="ko-KR" sz="1000">
                      <a:solidFill>
                        <a:sysClr val="windowText" lastClr="000000"/>
                      </a:solidFill>
                    </a:rPr>
                    <a:t>(</a:t>
                  </a:r>
                  <a:r>
                    <a:rPr lang="ko-KR" altLang="en-US" sz="1000">
                      <a:solidFill>
                        <a:sysClr val="windowText" lastClr="000000"/>
                      </a:solidFill>
                    </a:rPr>
                    <a:t>데이터</a:t>
                  </a:r>
                  <a:r>
                    <a:rPr lang="en-US" altLang="ko-KR" sz="1000">
                      <a:solidFill>
                        <a:sysClr val="windowText" lastClr="000000"/>
                      </a:solidFill>
                    </a:rPr>
                    <a:t>)</a:t>
                  </a:r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55" name="직사각형 54"/>
              <p:cNvSpPr/>
              <p:nvPr/>
            </p:nvSpPr>
            <p:spPr>
              <a:xfrm>
                <a:off x="3363359" y="4538749"/>
                <a:ext cx="1446415" cy="3345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/>
                  <a:t>NULL</a:t>
                </a:r>
              </a:p>
              <a:p>
                <a:pPr algn="ctr"/>
                <a:r>
                  <a:rPr lang="en-US" altLang="ko-KR" sz="1000"/>
                  <a:t>(</a:t>
                </a:r>
                <a:r>
                  <a:rPr lang="ko-KR" altLang="en-US" sz="1000"/>
                  <a:t>다음노드의 주소</a:t>
                </a:r>
                <a:r>
                  <a:rPr lang="en-US" altLang="ko-KR" sz="1000"/>
                  <a:t>)</a:t>
                </a:r>
                <a:endParaRPr lang="ko-KR" altLang="en-US" sz="1000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996909" y="4679094"/>
              <a:ext cx="1528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노드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3131900" y="4677753"/>
            <a:ext cx="1530932" cy="1412257"/>
            <a:chOff x="3098948" y="4677753"/>
            <a:chExt cx="1530932" cy="1412257"/>
          </a:xfrm>
        </p:grpSpPr>
        <p:grpSp>
          <p:nvGrpSpPr>
            <p:cNvPr id="60" name="그룹 59"/>
            <p:cNvGrpSpPr/>
            <p:nvPr/>
          </p:nvGrpSpPr>
          <p:grpSpPr>
            <a:xfrm>
              <a:off x="3183465" y="5059232"/>
              <a:ext cx="1446415" cy="1030778"/>
              <a:chOff x="1363287" y="3507971"/>
              <a:chExt cx="1446415" cy="1030778"/>
            </a:xfrm>
          </p:grpSpPr>
          <p:sp>
            <p:nvSpPr>
              <p:cNvPr id="61" name="직사각형 60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Begin</a:t>
                </a:r>
              </a:p>
              <a:p>
                <a:pPr algn="ctr"/>
                <a:r>
                  <a:rPr lang="en-US" altLang="ko-KR" sz="1000"/>
                  <a:t>(</a:t>
                </a:r>
                <a:r>
                  <a:rPr lang="ko-KR" altLang="en-US" sz="1000"/>
                  <a:t>변수명</a:t>
                </a:r>
                <a:r>
                  <a:rPr lang="en-US" altLang="ko-KR" sz="1000"/>
                  <a:t>)</a:t>
                </a:r>
                <a:endParaRPr lang="ko-KR" altLang="en-US" sz="1000"/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NULL</a:t>
                </a:r>
              </a:p>
              <a:p>
                <a:pPr algn="ctr"/>
                <a:r>
                  <a:rPr lang="en-US" altLang="ko-KR" sz="1000">
                    <a:solidFill>
                      <a:sysClr val="windowText" lastClr="000000"/>
                    </a:solidFill>
                  </a:rPr>
                  <a:t>(</a:t>
                </a:r>
                <a:r>
                  <a:rPr lang="ko-KR" altLang="en-US" sz="1000">
                    <a:solidFill>
                      <a:sysClr val="windowText" lastClr="000000"/>
                    </a:solidFill>
                  </a:rPr>
                  <a:t>첫노드 주소</a:t>
                </a:r>
                <a:r>
                  <a:rPr lang="en-US" altLang="ko-KR" sz="1000">
                    <a:solidFill>
                      <a:sysClr val="windowText" lastClr="000000"/>
                    </a:solidFill>
                  </a:rPr>
                  <a:t>)</a:t>
                </a:r>
                <a:endParaRPr lang="ko-KR" altLang="en-US" sz="100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098948" y="4677753"/>
              <a:ext cx="1530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시작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545439" y="4700233"/>
            <a:ext cx="114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</a:t>
            </a:r>
            <a:r>
              <a:rPr lang="ko-KR" altLang="en-US"/>
              <a:t>구조체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95729" y="4682208"/>
            <a:ext cx="124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</a:t>
            </a:r>
            <a:r>
              <a:rPr lang="ko-KR" altLang="en-US"/>
              <a:t>포인터</a:t>
            </a:r>
          </a:p>
        </p:txBody>
      </p:sp>
    </p:spTree>
    <p:extLst>
      <p:ext uri="{BB962C8B-B14F-4D97-AF65-F5344CB8AC3E}">
        <p14:creationId xmlns:p14="http://schemas.microsoft.com/office/powerpoint/2010/main" val="183672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3" grpId="0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연결리스트 </a:t>
            </a:r>
            <a:r>
              <a:rPr lang="en-US" altLang="ko-KR"/>
              <a:t>#</a:t>
            </a:r>
            <a:r>
              <a:rPr lang="ko-KR" altLang="en-US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8133" cy="2449813"/>
          </a:xfrm>
        </p:spPr>
        <p:txBody>
          <a:bodyPr>
            <a:normAutofit/>
          </a:bodyPr>
          <a:lstStyle/>
          <a:p>
            <a:r>
              <a:rPr lang="ko-KR" altLang="en-US"/>
              <a:t>다음 단일 연결리스트 소스를 정상적으로 작동하게 만들어 볼 것</a:t>
            </a:r>
            <a:r>
              <a:rPr lang="en-US" altLang="ko-KR"/>
              <a:t>!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구현순서는 다음 내용에 해당하는 순서 대로 진행해야 차례대로 확인인 가능하다</a:t>
            </a:r>
            <a:r>
              <a:rPr lang="en-US" altLang="ko-KR"/>
              <a:t>.(</a:t>
            </a:r>
            <a:r>
              <a:rPr lang="ko-KR" altLang="en-US"/>
              <a:t>확인용 출력기능은 구현되어있다</a:t>
            </a:r>
            <a:r>
              <a:rPr lang="en-US" altLang="ko-KR"/>
              <a:t>)</a:t>
            </a:r>
          </a:p>
          <a:p>
            <a:r>
              <a:rPr lang="ko-KR" altLang="en-US"/>
              <a:t>반드시</a:t>
            </a:r>
            <a:r>
              <a:rPr lang="en-US" altLang="ko-KR"/>
              <a:t>,</a:t>
            </a:r>
            <a:r>
              <a:rPr lang="ko-KR" altLang="en-US"/>
              <a:t> 다운로드 받아 </a:t>
            </a:r>
            <a:r>
              <a:rPr lang="ko-KR" altLang="en-US" err="1"/>
              <a:t>슬라이드쇼로</a:t>
            </a:r>
            <a:r>
              <a:rPr lang="ko-KR" altLang="en-US"/>
              <a:t> 애니메이션 실행해 볼 것</a:t>
            </a:r>
            <a:r>
              <a:rPr lang="en-US" altLang="ko-KR"/>
              <a:t>!</a:t>
            </a:r>
          </a:p>
          <a:p>
            <a:r>
              <a:rPr lang="ko-KR" altLang="en-US"/>
              <a:t>연결리스트를 만들며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C</a:t>
            </a:r>
            <a:r>
              <a:rPr lang="ko-KR" altLang="en-US"/>
              <a:t>문법 자연스럽게 이해 할 수 있다</a:t>
            </a:r>
            <a:r>
              <a:rPr lang="en-US" altLang="ko-KR"/>
              <a:t>!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1253303" y="4690557"/>
            <a:ext cx="1214694" cy="1320800"/>
            <a:chOff x="9182373" y="4961467"/>
            <a:chExt cx="1214694" cy="1320800"/>
          </a:xfrm>
        </p:grpSpPr>
        <p:sp>
          <p:nvSpPr>
            <p:cNvPr id="5" name="아래쪽 화살표 4">
              <a:hlinkClick r:id="rId2"/>
            </p:cNvPr>
            <p:cNvSpPr/>
            <p:nvPr/>
          </p:nvSpPr>
          <p:spPr>
            <a:xfrm>
              <a:off x="9182373" y="4961467"/>
              <a:ext cx="1214694" cy="1016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9182373" y="6087533"/>
              <a:ext cx="1214694" cy="194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타원형 설명선 9"/>
          <p:cNvSpPr/>
          <p:nvPr/>
        </p:nvSpPr>
        <p:spPr>
          <a:xfrm>
            <a:off x="1860650" y="4119055"/>
            <a:ext cx="1524000" cy="7704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예제 </a:t>
            </a:r>
            <a:br>
              <a:rPr lang="en-US" altLang="ko-KR" sz="1600"/>
            </a:br>
            <a:r>
              <a:rPr lang="ko-KR" altLang="en-US" sz="1600"/>
              <a:t>다운로드</a:t>
            </a:r>
          </a:p>
        </p:txBody>
      </p:sp>
      <p:sp>
        <p:nvSpPr>
          <p:cNvPr id="52" name="내용 개체 틀 2"/>
          <p:cNvSpPr txBox="1">
            <a:spLocks/>
          </p:cNvSpPr>
          <p:nvPr/>
        </p:nvSpPr>
        <p:spPr>
          <a:xfrm>
            <a:off x="6233530" y="4889521"/>
            <a:ext cx="5137203" cy="1731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>
                <a:solidFill>
                  <a:srgbClr val="FF0000"/>
                </a:solidFill>
              </a:rPr>
              <a:t># </a:t>
            </a:r>
            <a:r>
              <a:rPr lang="ko-KR" altLang="en-US" sz="2000" b="1">
                <a:solidFill>
                  <a:srgbClr val="FF0000"/>
                </a:solidFill>
              </a:rPr>
              <a:t>심화문제</a:t>
            </a:r>
            <a:r>
              <a:rPr lang="en-US" altLang="ko-KR" sz="2000" b="1">
                <a:solidFill>
                  <a:srgbClr val="FF0000"/>
                </a:solidFill>
              </a:rPr>
              <a:t> #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>
                <a:solidFill>
                  <a:srgbClr val="FF0000"/>
                </a:solidFill>
              </a:rPr>
              <a:t>1.</a:t>
            </a:r>
            <a:r>
              <a:rPr lang="ko-KR" altLang="en-US" sz="2000">
                <a:solidFill>
                  <a:srgbClr val="FF0000"/>
                </a:solidFill>
              </a:rPr>
              <a:t>해당 코드에 존재하는 버그 찾아 고치기</a:t>
            </a:r>
            <a:r>
              <a:rPr lang="en-US" altLang="ko-KR" sz="2000">
                <a:solidFill>
                  <a:srgbClr val="FF0000"/>
                </a:solidFill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>
                <a:solidFill>
                  <a:srgbClr val="FF0000"/>
                </a:solidFill>
              </a:rPr>
              <a:t>2.</a:t>
            </a:r>
            <a:r>
              <a:rPr lang="ko-KR" altLang="en-US" sz="2000">
                <a:solidFill>
                  <a:srgbClr val="FF0000"/>
                </a:solidFill>
              </a:rPr>
              <a:t>환형</a:t>
            </a:r>
            <a:r>
              <a:rPr lang="en-US" altLang="ko-KR" sz="2000">
                <a:solidFill>
                  <a:srgbClr val="FF0000"/>
                </a:solidFill>
              </a:rPr>
              <a:t>,</a:t>
            </a:r>
            <a:r>
              <a:rPr lang="ko-KR" altLang="en-US" sz="2000">
                <a:solidFill>
                  <a:srgbClr val="FF0000"/>
                </a:solidFill>
              </a:rPr>
              <a:t>이중연결리스트 구현하기</a:t>
            </a:r>
            <a:r>
              <a:rPr lang="en-US" altLang="ko-KR" sz="2000">
                <a:solidFill>
                  <a:srgbClr val="FF0000"/>
                </a:solidFill>
              </a:rPr>
              <a:t>!</a:t>
            </a:r>
          </a:p>
          <a:p>
            <a:pPr marL="0" indent="0">
              <a:buNone/>
            </a:pPr>
            <a:r>
              <a:rPr lang="en-US" altLang="ko-KR" sz="2000">
                <a:solidFill>
                  <a:srgbClr val="FF0000"/>
                </a:solidFill>
              </a:rPr>
              <a:t>3.</a:t>
            </a:r>
            <a:r>
              <a:rPr lang="ko-KR" altLang="en-US" sz="2000">
                <a:solidFill>
                  <a:srgbClr val="FF0000"/>
                </a:solidFill>
              </a:rPr>
              <a:t>연결리스트 뒤집기 구현하기</a:t>
            </a:r>
            <a:r>
              <a:rPr lang="en-US" altLang="ko-KR" sz="2000">
                <a:solidFill>
                  <a:srgbClr val="FF0000"/>
                </a:solidFill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93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/>
              <a:t>추가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728330"/>
            <a:ext cx="10515600" cy="1768410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자료를 리스트에 추가하기 위한 기능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이전의 데이터의 연결기능도 포함한다</a:t>
            </a:r>
            <a:r>
              <a:rPr lang="en-US" altLang="ko-KR"/>
              <a:t>.</a:t>
            </a:r>
          </a:p>
          <a:p>
            <a:r>
              <a:rPr lang="ko-KR" altLang="en-US" err="1"/>
              <a:t>첫번째를</a:t>
            </a:r>
            <a:r>
              <a:rPr lang="ko-KR" altLang="en-US"/>
              <a:t> 가리키는 값</a:t>
            </a:r>
            <a:r>
              <a:rPr lang="en-US" altLang="ko-KR"/>
              <a:t>(Begin)</a:t>
            </a:r>
            <a:r>
              <a:rPr lang="ko-KR" altLang="en-US"/>
              <a:t>을 항상 가지고 있어야한다</a:t>
            </a:r>
            <a:endParaRPr lang="en-US" altLang="ko-KR"/>
          </a:p>
          <a:p>
            <a:r>
              <a:rPr lang="ko-KR" altLang="en-US"/>
              <a:t>각 노드는 다음 노드의 주소 값을 가지고 있다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ko-KR" altLang="en-US"/>
          </a:p>
        </p:txBody>
      </p:sp>
      <p:grpSp>
        <p:nvGrpSpPr>
          <p:cNvPr id="100" name="그룹 9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NULL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4" name="직사각형 103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6" name="직사각형 11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30" name="꺾인 연결선 129"/>
          <p:cNvCxnSpPr>
            <a:stCxn id="99" idx="3"/>
            <a:endCxn id="102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4" idx="3"/>
            <a:endCxn id="117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16" idx="3"/>
            <a:endCxn id="122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21" idx="3"/>
            <a:endCxn id="127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0x02</a:t>
            </a:r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6940711" y="4538749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0x04</a:t>
            </a: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1395319" y="4239487"/>
            <a:ext cx="1446415" cy="448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0x01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59" name="내용 개체 틀 2"/>
          <p:cNvSpPr txBox="1">
            <a:spLocks/>
          </p:cNvSpPr>
          <p:nvPr/>
        </p:nvSpPr>
        <p:spPr>
          <a:xfrm>
            <a:off x="435088" y="5154396"/>
            <a:ext cx="7362711" cy="1069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>
                <a:solidFill>
                  <a:srgbClr val="FF0000"/>
                </a:solidFill>
              </a:rPr>
              <a:t>새로운 </a:t>
            </a:r>
            <a:r>
              <a:rPr lang="ko-KR" altLang="en-US" sz="2000" err="1">
                <a:solidFill>
                  <a:srgbClr val="FF0000"/>
                </a:solidFill>
              </a:rPr>
              <a:t>노드</a:t>
            </a:r>
            <a:r>
              <a:rPr lang="ko-KR" altLang="en-US" sz="2000">
                <a:solidFill>
                  <a:srgbClr val="FF0000"/>
                </a:solidFill>
              </a:rPr>
              <a:t> </a:t>
            </a:r>
            <a:r>
              <a:rPr lang="ko-KR" altLang="en-US" sz="2000" err="1">
                <a:solidFill>
                  <a:srgbClr val="FF0000"/>
                </a:solidFill>
              </a:rPr>
              <a:t>추가시에</a:t>
            </a:r>
            <a:r>
              <a:rPr lang="ko-KR" altLang="en-US" sz="2000">
                <a:solidFill>
                  <a:srgbClr val="FF0000"/>
                </a:solidFill>
              </a:rPr>
              <a:t> </a:t>
            </a:r>
            <a:r>
              <a:rPr lang="ko-KR" altLang="en-US" sz="2000" err="1">
                <a:solidFill>
                  <a:srgbClr val="FF0000"/>
                </a:solidFill>
              </a:rPr>
              <a:t>이전값과</a:t>
            </a:r>
            <a:r>
              <a:rPr lang="ko-KR" altLang="en-US" sz="2000">
                <a:solidFill>
                  <a:srgbClr val="FF0000"/>
                </a:solidFill>
              </a:rPr>
              <a:t> 연결하려면 알아야 할 것은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ko-KR" altLang="en-US" sz="2000">
                <a:solidFill>
                  <a:srgbClr val="FF0000"/>
                </a:solidFill>
              </a:rPr>
              <a:t>   </a:t>
            </a:r>
            <a:r>
              <a:rPr lang="en-US" altLang="ko-KR" sz="2000">
                <a:solidFill>
                  <a:srgbClr val="FF0000"/>
                </a:solidFill>
              </a:rPr>
              <a:t>-&gt;</a:t>
            </a:r>
            <a:r>
              <a:rPr lang="ko-KR" altLang="en-US" sz="2000">
                <a:solidFill>
                  <a:srgbClr val="FF0000"/>
                </a:solidFill>
              </a:rPr>
              <a:t>마지막으로 생성된 </a:t>
            </a:r>
            <a:r>
              <a:rPr lang="ko-KR" altLang="en-US" sz="2000" err="1">
                <a:solidFill>
                  <a:srgbClr val="FF0000"/>
                </a:solidFill>
              </a:rPr>
              <a:t>노드</a:t>
            </a:r>
            <a:r>
              <a:rPr lang="en-US" altLang="ko-KR" sz="200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477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7" grpId="0" animBg="1"/>
      <p:bldP spid="69" grpId="0" animBg="1"/>
      <p:bldP spid="70" grpId="0" animBg="1"/>
      <p:bldP spid="65" grpId="0" animBg="1"/>
      <p:bldP spid="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/>
              <a:t>검색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4042"/>
          </a:xfrm>
        </p:spPr>
        <p:txBody>
          <a:bodyPr>
            <a:normAutofit/>
          </a:bodyPr>
          <a:lstStyle/>
          <a:p>
            <a:r>
              <a:rPr lang="ko-KR" altLang="en-US"/>
              <a:t>특정 검색한 자료의 </a:t>
            </a:r>
            <a:r>
              <a:rPr lang="ko-KR" altLang="en-US" err="1"/>
              <a:t>노드를</a:t>
            </a:r>
            <a:r>
              <a:rPr lang="ko-KR" altLang="en-US"/>
              <a:t> 반환한다</a:t>
            </a:r>
            <a:r>
              <a:rPr lang="en-US" altLang="ko-KR"/>
              <a:t>.</a:t>
            </a:r>
          </a:p>
          <a:p>
            <a:r>
              <a:rPr lang="ko-KR" altLang="en-US"/>
              <a:t>연결리스트에서 </a:t>
            </a:r>
            <a:r>
              <a:rPr lang="en-US" altLang="ko-KR"/>
              <a:t>“D”</a:t>
            </a:r>
            <a:r>
              <a:rPr lang="ko-KR" altLang="en-US"/>
              <a:t>를 검색하기</a:t>
            </a:r>
            <a:endParaRPr lang="en-US" altLang="ko-KR"/>
          </a:p>
        </p:txBody>
      </p:sp>
      <p:grpSp>
        <p:nvGrpSpPr>
          <p:cNvPr id="100" name="그룹 9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0x01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4" name="직사각형 103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6" name="직사각형 11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30" name="꺾인 연결선 129"/>
          <p:cNvCxnSpPr>
            <a:stCxn id="99" idx="3"/>
            <a:endCxn id="102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4" idx="3"/>
            <a:endCxn id="117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16" idx="3"/>
            <a:endCxn id="122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21" idx="3"/>
            <a:endCxn id="127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오른쪽 화살표 4"/>
          <p:cNvSpPr/>
          <p:nvPr/>
        </p:nvSpPr>
        <p:spPr>
          <a:xfrm>
            <a:off x="2814718" y="3857101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#D</a:t>
            </a:r>
            <a:endParaRPr lang="ko-KR" altLang="en-US" sz="800"/>
          </a:p>
        </p:txBody>
      </p:sp>
      <p:sp>
        <p:nvSpPr>
          <p:cNvPr id="62" name="오른쪽 화살표 61"/>
          <p:cNvSpPr/>
          <p:nvPr/>
        </p:nvSpPr>
        <p:spPr>
          <a:xfrm>
            <a:off x="4643918" y="3890352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#D</a:t>
            </a:r>
            <a:endParaRPr lang="ko-KR" altLang="en-US" sz="800"/>
          </a:p>
        </p:txBody>
      </p:sp>
      <p:sp>
        <p:nvSpPr>
          <p:cNvPr id="63" name="오른쪽 화살표 62"/>
          <p:cNvSpPr/>
          <p:nvPr/>
        </p:nvSpPr>
        <p:spPr>
          <a:xfrm>
            <a:off x="6502385" y="3923604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#D</a:t>
            </a:r>
            <a:endParaRPr lang="ko-KR" altLang="en-US" sz="800"/>
          </a:p>
        </p:txBody>
      </p:sp>
      <p:sp>
        <p:nvSpPr>
          <p:cNvPr id="64" name="오른쪽 화살표 63"/>
          <p:cNvSpPr/>
          <p:nvPr/>
        </p:nvSpPr>
        <p:spPr>
          <a:xfrm>
            <a:off x="8280965" y="3906978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#D</a:t>
            </a:r>
            <a:endParaRPr lang="ko-KR" altLang="en-US" sz="800"/>
          </a:p>
        </p:txBody>
      </p:sp>
      <p:sp>
        <p:nvSpPr>
          <p:cNvPr id="6" name="직사각형 5"/>
          <p:cNvSpPr/>
          <p:nvPr/>
        </p:nvSpPr>
        <p:spPr>
          <a:xfrm>
            <a:off x="8540738" y="3358343"/>
            <a:ext cx="1744811" cy="1720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rgbClr val="FF0000"/>
                </a:solidFill>
              </a:rPr>
              <a:t>검색완료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0x02</a:t>
            </a:r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6940711" y="4538749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0x04</a:t>
            </a:r>
            <a:endParaRPr lang="ko-KR" altLang="en-US"/>
          </a:p>
        </p:txBody>
      </p:sp>
      <p:sp>
        <p:nvSpPr>
          <p:cNvPr id="66" name="내용 개체 틀 2"/>
          <p:cNvSpPr txBox="1">
            <a:spLocks/>
          </p:cNvSpPr>
          <p:nvPr/>
        </p:nvSpPr>
        <p:spPr>
          <a:xfrm>
            <a:off x="435089" y="5154396"/>
            <a:ext cx="7090776" cy="1069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>
                <a:solidFill>
                  <a:srgbClr val="FF0000"/>
                </a:solidFill>
              </a:rPr>
              <a:t>다음 노드로 이동하기위해 필요한 값은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ko-KR" altLang="en-US" sz="2000">
                <a:solidFill>
                  <a:srgbClr val="FF0000"/>
                </a:solidFill>
              </a:rPr>
              <a:t>   </a:t>
            </a:r>
            <a:r>
              <a:rPr lang="en-US" altLang="ko-KR" sz="2000">
                <a:solidFill>
                  <a:srgbClr val="FF0000"/>
                </a:solidFill>
              </a:rPr>
              <a:t>-&gt;</a:t>
            </a:r>
            <a:r>
              <a:rPr lang="ko-KR" altLang="en-US" sz="2000">
                <a:solidFill>
                  <a:srgbClr val="FF0000"/>
                </a:solidFill>
              </a:rPr>
              <a:t>현재 노드가 가진 다음 노드의 값</a:t>
            </a:r>
            <a:r>
              <a:rPr lang="en-US" altLang="ko-KR" sz="200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3926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2" grpId="0" animBg="1"/>
      <p:bldP spid="63" grpId="0" animBg="1"/>
      <p:bldP spid="64" grpId="0" animBg="1"/>
      <p:bldP spid="6" grpId="0" animBg="1"/>
      <p:bldP spid="6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 err="1"/>
              <a:t>중간삽입</a:t>
            </a:r>
            <a:endParaRPr lang="ko-KR" altLang="en-US"/>
          </a:p>
        </p:txBody>
      </p:sp>
      <p:grpSp>
        <p:nvGrpSpPr>
          <p:cNvPr id="100" name="그룹 9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0x01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4" name="직사각형 103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0x02</a:t>
              </a:r>
              <a:endParaRPr lang="ko-KR" altLang="en-US"/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6" name="직사각형 11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0x02</a:t>
              </a:r>
              <a:endParaRPr lang="ko-KR" altLang="en-US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0x04</a:t>
              </a:r>
              <a:endParaRPr lang="ko-KR" altLang="en-US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30" name="꺾인 연결선 129"/>
          <p:cNvCxnSpPr>
            <a:stCxn id="99" idx="3"/>
            <a:endCxn id="102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4" idx="3"/>
            <a:endCxn id="117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16" idx="3"/>
            <a:endCxn id="122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21" idx="3"/>
            <a:endCxn id="127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/>
          <p:cNvGrpSpPr/>
          <p:nvPr/>
        </p:nvGrpSpPr>
        <p:grpSpPr>
          <a:xfrm>
            <a:off x="6079450" y="5270272"/>
            <a:ext cx="1446415" cy="1330036"/>
            <a:chOff x="3363359" y="3507971"/>
            <a:chExt cx="1446415" cy="1330036"/>
          </a:xfrm>
        </p:grpSpPr>
        <p:grpSp>
          <p:nvGrpSpPr>
            <p:cNvPr id="57" name="그룹 56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9" name="직사각형 58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0x05</a:t>
                </a:r>
                <a:endParaRPr lang="ko-KR" altLang="en-US"/>
              </a:p>
            </p:txBody>
          </p:sp>
          <p:sp>
            <p:nvSpPr>
              <p:cNvPr id="60" name="직사각형 5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E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58" name="직사각형 57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1" name="꺾인 연결선 10"/>
          <p:cNvCxnSpPr>
            <a:stCxn id="116" idx="2"/>
            <a:endCxn id="59" idx="1"/>
          </p:cNvCxnSpPr>
          <p:nvPr/>
        </p:nvCxnSpPr>
        <p:spPr>
          <a:xfrm rot="16200000" flipH="1">
            <a:off x="5620563" y="5102330"/>
            <a:ext cx="723211" cy="1945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58" idx="3"/>
            <a:endCxn id="122" idx="1"/>
          </p:cNvCxnSpPr>
          <p:nvPr/>
        </p:nvCxnSpPr>
        <p:spPr>
          <a:xfrm flipH="1" flipV="1">
            <a:off x="6940712" y="3798917"/>
            <a:ext cx="585153" cy="2651762"/>
          </a:xfrm>
          <a:prstGeom prst="bentConnector5">
            <a:avLst>
              <a:gd name="adj1" fmla="val -39067"/>
              <a:gd name="adj2" fmla="val 52664"/>
              <a:gd name="adj3" fmla="val 1305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6079450" y="6301050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sp>
        <p:nvSpPr>
          <p:cNvPr id="6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277"/>
          </a:xfrm>
        </p:spPr>
        <p:txBody>
          <a:bodyPr/>
          <a:lstStyle/>
          <a:p>
            <a:r>
              <a:rPr lang="ko-KR" altLang="en-US"/>
              <a:t>삽입할 </a:t>
            </a:r>
            <a:r>
              <a:rPr lang="en-US" altLang="ko-KR"/>
              <a:t>“B”</a:t>
            </a:r>
            <a:r>
              <a:rPr lang="ko-KR" altLang="en-US"/>
              <a:t>를 찾는다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64" name="내용 개체 틀 2"/>
          <p:cNvSpPr txBox="1">
            <a:spLocks/>
          </p:cNvSpPr>
          <p:nvPr/>
        </p:nvSpPr>
        <p:spPr>
          <a:xfrm>
            <a:off x="838200" y="2824740"/>
            <a:ext cx="4242803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“E”</a:t>
            </a:r>
            <a:r>
              <a:rPr lang="ko-KR" altLang="en-US"/>
              <a:t>와 </a:t>
            </a:r>
            <a:r>
              <a:rPr lang="en-US" altLang="ko-KR"/>
              <a:t>“C”</a:t>
            </a:r>
            <a:r>
              <a:rPr lang="ko-KR" altLang="en-US"/>
              <a:t>에 연결을 하고</a:t>
            </a:r>
            <a:r>
              <a:rPr lang="en-US" altLang="ko-KR"/>
              <a:t>,</a:t>
            </a:r>
          </a:p>
        </p:txBody>
      </p:sp>
      <p:sp>
        <p:nvSpPr>
          <p:cNvPr id="65" name="내용 개체 틀 2"/>
          <p:cNvSpPr txBox="1">
            <a:spLocks/>
          </p:cNvSpPr>
          <p:nvPr/>
        </p:nvSpPr>
        <p:spPr>
          <a:xfrm>
            <a:off x="838201" y="2335442"/>
            <a:ext cx="442375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/>
          </a:p>
        </p:txBody>
      </p:sp>
      <p:sp>
        <p:nvSpPr>
          <p:cNvPr id="66" name="직사각형 65"/>
          <p:cNvSpPr/>
          <p:nvPr/>
        </p:nvSpPr>
        <p:spPr>
          <a:xfrm>
            <a:off x="5161678" y="4538747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NULL</a:t>
            </a:r>
            <a:endParaRPr lang="ko-KR" altLang="en-US"/>
          </a:p>
        </p:txBody>
      </p:sp>
      <p:sp>
        <p:nvSpPr>
          <p:cNvPr id="67" name="내용 개체 틀 2"/>
          <p:cNvSpPr txBox="1">
            <a:spLocks/>
          </p:cNvSpPr>
          <p:nvPr/>
        </p:nvSpPr>
        <p:spPr>
          <a:xfrm>
            <a:off x="5050116" y="2780637"/>
            <a:ext cx="3337011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“B”</a:t>
            </a:r>
            <a:r>
              <a:rPr lang="ko-KR" altLang="en-US"/>
              <a:t>에 </a:t>
            </a:r>
            <a:r>
              <a:rPr lang="en-US" altLang="ko-KR"/>
              <a:t>“E”</a:t>
            </a:r>
            <a:r>
              <a:rPr lang="ko-KR" altLang="en-US"/>
              <a:t>를 잇는다</a:t>
            </a:r>
            <a:r>
              <a:rPr lang="en-US" altLang="ko-KR"/>
              <a:t>.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5161678" y="4538747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5161677" y="4543108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0x05</a:t>
            </a:r>
            <a:endParaRPr lang="ko-KR" altLang="en-US"/>
          </a:p>
        </p:txBody>
      </p:sp>
      <p:sp>
        <p:nvSpPr>
          <p:cNvPr id="74" name="내용 개체 틀 2"/>
          <p:cNvSpPr txBox="1">
            <a:spLocks/>
          </p:cNvSpPr>
          <p:nvPr/>
        </p:nvSpPr>
        <p:spPr>
          <a:xfrm>
            <a:off x="838276" y="2326845"/>
            <a:ext cx="3733725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“E”</a:t>
            </a:r>
            <a:r>
              <a:rPr lang="ko-KR" altLang="en-US"/>
              <a:t>노드를 생성한다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75" name="오른쪽 화살표 74"/>
          <p:cNvSpPr/>
          <p:nvPr/>
        </p:nvSpPr>
        <p:spPr>
          <a:xfrm>
            <a:off x="2814718" y="3857101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#B</a:t>
            </a:r>
            <a:endParaRPr lang="ko-KR" altLang="en-US" sz="800"/>
          </a:p>
        </p:txBody>
      </p:sp>
      <p:sp>
        <p:nvSpPr>
          <p:cNvPr id="76" name="오른쪽 화살표 75"/>
          <p:cNvSpPr/>
          <p:nvPr/>
        </p:nvSpPr>
        <p:spPr>
          <a:xfrm>
            <a:off x="4675902" y="3848792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#B</a:t>
            </a:r>
            <a:endParaRPr lang="ko-KR" altLang="en-US" sz="800"/>
          </a:p>
        </p:txBody>
      </p:sp>
      <p:sp>
        <p:nvSpPr>
          <p:cNvPr id="77" name="직사각형 76"/>
          <p:cNvSpPr/>
          <p:nvPr/>
        </p:nvSpPr>
        <p:spPr>
          <a:xfrm>
            <a:off x="5012478" y="3325095"/>
            <a:ext cx="1744811" cy="1720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rgbClr val="FF0000"/>
                </a:solidFill>
              </a:rPr>
              <a:t>검색완료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3" name="내용 개체 틀 2"/>
          <p:cNvSpPr txBox="1">
            <a:spLocks/>
          </p:cNvSpPr>
          <p:nvPr/>
        </p:nvSpPr>
        <p:spPr>
          <a:xfrm>
            <a:off x="838276" y="1383282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특정데이터를 가진 </a:t>
            </a:r>
            <a:r>
              <a:rPr lang="ko-KR" altLang="en-US" err="1"/>
              <a:t>노드의</a:t>
            </a:r>
            <a:r>
              <a:rPr lang="ko-KR" altLang="en-US"/>
              <a:t> 뒤에 새로운 </a:t>
            </a:r>
            <a:r>
              <a:rPr lang="ko-KR" altLang="en-US" err="1"/>
              <a:t>노드를</a:t>
            </a:r>
            <a:r>
              <a:rPr lang="ko-KR" altLang="en-US"/>
              <a:t> 추가한다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105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1" grpId="0" animBg="1"/>
      <p:bldP spid="63" grpId="0" build="p"/>
      <p:bldP spid="64" grpId="0"/>
      <p:bldP spid="67" grpId="0"/>
      <p:bldP spid="70" grpId="0" animBg="1"/>
      <p:bldP spid="74" grpId="0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/>
              <a:t>삭제</a:t>
            </a:r>
          </a:p>
        </p:txBody>
      </p:sp>
      <p:grpSp>
        <p:nvGrpSpPr>
          <p:cNvPr id="100" name="그룹 9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0x01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4" name="직사각형 103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0x01</a:t>
              </a:r>
              <a:endParaRPr lang="ko-KR" altLang="en-US"/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6" name="직사각형 11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0x02</a:t>
              </a:r>
              <a:endParaRPr lang="ko-KR" altLang="en-US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0x04</a:t>
              </a:r>
              <a:endParaRPr lang="ko-KR" altLang="en-US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30" name="꺾인 연결선 129"/>
          <p:cNvCxnSpPr>
            <a:stCxn id="99" idx="3"/>
            <a:endCxn id="102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4" idx="3"/>
            <a:endCxn id="117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16" idx="3"/>
            <a:endCxn id="122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21" idx="3"/>
            <a:endCxn id="127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0x02</a:t>
            </a:r>
            <a:endParaRPr lang="ko-KR" altLang="en-US"/>
          </a:p>
        </p:txBody>
      </p:sp>
      <p:sp>
        <p:nvSpPr>
          <p:cNvPr id="57" name="내용 개체 틀 2"/>
          <p:cNvSpPr>
            <a:spLocks noGrp="1"/>
          </p:cNvSpPr>
          <p:nvPr>
            <p:ph idx="1"/>
          </p:nvPr>
        </p:nvSpPr>
        <p:spPr>
          <a:xfrm>
            <a:off x="838200" y="1994965"/>
            <a:ext cx="10515600" cy="494277"/>
          </a:xfrm>
        </p:spPr>
        <p:txBody>
          <a:bodyPr/>
          <a:lstStyle/>
          <a:p>
            <a:r>
              <a:rPr lang="ko-KR" altLang="en-US"/>
              <a:t>연결리스트에서 </a:t>
            </a:r>
            <a:r>
              <a:rPr lang="en-US" altLang="ko-KR"/>
              <a:t>“C”</a:t>
            </a:r>
            <a:r>
              <a:rPr lang="ko-KR" altLang="en-US"/>
              <a:t>를 검색한다</a:t>
            </a:r>
            <a:r>
              <a:rPr lang="en-US" altLang="ko-KR"/>
              <a:t>.</a:t>
            </a:r>
          </a:p>
        </p:txBody>
      </p:sp>
      <p:sp>
        <p:nvSpPr>
          <p:cNvPr id="58" name="오른쪽 화살표 57"/>
          <p:cNvSpPr/>
          <p:nvPr/>
        </p:nvSpPr>
        <p:spPr>
          <a:xfrm>
            <a:off x="2814718" y="3857101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#C</a:t>
            </a:r>
            <a:endParaRPr lang="ko-KR" altLang="en-US" sz="800"/>
          </a:p>
        </p:txBody>
      </p:sp>
      <p:sp>
        <p:nvSpPr>
          <p:cNvPr id="59" name="오른쪽 화살표 58"/>
          <p:cNvSpPr/>
          <p:nvPr/>
        </p:nvSpPr>
        <p:spPr>
          <a:xfrm>
            <a:off x="4738961" y="3840472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#C</a:t>
            </a:r>
            <a:endParaRPr lang="ko-KR" altLang="en-US" sz="800"/>
          </a:p>
        </p:txBody>
      </p:sp>
      <p:sp>
        <p:nvSpPr>
          <p:cNvPr id="60" name="오른쪽 화살표 59"/>
          <p:cNvSpPr/>
          <p:nvPr/>
        </p:nvSpPr>
        <p:spPr>
          <a:xfrm>
            <a:off x="6489956" y="3848785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검색 </a:t>
            </a:r>
            <a:r>
              <a:rPr lang="en-US" altLang="ko-KR" sz="800"/>
              <a:t>#C</a:t>
            </a:r>
            <a:endParaRPr lang="ko-KR" altLang="en-US" sz="800"/>
          </a:p>
        </p:txBody>
      </p:sp>
      <p:sp>
        <p:nvSpPr>
          <p:cNvPr id="62" name="직사각형 61"/>
          <p:cNvSpPr/>
          <p:nvPr/>
        </p:nvSpPr>
        <p:spPr>
          <a:xfrm>
            <a:off x="6795927" y="3304306"/>
            <a:ext cx="1744811" cy="1720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rgbClr val="FF0000"/>
                </a:solidFill>
              </a:rPr>
              <a:t>검색완료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795927" y="3304228"/>
            <a:ext cx="1744811" cy="17207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5161677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0x04</a:t>
            </a:r>
            <a:endParaRPr lang="ko-KR" altLang="en-US"/>
          </a:p>
        </p:txBody>
      </p:sp>
      <p:cxnSp>
        <p:nvCxnSpPr>
          <p:cNvPr id="4" name="꺾인 연결선 3"/>
          <p:cNvCxnSpPr>
            <a:stCxn id="65" idx="3"/>
            <a:endCxn id="127" idx="1"/>
          </p:cNvCxnSpPr>
          <p:nvPr/>
        </p:nvCxnSpPr>
        <p:spPr>
          <a:xfrm flipV="1">
            <a:off x="6608092" y="3798917"/>
            <a:ext cx="2086258" cy="8894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내용 개체 틀 2"/>
          <p:cNvSpPr txBox="1">
            <a:spLocks/>
          </p:cNvSpPr>
          <p:nvPr/>
        </p:nvSpPr>
        <p:spPr>
          <a:xfrm>
            <a:off x="838200" y="2994080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“C”</a:t>
            </a:r>
            <a:r>
              <a:rPr lang="ko-KR" altLang="en-US"/>
              <a:t>노드를 삭제한다</a:t>
            </a:r>
            <a:r>
              <a:rPr lang="en-US" altLang="ko-KR"/>
              <a:t>.</a:t>
            </a:r>
          </a:p>
        </p:txBody>
      </p:sp>
      <p:sp>
        <p:nvSpPr>
          <p:cNvPr id="68" name="내용 개체 틀 2"/>
          <p:cNvSpPr txBox="1">
            <a:spLocks/>
          </p:cNvSpPr>
          <p:nvPr/>
        </p:nvSpPr>
        <p:spPr>
          <a:xfrm>
            <a:off x="838200" y="2504782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“B”</a:t>
            </a:r>
            <a:r>
              <a:rPr lang="ko-KR" altLang="en-US"/>
              <a:t>와 </a:t>
            </a:r>
            <a:r>
              <a:rPr lang="en-US" altLang="ko-KR"/>
              <a:t>“D”</a:t>
            </a:r>
            <a:r>
              <a:rPr lang="ko-KR" altLang="en-US"/>
              <a:t>를 연결한다</a:t>
            </a:r>
            <a:r>
              <a:rPr lang="en-US" altLang="ko-KR"/>
              <a:t>.</a:t>
            </a:r>
          </a:p>
        </p:txBody>
      </p:sp>
      <p:sp>
        <p:nvSpPr>
          <p:cNvPr id="66" name="내용 개체 틀 2"/>
          <p:cNvSpPr txBox="1">
            <a:spLocks/>
          </p:cNvSpPr>
          <p:nvPr/>
        </p:nvSpPr>
        <p:spPr>
          <a:xfrm>
            <a:off x="435089" y="5154395"/>
            <a:ext cx="7090776" cy="1560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solidFill>
                  <a:srgbClr val="FF0000"/>
                </a:solidFill>
              </a:rPr>
              <a:t>C</a:t>
            </a:r>
            <a:r>
              <a:rPr lang="ko-KR" altLang="en-US" sz="2000">
                <a:solidFill>
                  <a:srgbClr val="FF0000"/>
                </a:solidFill>
              </a:rPr>
              <a:t>를 </a:t>
            </a:r>
            <a:r>
              <a:rPr lang="ko-KR" altLang="en-US" sz="2000" err="1">
                <a:solidFill>
                  <a:srgbClr val="FF0000"/>
                </a:solidFill>
              </a:rPr>
              <a:t>찾았을때</a:t>
            </a:r>
            <a:r>
              <a:rPr lang="en-US" altLang="ko-KR" sz="2000">
                <a:solidFill>
                  <a:srgbClr val="FF0000"/>
                </a:solidFill>
              </a:rPr>
              <a:t>, B</a:t>
            </a:r>
            <a:r>
              <a:rPr lang="ko-KR" altLang="en-US" sz="2000">
                <a:solidFill>
                  <a:srgbClr val="FF0000"/>
                </a:solidFill>
              </a:rPr>
              <a:t>와 </a:t>
            </a:r>
            <a:r>
              <a:rPr lang="en-US" altLang="ko-KR" sz="2000">
                <a:solidFill>
                  <a:srgbClr val="FF0000"/>
                </a:solidFill>
              </a:rPr>
              <a:t>D</a:t>
            </a:r>
            <a:r>
              <a:rPr lang="ko-KR" altLang="en-US" sz="2000">
                <a:solidFill>
                  <a:srgbClr val="FF0000"/>
                </a:solidFill>
              </a:rPr>
              <a:t>사이를 연결하기 위해 필요한 것은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ko-KR" altLang="en-US" sz="2000">
                <a:solidFill>
                  <a:srgbClr val="FF0000"/>
                </a:solidFill>
              </a:rPr>
              <a:t>   </a:t>
            </a:r>
            <a:r>
              <a:rPr lang="en-US" altLang="ko-KR" sz="2000">
                <a:solidFill>
                  <a:srgbClr val="FF0000"/>
                </a:solidFill>
              </a:rPr>
              <a:t>-&gt;</a:t>
            </a:r>
            <a:r>
              <a:rPr lang="ko-KR" altLang="en-US" sz="2000">
                <a:solidFill>
                  <a:srgbClr val="FF0000"/>
                </a:solidFill>
              </a:rPr>
              <a:t>이전 노드</a:t>
            </a:r>
            <a:r>
              <a:rPr lang="en-US" altLang="ko-KR" sz="2000">
                <a:solidFill>
                  <a:srgbClr val="FF0000"/>
                </a:solidFill>
              </a:rPr>
              <a:t>(B)</a:t>
            </a:r>
            <a:r>
              <a:rPr lang="ko-KR" altLang="en-US" sz="2000">
                <a:solidFill>
                  <a:srgbClr val="FF0000"/>
                </a:solidFill>
              </a:rPr>
              <a:t>의 값</a:t>
            </a:r>
            <a:r>
              <a:rPr lang="en-US" altLang="ko-KR" sz="2000">
                <a:solidFill>
                  <a:srgbClr val="FF0000"/>
                </a:solidFill>
              </a:rPr>
              <a:t>! </a:t>
            </a:r>
          </a:p>
          <a:p>
            <a:r>
              <a:rPr lang="ko-KR" altLang="en-US" sz="2000">
                <a:solidFill>
                  <a:srgbClr val="FF0000"/>
                </a:solidFill>
              </a:rPr>
              <a:t>이전의 값을 알기 위해서는 어떻게 </a:t>
            </a:r>
            <a:r>
              <a:rPr lang="ko-KR" altLang="en-US" sz="2000" err="1">
                <a:solidFill>
                  <a:srgbClr val="FF0000"/>
                </a:solidFill>
              </a:rPr>
              <a:t>해야하는가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altLang="ko-KR" sz="2000">
                <a:solidFill>
                  <a:srgbClr val="FF0000"/>
                </a:solidFill>
              </a:rPr>
              <a:t>  -&gt;</a:t>
            </a:r>
            <a:r>
              <a:rPr lang="ko-KR" altLang="en-US" sz="2000">
                <a:solidFill>
                  <a:srgbClr val="FF0000"/>
                </a:solidFill>
              </a:rPr>
              <a:t>검색하며 이동하는 중 </a:t>
            </a:r>
            <a:r>
              <a:rPr lang="ko-KR" altLang="en-US" sz="2000" err="1">
                <a:solidFill>
                  <a:srgbClr val="FF0000"/>
                </a:solidFill>
              </a:rPr>
              <a:t>이전노드를</a:t>
            </a:r>
            <a:r>
              <a:rPr lang="ko-KR" altLang="en-US" sz="2000">
                <a:solidFill>
                  <a:srgbClr val="FF0000"/>
                </a:solidFill>
              </a:rPr>
              <a:t> </a:t>
            </a:r>
            <a:r>
              <a:rPr lang="ko-KR" altLang="en-US" sz="2000" err="1">
                <a:solidFill>
                  <a:srgbClr val="FF0000"/>
                </a:solidFill>
              </a:rPr>
              <a:t>저장해야한다</a:t>
            </a:r>
            <a:r>
              <a:rPr lang="en-US" altLang="ko-KR" sz="2000">
                <a:solidFill>
                  <a:srgbClr val="FF0000"/>
                </a:solidFill>
              </a:rPr>
              <a:t>.</a:t>
            </a:r>
          </a:p>
          <a:p>
            <a:endParaRPr lang="en-US" altLang="ko-KR" sz="2000">
              <a:solidFill>
                <a:srgbClr val="FF0000"/>
              </a:solidFill>
            </a:endParaRP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특정 값을 가진 노드를 삭제한다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110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7" grpId="0" build="p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2" grpId="0" animBg="1"/>
      <p:bldP spid="62" grpId="1" animBg="1"/>
      <p:bldP spid="63" grpId="0" animBg="1"/>
      <p:bldP spid="63" grpId="1" animBg="1"/>
      <p:bldP spid="65" grpId="0" animBg="1"/>
      <p:bldP spid="67" grpId="0"/>
      <p:bldP spid="68" grpId="0"/>
      <p:bldP spid="66" grpId="0" build="p"/>
      <p:bldP spid="6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/>
              <a:t>연결리스트 삭제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모든 연결리스트의 </a:t>
            </a:r>
            <a:r>
              <a:rPr lang="ko-KR" altLang="en-US" err="1"/>
              <a:t>노드를</a:t>
            </a:r>
            <a:r>
              <a:rPr lang="ko-KR" altLang="en-US"/>
              <a:t> 삭제하기</a:t>
            </a:r>
            <a:r>
              <a:rPr lang="en-US" altLang="ko-KR"/>
              <a:t>.</a:t>
            </a:r>
          </a:p>
          <a:p>
            <a:r>
              <a:rPr lang="ko-KR" altLang="en-US"/>
              <a:t>이전에 했던 내용이 제대로 숙지 </a:t>
            </a:r>
            <a:r>
              <a:rPr lang="ko-KR" altLang="en-US" err="1"/>
              <a:t>할것</a:t>
            </a:r>
            <a:r>
              <a:rPr lang="en-US" altLang="ko-KR"/>
              <a:t>!</a:t>
            </a:r>
          </a:p>
          <a:p>
            <a:r>
              <a:rPr lang="ko-KR" altLang="en-US"/>
              <a:t>지금까지 절차대로 문제없이 진행해왔다면 충분히 할 수 있음</a:t>
            </a:r>
            <a:r>
              <a:rPr lang="en-US" altLang="ko-KR"/>
              <a:t>!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72" name="직사각형 71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0x01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75" name="그룹 7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77" name="직사각형 7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0x02</a:t>
              </a:r>
              <a:endParaRPr lang="ko-KR" altLang="en-US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81" name="직사각형 8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0x03</a:t>
              </a:r>
              <a:endParaRPr lang="ko-KR" altLang="en-US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85" name="그룹 8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87" name="직사각형 8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88" name="직사각형 8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86" name="직사각형 8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0x04</a:t>
              </a:r>
              <a:endParaRPr lang="ko-KR" altLang="en-US"/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90" name="그룹 8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92" name="직사각형 9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93" name="직사각형 9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91" name="직사각형 9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94" name="꺾인 연결선 93"/>
          <p:cNvCxnSpPr>
            <a:stCxn id="73" idx="3"/>
            <a:endCxn id="77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76" idx="3"/>
            <a:endCxn id="82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81" idx="3"/>
            <a:endCxn id="87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86" idx="3"/>
            <a:endCxn id="92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4490" y="5080764"/>
            <a:ext cx="10927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/>
              <a:t>차근히 그림을 그려가며</a:t>
            </a:r>
            <a:r>
              <a:rPr lang="en-US" altLang="ko-KR" sz="4000"/>
              <a:t>,</a:t>
            </a:r>
            <a:r>
              <a:rPr lang="ko-KR" altLang="en-US" sz="4000"/>
              <a:t> 코드를 만들어 볼 것</a:t>
            </a:r>
            <a:r>
              <a:rPr lang="en-US" altLang="ko-KR" sz="4000"/>
              <a:t>!</a:t>
            </a:r>
            <a:endParaRPr lang="ko-KR" altLang="en-US" sz="4000"/>
          </a:p>
        </p:txBody>
      </p:sp>
      <p:sp>
        <p:nvSpPr>
          <p:cNvPr id="111" name="직사각형 110"/>
          <p:cNvSpPr/>
          <p:nvPr/>
        </p:nvSpPr>
        <p:spPr>
          <a:xfrm>
            <a:off x="1396537" y="4242449"/>
            <a:ext cx="1446415" cy="448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ysClr val="windowText" lastClr="000000"/>
                </a:solidFill>
              </a:rPr>
              <a:t>NULL</a:t>
            </a:r>
            <a:endParaRPr lang="ko-KR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97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0" grpId="0"/>
      <p:bldP spid="1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 연결 리스트 </a:t>
            </a:r>
            <a:r>
              <a:rPr lang="en-US" altLang="ko-KR"/>
              <a:t>#</a:t>
            </a:r>
            <a:r>
              <a:rPr lang="ko-KR" altLang="en-US"/>
              <a:t>뒤집기</a:t>
            </a:r>
          </a:p>
        </p:txBody>
      </p:sp>
      <p:grpSp>
        <p:nvGrpSpPr>
          <p:cNvPr id="100" name="그룹 9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0x01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101" name="그룹 10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02" name="직사각형 10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0x01</a:t>
                </a:r>
                <a:endParaRPr lang="ko-KR" altLang="en-US"/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A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4" name="직사각형 103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0x01</a:t>
              </a:r>
              <a:endParaRPr lang="ko-KR" altLang="en-US"/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115" name="그룹 11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17" name="직사각형 11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0x02</a:t>
                </a:r>
                <a:endParaRPr lang="ko-KR" altLang="en-US"/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B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16" name="직사각형 11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0x03</a:t>
              </a:r>
              <a:endParaRPr lang="ko-KR" altLang="en-US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0x03</a:t>
                </a:r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C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1" name="직사각형 1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0x04</a:t>
              </a:r>
              <a:endParaRPr lang="ko-KR" altLang="en-US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125" name="그룹 124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127" name="직사각형 126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0x04</a:t>
                </a:r>
                <a:endParaRPr lang="ko-KR" altLang="en-US"/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D</a:t>
                </a:r>
                <a:endParaRPr lang="ko-KR" alt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26" name="직사각형 125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NULL</a:t>
              </a:r>
              <a:endParaRPr lang="ko-KR" altLang="en-US"/>
            </a:p>
          </p:txBody>
        </p:sp>
      </p:grpSp>
      <p:cxnSp>
        <p:nvCxnSpPr>
          <p:cNvPr id="130" name="꺾인 연결선 129"/>
          <p:cNvCxnSpPr>
            <a:stCxn id="99" idx="3"/>
            <a:endCxn id="102" idx="1"/>
          </p:cNvCxnSpPr>
          <p:nvPr/>
        </p:nvCxnSpPr>
        <p:spPr>
          <a:xfrm flipV="1">
            <a:off x="2842952" y="3798917"/>
            <a:ext cx="520407" cy="6650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04" idx="3"/>
            <a:endCxn id="117" idx="1"/>
          </p:cNvCxnSpPr>
          <p:nvPr/>
        </p:nvCxnSpPr>
        <p:spPr>
          <a:xfrm flipV="1">
            <a:off x="4809774" y="3798917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16" idx="3"/>
            <a:endCxn id="122" idx="1"/>
          </p:cNvCxnSpPr>
          <p:nvPr/>
        </p:nvCxnSpPr>
        <p:spPr>
          <a:xfrm flipV="1">
            <a:off x="6608094" y="3798917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21" idx="3"/>
            <a:endCxn id="127" idx="1"/>
          </p:cNvCxnSpPr>
          <p:nvPr/>
        </p:nvCxnSpPr>
        <p:spPr>
          <a:xfrm flipV="1">
            <a:off x="8387127" y="3798917"/>
            <a:ext cx="307223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0x02</a:t>
            </a:r>
            <a:endParaRPr lang="ko-KR" altLang="en-US"/>
          </a:p>
        </p:txBody>
      </p:sp>
      <p:sp>
        <p:nvSpPr>
          <p:cNvPr id="57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10848975" cy="494277"/>
          </a:xfrm>
        </p:spPr>
        <p:txBody>
          <a:bodyPr>
            <a:normAutofit/>
          </a:bodyPr>
          <a:lstStyle/>
          <a:p>
            <a:r>
              <a:rPr lang="en-US" altLang="ko-KR"/>
              <a:t>‘A’</a:t>
            </a:r>
            <a:r>
              <a:rPr lang="ko-KR" altLang="en-US"/>
              <a:t>는 이전 </a:t>
            </a:r>
            <a:r>
              <a:rPr lang="ko-KR" altLang="en-US" err="1"/>
              <a:t>노드가</a:t>
            </a:r>
            <a:r>
              <a:rPr lang="ko-KR" altLang="en-US"/>
              <a:t> 없으므로 다음 </a:t>
            </a:r>
            <a:r>
              <a:rPr lang="ko-KR" altLang="en-US" err="1"/>
              <a:t>노드를</a:t>
            </a:r>
            <a:r>
              <a:rPr lang="ko-KR" altLang="en-US"/>
              <a:t> 연결을 끊는다</a:t>
            </a:r>
            <a:r>
              <a:rPr lang="en-US" altLang="ko-KR"/>
              <a:t>.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5161680" y="4536041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0x01</a:t>
            </a:r>
            <a:endParaRPr lang="ko-KR" altLang="en-US"/>
          </a:p>
        </p:txBody>
      </p:sp>
      <p:sp>
        <p:nvSpPr>
          <p:cNvPr id="67" name="내용 개체 틀 2"/>
          <p:cNvSpPr txBox="1">
            <a:spLocks/>
          </p:cNvSpPr>
          <p:nvPr/>
        </p:nvSpPr>
        <p:spPr>
          <a:xfrm>
            <a:off x="838200" y="2824740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‘D’</a:t>
            </a:r>
            <a:r>
              <a:rPr lang="ko-KR" altLang="en-US"/>
              <a:t>는 마지막 </a:t>
            </a:r>
            <a:r>
              <a:rPr lang="ko-KR" altLang="en-US" err="1"/>
              <a:t>노드</a:t>
            </a:r>
            <a:r>
              <a:rPr lang="ko-KR" altLang="en-US"/>
              <a:t> 이므로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err="1"/>
              <a:t>시작값으로</a:t>
            </a:r>
            <a:r>
              <a:rPr lang="ko-KR" altLang="en-US"/>
              <a:t> 변경해준다</a:t>
            </a:r>
            <a:r>
              <a:rPr lang="en-US" altLang="ko-KR"/>
              <a:t>.</a:t>
            </a:r>
          </a:p>
        </p:txBody>
      </p:sp>
      <p:sp>
        <p:nvSpPr>
          <p:cNvPr id="68" name="내용 개체 틀 2"/>
          <p:cNvSpPr txBox="1">
            <a:spLocks/>
          </p:cNvSpPr>
          <p:nvPr/>
        </p:nvSpPr>
        <p:spPr>
          <a:xfrm>
            <a:off x="838200" y="2335442"/>
            <a:ext cx="5221928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‘B’</a:t>
            </a:r>
            <a:r>
              <a:rPr lang="ko-KR" altLang="en-US"/>
              <a:t>와 </a:t>
            </a:r>
            <a:r>
              <a:rPr lang="en-US" altLang="ko-KR"/>
              <a:t>‘A’</a:t>
            </a:r>
            <a:r>
              <a:rPr lang="ko-KR" altLang="en-US"/>
              <a:t>를 연결하고 이동 후</a:t>
            </a:r>
            <a:r>
              <a:rPr lang="en-US" altLang="ko-KR"/>
              <a:t>, </a:t>
            </a:r>
          </a:p>
        </p:txBody>
      </p:sp>
      <p:sp>
        <p:nvSpPr>
          <p:cNvPr id="69" name="오른쪽 화살표 68"/>
          <p:cNvSpPr/>
          <p:nvPr/>
        </p:nvSpPr>
        <p:spPr>
          <a:xfrm>
            <a:off x="4708983" y="3857101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이동</a:t>
            </a:r>
          </a:p>
        </p:txBody>
      </p:sp>
      <p:sp>
        <p:nvSpPr>
          <p:cNvPr id="70" name="오른쪽 화살표 69"/>
          <p:cNvSpPr/>
          <p:nvPr/>
        </p:nvSpPr>
        <p:spPr>
          <a:xfrm>
            <a:off x="6442237" y="3857101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이동</a:t>
            </a:r>
          </a:p>
        </p:txBody>
      </p:sp>
      <p:sp>
        <p:nvSpPr>
          <p:cNvPr id="71" name="오른쪽 화살표 70"/>
          <p:cNvSpPr/>
          <p:nvPr/>
        </p:nvSpPr>
        <p:spPr>
          <a:xfrm>
            <a:off x="8288324" y="3873577"/>
            <a:ext cx="664331" cy="615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이동</a:t>
            </a:r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75" name="내용 개체 틀 2"/>
          <p:cNvSpPr txBox="1">
            <a:spLocks/>
          </p:cNvSpPr>
          <p:nvPr/>
        </p:nvSpPr>
        <p:spPr>
          <a:xfrm>
            <a:off x="5702050" y="2330058"/>
            <a:ext cx="544849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‘C’</a:t>
            </a:r>
            <a:r>
              <a:rPr lang="ko-KR" altLang="en-US"/>
              <a:t>와 </a:t>
            </a:r>
            <a:r>
              <a:rPr lang="en-US" altLang="ko-KR"/>
              <a:t>‘D’</a:t>
            </a:r>
            <a:r>
              <a:rPr lang="ko-KR" altLang="en-US"/>
              <a:t>도 동일한 작업을 한다</a:t>
            </a:r>
            <a:r>
              <a:rPr lang="en-US" altLang="ko-KR"/>
              <a:t>. 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3363359" y="4541514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NULL</a:t>
            </a:r>
            <a:endParaRPr lang="ko-KR" altLang="en-US"/>
          </a:p>
        </p:txBody>
      </p:sp>
      <p:sp>
        <p:nvSpPr>
          <p:cNvPr id="77" name="직사각형 76"/>
          <p:cNvSpPr/>
          <p:nvPr/>
        </p:nvSpPr>
        <p:spPr>
          <a:xfrm>
            <a:off x="6940711" y="4537073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0x02</a:t>
            </a:r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8694349" y="4536041"/>
            <a:ext cx="1446415" cy="299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0x03</a:t>
            </a:r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10535342" y="3680621"/>
            <a:ext cx="1446415" cy="1030778"/>
            <a:chOff x="1363287" y="3507971"/>
            <a:chExt cx="1446415" cy="1030778"/>
          </a:xfrm>
        </p:grpSpPr>
        <p:sp>
          <p:nvSpPr>
            <p:cNvPr id="80" name="직사각형 79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Begin</a:t>
              </a:r>
              <a:endParaRPr lang="ko-KR" altLang="en-US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ysClr val="windowText" lastClr="000000"/>
                  </a:solidFill>
                </a:rPr>
                <a:t>0x04</a:t>
              </a:r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1" name="꺾인 연결선 20"/>
          <p:cNvCxnSpPr>
            <a:stCxn id="116" idx="1"/>
            <a:endCxn id="102" idx="3"/>
          </p:cNvCxnSpPr>
          <p:nvPr/>
        </p:nvCxnSpPr>
        <p:spPr>
          <a:xfrm rot="10800000">
            <a:off x="4809775" y="3798918"/>
            <a:ext cx="351905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21" idx="1"/>
            <a:endCxn id="117" idx="3"/>
          </p:cNvCxnSpPr>
          <p:nvPr/>
        </p:nvCxnSpPr>
        <p:spPr>
          <a:xfrm rot="10800000">
            <a:off x="6608094" y="3798918"/>
            <a:ext cx="332618" cy="8894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78" idx="1"/>
            <a:endCxn id="122" idx="3"/>
          </p:cNvCxnSpPr>
          <p:nvPr/>
        </p:nvCxnSpPr>
        <p:spPr>
          <a:xfrm rot="10800000">
            <a:off x="8387127" y="3798918"/>
            <a:ext cx="307222" cy="8867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81" idx="1"/>
            <a:endCxn id="127" idx="3"/>
          </p:cNvCxnSpPr>
          <p:nvPr/>
        </p:nvCxnSpPr>
        <p:spPr>
          <a:xfrm rot="10800000">
            <a:off x="10140766" y="3798918"/>
            <a:ext cx="394577" cy="6880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내용 개체 틀 2"/>
          <p:cNvSpPr txBox="1">
            <a:spLocks/>
          </p:cNvSpPr>
          <p:nvPr/>
        </p:nvSpPr>
        <p:spPr>
          <a:xfrm>
            <a:off x="435088" y="5154396"/>
            <a:ext cx="11290187" cy="1608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solidFill>
                  <a:srgbClr val="FF0000"/>
                </a:solidFill>
              </a:rPr>
              <a:t>B</a:t>
            </a:r>
            <a:r>
              <a:rPr lang="ko-KR" altLang="en-US" sz="2000">
                <a:solidFill>
                  <a:srgbClr val="FF0000"/>
                </a:solidFill>
              </a:rPr>
              <a:t>를 찾은 후 </a:t>
            </a:r>
            <a:r>
              <a:rPr lang="en-US" altLang="ko-KR" sz="2000">
                <a:solidFill>
                  <a:srgbClr val="FF0000"/>
                </a:solidFill>
              </a:rPr>
              <a:t>A</a:t>
            </a:r>
            <a:r>
              <a:rPr lang="ko-KR" altLang="en-US" sz="2000">
                <a:solidFill>
                  <a:srgbClr val="FF0000"/>
                </a:solidFill>
              </a:rPr>
              <a:t>와 연결하기 위해서는 어떻게 해야 하는가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altLang="ko-KR" sz="2000">
                <a:solidFill>
                  <a:srgbClr val="FF0000"/>
                </a:solidFill>
              </a:rPr>
              <a:t>  -&gt;B</a:t>
            </a:r>
            <a:r>
              <a:rPr lang="ko-KR" altLang="en-US" sz="2000">
                <a:solidFill>
                  <a:srgbClr val="FF0000"/>
                </a:solidFill>
              </a:rPr>
              <a:t>를 찾았을 때 </a:t>
            </a:r>
            <a:r>
              <a:rPr lang="en-US" altLang="ko-KR" sz="2000">
                <a:solidFill>
                  <a:srgbClr val="FF0000"/>
                </a:solidFill>
              </a:rPr>
              <a:t>A</a:t>
            </a:r>
            <a:r>
              <a:rPr lang="ko-KR" altLang="en-US" sz="2000">
                <a:solidFill>
                  <a:srgbClr val="FF0000"/>
                </a:solidFill>
              </a:rPr>
              <a:t>를 알 수 없으므로 이동하기 전 저장을 한다</a:t>
            </a:r>
            <a:r>
              <a:rPr lang="en-US" altLang="ko-KR" sz="2000">
                <a:solidFill>
                  <a:srgbClr val="FF0000"/>
                </a:solidFill>
              </a:rPr>
              <a:t>.</a:t>
            </a:r>
            <a:r>
              <a:rPr lang="ko-KR" altLang="en-US" sz="2000">
                <a:solidFill>
                  <a:srgbClr val="FF0000"/>
                </a:solidFill>
              </a:rPr>
              <a:t> </a:t>
            </a:r>
            <a:endParaRPr lang="en-US" altLang="ko-KR" sz="2000">
              <a:solidFill>
                <a:srgbClr val="FF0000"/>
              </a:solidFill>
            </a:endParaRPr>
          </a:p>
          <a:p>
            <a:r>
              <a:rPr lang="en-US" altLang="ko-KR" sz="2000">
                <a:solidFill>
                  <a:srgbClr val="FF0000"/>
                </a:solidFill>
              </a:rPr>
              <a:t>B</a:t>
            </a:r>
            <a:r>
              <a:rPr lang="ko-KR" altLang="en-US" sz="2000">
                <a:solidFill>
                  <a:srgbClr val="FF0000"/>
                </a:solidFill>
              </a:rPr>
              <a:t>와 </a:t>
            </a:r>
            <a:r>
              <a:rPr lang="en-US" altLang="ko-KR" sz="2000">
                <a:solidFill>
                  <a:srgbClr val="FF0000"/>
                </a:solidFill>
              </a:rPr>
              <a:t>A</a:t>
            </a:r>
            <a:r>
              <a:rPr lang="ko-KR" altLang="en-US" sz="2000">
                <a:solidFill>
                  <a:srgbClr val="FF0000"/>
                </a:solidFill>
              </a:rPr>
              <a:t>를 연결한 후 </a:t>
            </a:r>
            <a:r>
              <a:rPr lang="en-US" altLang="ko-KR" sz="2000">
                <a:solidFill>
                  <a:srgbClr val="FF0000"/>
                </a:solidFill>
              </a:rPr>
              <a:t>C</a:t>
            </a:r>
            <a:r>
              <a:rPr lang="ko-KR" altLang="en-US" sz="2000">
                <a:solidFill>
                  <a:srgbClr val="FF0000"/>
                </a:solidFill>
              </a:rPr>
              <a:t>로 이동을 하려면 어떻게 해야 하는가</a:t>
            </a:r>
            <a:r>
              <a:rPr lang="en-US" altLang="ko-KR" sz="200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ko-KR" altLang="en-US" sz="2000">
                <a:solidFill>
                  <a:srgbClr val="FF0000"/>
                </a:solidFill>
              </a:rPr>
              <a:t>  </a:t>
            </a:r>
            <a:r>
              <a:rPr lang="en-US" altLang="ko-KR" sz="2000">
                <a:solidFill>
                  <a:srgbClr val="FF0000"/>
                </a:solidFill>
              </a:rPr>
              <a:t>-&gt;B</a:t>
            </a:r>
            <a:r>
              <a:rPr lang="ko-KR" altLang="en-US" sz="2000">
                <a:solidFill>
                  <a:srgbClr val="FF0000"/>
                </a:solidFill>
              </a:rPr>
              <a:t>와 </a:t>
            </a:r>
            <a:r>
              <a:rPr lang="en-US" altLang="ko-KR" sz="2000">
                <a:solidFill>
                  <a:srgbClr val="FF0000"/>
                </a:solidFill>
              </a:rPr>
              <a:t>A</a:t>
            </a:r>
            <a:r>
              <a:rPr lang="ko-KR" altLang="en-US" sz="2000">
                <a:solidFill>
                  <a:srgbClr val="FF0000"/>
                </a:solidFill>
              </a:rPr>
              <a:t>를 연결직전에 </a:t>
            </a:r>
            <a:r>
              <a:rPr lang="en-US" altLang="ko-KR" sz="2000">
                <a:solidFill>
                  <a:srgbClr val="FF0000"/>
                </a:solidFill>
              </a:rPr>
              <a:t>C(</a:t>
            </a:r>
            <a:r>
              <a:rPr lang="ko-KR" altLang="en-US" sz="2000" err="1">
                <a:solidFill>
                  <a:srgbClr val="FF0000"/>
                </a:solidFill>
              </a:rPr>
              <a:t>다음노드</a:t>
            </a:r>
            <a:r>
              <a:rPr lang="en-US" altLang="ko-KR" sz="2000">
                <a:solidFill>
                  <a:srgbClr val="FF0000"/>
                </a:solidFill>
              </a:rPr>
              <a:t>)</a:t>
            </a:r>
            <a:r>
              <a:rPr lang="ko-KR" altLang="en-US" sz="2000">
                <a:solidFill>
                  <a:srgbClr val="FF0000"/>
                </a:solidFill>
              </a:rPr>
              <a:t>를 저장해야 한다</a:t>
            </a:r>
            <a:r>
              <a:rPr lang="en-US" altLang="ko-KR" sz="20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82" name="내용 개체 틀 2"/>
          <p:cNvSpPr txBox="1">
            <a:spLocks/>
          </p:cNvSpPr>
          <p:nvPr/>
        </p:nvSpPr>
        <p:spPr>
          <a:xfrm>
            <a:off x="838276" y="1383282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/>
              <a:t>노드의</a:t>
            </a:r>
            <a:r>
              <a:rPr lang="ko-KR" altLang="en-US"/>
              <a:t> 연결순서를 뒤집는다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357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7" grpId="0" build="p"/>
      <p:bldP spid="65" grpId="0" animBg="1"/>
      <p:bldP spid="67" grpId="0"/>
      <p:bldP spid="68" grpId="0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5" grpId="0"/>
      <p:bldP spid="76" grpId="0" animBg="1"/>
      <p:bldP spid="77" grpId="0" animBg="1"/>
      <p:bldP spid="78" grpId="0" animBg="1"/>
      <p:bldP spid="74" grpId="0" build="p"/>
      <p:bldP spid="8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리스트 확장 </a:t>
            </a:r>
            <a:r>
              <a:rPr lang="en-US" altLang="ko-KR"/>
              <a:t>#</a:t>
            </a:r>
            <a:r>
              <a:rPr lang="ko-KR" altLang="en-US"/>
              <a:t>응용하기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grpSp>
        <p:nvGrpSpPr>
          <p:cNvPr id="52" name="그룹 51"/>
          <p:cNvGrpSpPr/>
          <p:nvPr/>
        </p:nvGrpSpPr>
        <p:grpSpPr>
          <a:xfrm>
            <a:off x="932714" y="2802505"/>
            <a:ext cx="3280928" cy="413467"/>
            <a:chOff x="2088821" y="3729908"/>
            <a:chExt cx="3280928" cy="413467"/>
          </a:xfrm>
        </p:grpSpPr>
        <p:sp>
          <p:nvSpPr>
            <p:cNvPr id="53" name="직사각형 52"/>
            <p:cNvSpPr/>
            <p:nvPr/>
          </p:nvSpPr>
          <p:spPr>
            <a:xfrm>
              <a:off x="2088821" y="3735105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966038" y="3735105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861086" y="3729908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4746490" y="3729908"/>
              <a:ext cx="623259" cy="4082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cxnSp>
          <p:nvCxnSpPr>
            <p:cNvPr id="57" name="직선 화살표 연결선 56"/>
            <p:cNvCxnSpPr>
              <a:stCxn id="53" idx="3"/>
              <a:endCxn id="54" idx="1"/>
            </p:cNvCxnSpPr>
            <p:nvPr/>
          </p:nvCxnSpPr>
          <p:spPr>
            <a:xfrm>
              <a:off x="2712080" y="3939240"/>
              <a:ext cx="2539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>
              <a:stCxn id="54" idx="3"/>
            </p:cNvCxnSpPr>
            <p:nvPr/>
          </p:nvCxnSpPr>
          <p:spPr>
            <a:xfrm>
              <a:off x="3589297" y="3939240"/>
              <a:ext cx="2717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>
              <a:stCxn id="55" idx="3"/>
              <a:endCxn id="56" idx="1"/>
            </p:cNvCxnSpPr>
            <p:nvPr/>
          </p:nvCxnSpPr>
          <p:spPr>
            <a:xfrm>
              <a:off x="4484345" y="3934043"/>
              <a:ext cx="2621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꺾인 연결선 59"/>
          <p:cNvCxnSpPr>
            <a:stCxn id="56" idx="3"/>
            <a:endCxn id="53" idx="1"/>
          </p:cNvCxnSpPr>
          <p:nvPr/>
        </p:nvCxnSpPr>
        <p:spPr>
          <a:xfrm flipH="1">
            <a:off x="932714" y="3006640"/>
            <a:ext cx="3280928" cy="5197"/>
          </a:xfrm>
          <a:prstGeom prst="bentConnector5">
            <a:avLst>
              <a:gd name="adj1" fmla="val -6968"/>
              <a:gd name="adj2" fmla="val 8426631"/>
              <a:gd name="adj3" fmla="val 1069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879587" y="4159764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756804" y="4159764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2651852" y="4154567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3537256" y="4154567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1502846" y="4334679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1502846" y="4415629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2393131" y="4320398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2393131" y="4401348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3283298" y="4315635"/>
            <a:ext cx="245042" cy="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H="1">
            <a:off x="3283298" y="4396585"/>
            <a:ext cx="245042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98270" y="2166374"/>
            <a:ext cx="330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</a:t>
            </a:r>
            <a:r>
              <a:rPr lang="ko-KR" altLang="en-US" b="1"/>
              <a:t>환형연결리스트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8293" y="3660526"/>
            <a:ext cx="330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</a:t>
            </a:r>
            <a:r>
              <a:rPr lang="ko-KR" altLang="en-US" b="1"/>
              <a:t>이중연결리스트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6579903" y="2846399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7239006" y="2846399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98" name="직사각형 97"/>
          <p:cNvSpPr/>
          <p:nvPr/>
        </p:nvSpPr>
        <p:spPr>
          <a:xfrm>
            <a:off x="7907551" y="2841202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8583230" y="2841202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5" name="왼쪽 화살표 4"/>
          <p:cNvSpPr/>
          <p:nvPr/>
        </p:nvSpPr>
        <p:spPr>
          <a:xfrm>
            <a:off x="6303451" y="2880357"/>
            <a:ext cx="411061" cy="36911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왼쪽 화살표 102"/>
          <p:cNvSpPr/>
          <p:nvPr/>
        </p:nvSpPr>
        <p:spPr>
          <a:xfrm>
            <a:off x="9089994" y="2871278"/>
            <a:ext cx="411061" cy="369115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6271294" y="2286543"/>
            <a:ext cx="447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 </a:t>
            </a:r>
            <a:r>
              <a:rPr lang="ko-KR" altLang="en-US" b="1"/>
              <a:t>큐</a:t>
            </a:r>
            <a:r>
              <a:rPr lang="en-US" altLang="ko-KR" b="1"/>
              <a:t>: </a:t>
            </a:r>
            <a:r>
              <a:rPr lang="ko-KR" altLang="en-US" b="1"/>
              <a:t>뒤에서 추가되고</a:t>
            </a:r>
            <a:r>
              <a:rPr lang="en-US" altLang="ko-KR" b="1"/>
              <a:t>, </a:t>
            </a:r>
            <a:r>
              <a:rPr lang="ko-KR" altLang="en-US" b="1"/>
              <a:t>앞에서 삭제됨</a:t>
            </a:r>
            <a:r>
              <a:rPr lang="en-US" altLang="ko-KR" b="1"/>
              <a:t>.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6388192" y="3254669"/>
            <a:ext cx="1006679" cy="36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95524" y="3254669"/>
            <a:ext cx="1006679" cy="36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7139137" y="5832272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</a:t>
            </a:r>
            <a:endParaRPr lang="ko-KR" altLang="en-US"/>
          </a:p>
        </p:txBody>
      </p:sp>
      <p:sp>
        <p:nvSpPr>
          <p:cNvPr id="107" name="직사각형 106"/>
          <p:cNvSpPr/>
          <p:nvPr/>
        </p:nvSpPr>
        <p:spPr>
          <a:xfrm>
            <a:off x="7139137" y="5426448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B</a:t>
            </a:r>
            <a:endParaRPr lang="ko-KR" altLang="en-US"/>
          </a:p>
        </p:txBody>
      </p:sp>
      <p:sp>
        <p:nvSpPr>
          <p:cNvPr id="108" name="직사각형 107"/>
          <p:cNvSpPr/>
          <p:nvPr/>
        </p:nvSpPr>
        <p:spPr>
          <a:xfrm>
            <a:off x="7139137" y="5012235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</a:t>
            </a:r>
            <a:endParaRPr lang="ko-KR" altLang="en-US"/>
          </a:p>
        </p:txBody>
      </p:sp>
      <p:sp>
        <p:nvSpPr>
          <p:cNvPr id="109" name="직사각형 108"/>
          <p:cNvSpPr/>
          <p:nvPr/>
        </p:nvSpPr>
        <p:spPr>
          <a:xfrm>
            <a:off x="7139137" y="4603965"/>
            <a:ext cx="623259" cy="40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</a:t>
            </a:r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6258808" y="3701212"/>
            <a:ext cx="448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# </a:t>
            </a:r>
            <a:r>
              <a:rPr lang="ko-KR" altLang="en-US" b="1"/>
              <a:t>스택</a:t>
            </a:r>
            <a:r>
              <a:rPr lang="en-US" altLang="ko-KR" b="1"/>
              <a:t>: </a:t>
            </a:r>
            <a:r>
              <a:rPr lang="ko-KR" altLang="en-US" b="1"/>
              <a:t>뒤에서 추가되고</a:t>
            </a:r>
            <a:r>
              <a:rPr lang="en-US" altLang="ko-KR" b="1"/>
              <a:t>, </a:t>
            </a:r>
            <a:r>
              <a:rPr lang="ko-KR" altLang="en-US" b="1"/>
              <a:t>뒤에서 삭제됨</a:t>
            </a:r>
            <a:r>
              <a:rPr lang="en-US" altLang="ko-KR" b="1"/>
              <a:t>.</a:t>
            </a:r>
            <a:endParaRPr lang="ko-KR" altLang="en-US" b="1"/>
          </a:p>
        </p:txBody>
      </p:sp>
      <p:sp>
        <p:nvSpPr>
          <p:cNvPr id="8" name="아래쪽 화살표 7"/>
          <p:cNvSpPr/>
          <p:nvPr/>
        </p:nvSpPr>
        <p:spPr>
          <a:xfrm>
            <a:off x="7460737" y="4182927"/>
            <a:ext cx="395255" cy="38450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7844691" y="4102910"/>
            <a:ext cx="676533" cy="36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추가</a:t>
            </a:r>
          </a:p>
        </p:txBody>
      </p:sp>
      <p:sp>
        <p:nvSpPr>
          <p:cNvPr id="9" name="위쪽 화살표 8"/>
          <p:cNvSpPr/>
          <p:nvPr/>
        </p:nvSpPr>
        <p:spPr>
          <a:xfrm>
            <a:off x="7033929" y="4175715"/>
            <a:ext cx="418353" cy="38450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392737" y="4124772"/>
            <a:ext cx="717340" cy="36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삭제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041" y="5080764"/>
            <a:ext cx="10927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/>
              <a:t>완성된 코드는 중요한 것이 아님</a:t>
            </a:r>
            <a:r>
              <a:rPr lang="en-US" altLang="ko-KR" sz="4000"/>
              <a:t>!</a:t>
            </a:r>
          </a:p>
          <a:p>
            <a:r>
              <a:rPr lang="ko-KR" altLang="en-US" sz="4000"/>
              <a:t>개념이해하고 이용하여 코드를 짜는 것</a:t>
            </a:r>
            <a:r>
              <a:rPr lang="en-US" altLang="ko-KR" sz="4000"/>
              <a:t>!</a:t>
            </a:r>
            <a:endParaRPr lang="ko-KR" altLang="en-US" sz="400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각 확장되는 기능을 복사해 새로운 파일에서 만들어보기</a:t>
            </a:r>
            <a:r>
              <a:rPr lang="en-US" altLang="ko-KR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63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4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"/>
                            </p:stCondLst>
                            <p:childTnLst>
                              <p:par>
                                <p:cTn id="1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100"/>
                            </p:stCondLst>
                            <p:childTnLst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14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500"/>
                            </p:stCondLst>
                            <p:childTnLst>
                              <p:par>
                                <p:cTn id="2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61" grpId="0" animBg="1"/>
      <p:bldP spid="62" grpId="0" animBg="1"/>
      <p:bldP spid="63" grpId="0" animBg="1"/>
      <p:bldP spid="64" grpId="0" animBg="1"/>
      <p:bldP spid="96" grpId="0" animBg="1"/>
      <p:bldP spid="96" grpId="1" animBg="1"/>
      <p:bldP spid="96" grpId="2" animBg="1"/>
      <p:bldP spid="97" grpId="0" animBg="1"/>
      <p:bldP spid="97" grpId="1" animBg="1"/>
      <p:bldP spid="97" grpId="2" animBg="1"/>
      <p:bldP spid="98" grpId="0" animBg="1"/>
      <p:bldP spid="98" grpId="1" animBg="1"/>
      <p:bldP spid="98" grpId="2" animBg="1"/>
      <p:bldP spid="99" grpId="0" animBg="1"/>
      <p:bldP spid="99" grpId="1" animBg="1"/>
      <p:bldP spid="99" grpId="2" animBg="1"/>
      <p:bldP spid="5" grpId="0" animBg="1"/>
      <p:bldP spid="103" grpId="0" animBg="1"/>
      <p:bldP spid="7" grpId="0"/>
      <p:bldP spid="105" grpId="0"/>
      <p:bldP spid="106" grpId="0" animBg="1"/>
      <p:bldP spid="106" grpId="1" animBg="1"/>
      <p:bldP spid="106" grpId="2" animBg="1"/>
      <p:bldP spid="107" grpId="0" animBg="1"/>
      <p:bldP spid="107" grpId="1" animBg="1"/>
      <p:bldP spid="107" grpId="2" animBg="1"/>
      <p:bldP spid="108" grpId="0" animBg="1"/>
      <p:bldP spid="108" grpId="1" animBg="1"/>
      <p:bldP spid="108" grpId="2" animBg="1"/>
      <p:bldP spid="109" grpId="0" animBg="1"/>
      <p:bldP spid="109" grpId="1" animBg="1"/>
      <p:bldP spid="109" grpId="2" animBg="1"/>
      <p:bldP spid="8" grpId="0" animBg="1"/>
      <p:bldP spid="111" grpId="0"/>
      <p:bldP spid="9" grpId="0" animBg="1"/>
      <p:bldP spid="112" grpId="0"/>
      <p:bldP spid="10" grpId="0"/>
      <p:bldP spid="7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리스트  </a:t>
            </a:r>
            <a:r>
              <a:rPr lang="en-US" altLang="ko-KR"/>
              <a:t>#</a:t>
            </a:r>
            <a:r>
              <a:rPr lang="ko-KR" altLang="en-US"/>
              <a:t>기초 문제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/>
              <a:t>포인터는 무엇인가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동적</a:t>
            </a:r>
            <a:r>
              <a:rPr lang="en-US" altLang="ko-KR"/>
              <a:t>/</a:t>
            </a:r>
            <a:r>
              <a:rPr lang="ko-KR" altLang="en-US" err="1"/>
              <a:t>정적할당의</a:t>
            </a:r>
            <a:r>
              <a:rPr lang="ko-KR" altLang="en-US"/>
              <a:t> 차이를 설명하여라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포인터와 </a:t>
            </a:r>
            <a:r>
              <a:rPr lang="ko-KR" altLang="en-US" err="1"/>
              <a:t>동적할당의</a:t>
            </a:r>
            <a:r>
              <a:rPr lang="ko-KR" altLang="en-US"/>
              <a:t> 관계를 설명하여라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매개변수의 역할은 무엇인가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err="1"/>
              <a:t>값에의한호출과</a:t>
            </a:r>
            <a:r>
              <a:rPr lang="ko-KR" altLang="en-US"/>
              <a:t> </a:t>
            </a:r>
            <a:r>
              <a:rPr lang="ko-KR" altLang="en-US" err="1"/>
              <a:t>참조에의한</a:t>
            </a:r>
            <a:r>
              <a:rPr lang="ko-KR" altLang="en-US"/>
              <a:t> 호출을 차이를 설명하여라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err="1"/>
              <a:t>참조에의한호출이</a:t>
            </a:r>
            <a:r>
              <a:rPr lang="ko-KR" altLang="en-US"/>
              <a:t> 구조적인 이해는 </a:t>
            </a:r>
            <a:br>
              <a:rPr lang="en-US" altLang="ko-KR"/>
            </a:br>
            <a:r>
              <a:rPr lang="ko-KR" altLang="en-US"/>
              <a:t>이중포인터가 쉬운 이유를 설명하여라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연결리스트를 </a:t>
            </a:r>
            <a:r>
              <a:rPr lang="ko-KR" altLang="en-US" err="1"/>
              <a:t>실행중에</a:t>
            </a:r>
            <a:r>
              <a:rPr lang="ko-KR" altLang="en-US"/>
              <a:t> 값을 추가</a:t>
            </a:r>
            <a:r>
              <a:rPr lang="en-US" altLang="ko-KR"/>
              <a:t>/</a:t>
            </a:r>
            <a:r>
              <a:rPr lang="ko-KR" altLang="en-US"/>
              <a:t>삽입</a:t>
            </a:r>
            <a:r>
              <a:rPr lang="en-US" altLang="ko-KR"/>
              <a:t>/</a:t>
            </a:r>
            <a:r>
              <a:rPr lang="ko-KR" altLang="en-US"/>
              <a:t>삭제가 가능한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프로그램을 작성하여라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80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리스트  </a:t>
            </a:r>
            <a:r>
              <a:rPr lang="en-US" altLang="ko-KR"/>
              <a:t>#</a:t>
            </a:r>
            <a:r>
              <a:rPr lang="ko-KR" altLang="en-US"/>
              <a:t>심화 문제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/>
              <a:t>포인터를 매개변수로 전달받았을 때 어떻게 포인터가 </a:t>
            </a:r>
            <a:br>
              <a:rPr lang="en-US" altLang="ko-KR"/>
            </a:br>
            <a:r>
              <a:rPr lang="ko-KR" altLang="en-US"/>
              <a:t>원본포인터의 </a:t>
            </a:r>
            <a:r>
              <a:rPr lang="ko-KR" altLang="en-US" err="1"/>
              <a:t>주소값을</a:t>
            </a:r>
            <a:r>
              <a:rPr lang="ko-KR" altLang="en-US"/>
              <a:t> 변경할 수 있는가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만약</a:t>
            </a:r>
            <a:r>
              <a:rPr lang="en-US" altLang="ko-KR"/>
              <a:t>, </a:t>
            </a:r>
            <a:r>
              <a:rPr lang="ko-KR" altLang="en-US"/>
              <a:t>의도가 없다면 프로그램이 실행되었다고</a:t>
            </a:r>
            <a:r>
              <a:rPr lang="en-US" altLang="ko-KR"/>
              <a:t>,</a:t>
            </a:r>
            <a:r>
              <a:rPr lang="ko-KR" altLang="en-US"/>
              <a:t> 정상 작동 한다고 말할 수 있는가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err="1"/>
              <a:t>연결리스트</a:t>
            </a:r>
            <a:r>
              <a:rPr lang="ko-KR" altLang="en-US"/>
              <a:t> 삽입 이후에 추가를 하면 어떻게 되는가</a:t>
            </a:r>
            <a:r>
              <a:rPr lang="en-US" altLang="ko-KR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단일</a:t>
            </a:r>
            <a:r>
              <a:rPr lang="en-US" altLang="ko-KR"/>
              <a:t>,</a:t>
            </a:r>
            <a:r>
              <a:rPr lang="ko-KR" altLang="en-US"/>
              <a:t>환형</a:t>
            </a:r>
            <a:r>
              <a:rPr lang="en-US" altLang="ko-KR"/>
              <a:t>,</a:t>
            </a:r>
            <a:r>
              <a:rPr lang="ko-KR" altLang="en-US"/>
              <a:t>이중 </a:t>
            </a:r>
            <a:r>
              <a:rPr lang="ko-KR" altLang="en-US" err="1"/>
              <a:t>연결리스트</a:t>
            </a:r>
            <a:r>
              <a:rPr lang="ko-KR" altLang="en-US"/>
              <a:t> 중 가장 많이 사용한 것을 찾고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그 이유를 함께 서술하시오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98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큐와 스택  </a:t>
            </a:r>
            <a:r>
              <a:rPr lang="en-US" altLang="ko-KR"/>
              <a:t>#</a:t>
            </a:r>
            <a:r>
              <a:rPr lang="ko-KR" altLang="en-US"/>
              <a:t>심화 문제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/>
              <a:t>큐와 스택을 연결리스트와 배열로 구현해보자</a:t>
            </a:r>
            <a:r>
              <a:rPr lang="en-US" altLang="ko-KR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큐와 스택을 연결리스트와 배열로 구현 시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각자의 장단점을 활용 용도를 고려하여 서술해보자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06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err="1"/>
                    <a:t>str</a:t>
                  </a:r>
                  <a:r>
                    <a:rPr lang="en-US" altLang="ko-KR"/>
                    <a:t> </a:t>
                  </a:r>
                  <a:endParaRPr lang="ko-KR" altLang="en-US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/>
                    <a:t>0x04</a:t>
                  </a:r>
                  <a:endParaRPr lang="ko-KR" altLang="en-US" sz="100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chemeClr val="tx1"/>
                      </a:solidFill>
                    </a:rPr>
                    <a:t>0x04</a:t>
                  </a: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char </a:t>
                    </a:r>
                    <a:r>
                      <a:rPr lang="en-US" altLang="ko-KR" err="1"/>
                      <a:t>str</a:t>
                    </a:r>
                    <a:r>
                      <a:rPr lang="en-US" altLang="ko-KR"/>
                      <a:t>[4]</a:t>
                    </a:r>
                    <a:endParaRPr lang="ko-KR" altLang="en-US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0x04</a:t>
                    </a:r>
                    <a:endParaRPr lang="ko-KR" altLang="en-US" sz="100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0x05</a:t>
                    </a:r>
                    <a:endParaRPr lang="ko-KR" altLang="en-US" sz="100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0x06</a:t>
                    </a:r>
                    <a:endParaRPr lang="ko-KR" altLang="en-US" sz="100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/>
                      <a:t>0x07</a:t>
                    </a:r>
                    <a:endParaRPr lang="ko-KR" altLang="en-US" sz="100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/>
                  <a:t>Swap Data</a:t>
                </a:r>
                <a:endParaRPr lang="ko-KR" altLang="en-US" sz="100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000"/>
              <a:t>Q&amp;A</a:t>
            </a:r>
            <a:endParaRPr lang="ko-KR" altLang="en-US" sz="800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/>
          </a:p>
        </p:txBody>
      </p:sp>
      <p:sp>
        <p:nvSpPr>
          <p:cNvPr id="82" name="내용 개체 틀 2"/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12446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/>
              <a:t>수고하셨습니다</a:t>
            </a:r>
            <a:r>
              <a:rPr lang="en-US" altLang="ko-KR" sz="6000"/>
              <a:t>!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413075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테마</vt:lpstr>
      <vt:lpstr>연결리스트</vt:lpstr>
      <vt:lpstr>연결 리스트의 종류</vt:lpstr>
      <vt:lpstr>단일 연결리스트 #정의</vt:lpstr>
      <vt:lpstr>단일 연결리스트 #학습목표</vt:lpstr>
      <vt:lpstr>단일 연결 리스트 #추가</vt:lpstr>
      <vt:lpstr>단일 연결 리스트 #검색</vt:lpstr>
      <vt:lpstr>단일 연결 리스트 #중간삽입</vt:lpstr>
      <vt:lpstr>단일 연결 리스트 #삭제</vt:lpstr>
      <vt:lpstr>단일 연결 리스트 #연결리스트 삭제</vt:lpstr>
      <vt:lpstr>단일 연결 리스트 #뒤집기</vt:lpstr>
      <vt:lpstr>연결 리스트 확장 #응용하기</vt:lpstr>
      <vt:lpstr>연결 리스트  #기초 문제</vt:lpstr>
      <vt:lpstr>연결 리스트  #심화 문제</vt:lpstr>
      <vt:lpstr>큐와 스택  #심화 문제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</dc:title>
  <dc:creator>khg</dc:creator>
  <cp:revision>1</cp:revision>
  <dcterms:created xsi:type="dcterms:W3CDTF">2017-05-19T03:02:09Z</dcterms:created>
  <dcterms:modified xsi:type="dcterms:W3CDTF">2022-02-16T11:02:26Z</dcterms:modified>
</cp:coreProperties>
</file>