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65" r:id="rId4"/>
    <p:sldId id="275" r:id="rId5"/>
    <p:sldId id="263" r:id="rId6"/>
    <p:sldId id="274" r:id="rId7"/>
    <p:sldId id="273" r:id="rId8"/>
    <p:sldId id="268" r:id="rId9"/>
    <p:sldId id="277" r:id="rId10"/>
    <p:sldId id="281" r:id="rId11"/>
    <p:sldId id="282" r:id="rId12"/>
    <p:sldId id="280" r:id="rId13"/>
    <p:sldId id="27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61B60-2280-4EEE-8496-FE9A554A42C5}" v="1" dt="2022-02-16T11:05:55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567" autoAdjust="0"/>
    <p:restoredTop sz="94645" autoAdjust="0"/>
  </p:normalViewPr>
  <p:slideViewPr>
    <p:cSldViewPr snapToGrid="0">
      <p:cViewPr varScale="1">
        <p:scale>
          <a:sx n="31" d="100"/>
          <a:sy n="31" d="100"/>
        </p:scale>
        <p:origin x="60" y="17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1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09561B60-2280-4EEE-8496-FE9A554A42C5}"/>
    <pc:docChg chg="modSld">
      <pc:chgData name="김 홍규" userId="6d16d8e1c579a2a2" providerId="LiveId" clId="{09561B60-2280-4EEE-8496-FE9A554A42C5}" dt="2022-02-16T11:05:55.339" v="0"/>
      <pc:docMkLst>
        <pc:docMk/>
      </pc:docMkLst>
      <pc:sldChg chg="modSp">
        <pc:chgData name="김 홍규" userId="6d16d8e1c579a2a2" providerId="LiveId" clId="{09561B60-2280-4EEE-8496-FE9A554A42C5}" dt="2022-02-16T11:05:55.339" v="0"/>
        <pc:sldMkLst>
          <pc:docMk/>
          <pc:sldMk cId="756356078" sldId="275"/>
        </pc:sldMkLst>
        <pc:spChg chg="mod">
          <ac:chgData name="김 홍규" userId="6d16d8e1c579a2a2" providerId="LiveId" clId="{09561B60-2280-4EEE-8496-FE9A554A42C5}" dt="2022-02-16T11:05:55.339" v="0"/>
          <ac:spMkLst>
            <pc:docMk/>
            <pc:sldMk cId="756356078" sldId="275"/>
            <ac:spMk id="5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A79E0-434B-4DBB-B44F-6554BD6D84B5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8A046F-D3C2-4D9A-A2C6-690C4B836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527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8A046F-D3C2-4D9A-A2C6-690C4B836D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02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8A046F-D3C2-4D9A-A2C6-690C4B836D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420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8A046F-D3C2-4D9A-A2C6-690C4B836D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666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7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021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482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41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15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511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92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14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80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4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21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C1DB5-458E-4C2C-80B5-BE12DBBC4332}" type="datetimeFigureOut">
              <a:rPr lang="ko-KR" altLang="en-US" smtClean="0"/>
              <a:t>2022-02-16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DBC57-5E67-4A69-89EF-9C294B229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81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u/s!AqKiecXh2BZti7dAFinnPPH4tn0vQw?e=EHWsg9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sfca.edu/~galles/visualization/Heap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sfca.edu/~galles/visualization/RedBlack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3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36" name="그룹 35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11" name="그룹 1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" name="직사각형 3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" name="직사각형 4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6" name="직사각형 5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4" name="그룹 33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12" name="그룹 11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13" name="직사각형 12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14" name="직사각형 13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15" name="직사각형 14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2" name="그룹 21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0" name="직사각형 1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21" name="직사각형 2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" name="그룹 22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4" name="직사각형 2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25" name="직사각형 2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6" name="그룹 25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7" name="직사각형 26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28" name="직사각형 27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0" name="꺾인 연결선 29"/>
              <p:cNvCxnSpPr>
                <a:stCxn id="6" idx="3"/>
                <a:endCxn id="14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꺾인 연결선 31"/>
              <p:cNvCxnSpPr>
                <a:stCxn id="14" idx="2"/>
                <a:endCxn id="24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7" name="직사각형 36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30613"/>
            <a:ext cx="9144000" cy="1655762"/>
          </a:xfrm>
        </p:spPr>
        <p:txBody>
          <a:bodyPr/>
          <a:lstStyle/>
          <a:p>
            <a:r>
              <a:rPr lang="ko-KR" altLang="en-US" dirty="0"/>
              <a:t>자료구조와 알고리즘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5275" y="5657671"/>
            <a:ext cx="2965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Ver. 2.00</a:t>
            </a:r>
            <a:br>
              <a:rPr lang="en-US" altLang="ko-KR" dirty="0"/>
            </a:br>
            <a:r>
              <a:rPr lang="en-US" altLang="ko-KR" dirty="0"/>
              <a:t>LastUpdate:2021.06.30</a:t>
            </a:r>
          </a:p>
          <a:p>
            <a:pPr algn="r"/>
            <a:r>
              <a:rPr lang="en-US" altLang="ko-KR" dirty="0"/>
              <a:t>downkhg@gmail.com</a:t>
            </a:r>
          </a:p>
          <a:p>
            <a:pPr algn="r"/>
            <a:r>
              <a:rPr lang="ko-KR" altLang="en-US" dirty="0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101100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용어</a:t>
            </a:r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5815474" y="2335442"/>
            <a:ext cx="6376526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/>
          </a:p>
        </p:txBody>
      </p:sp>
      <p:sp>
        <p:nvSpPr>
          <p:cNvPr id="9" name="직사각형 8"/>
          <p:cNvSpPr/>
          <p:nvPr/>
        </p:nvSpPr>
        <p:spPr>
          <a:xfrm>
            <a:off x="4793148" y="1815263"/>
            <a:ext cx="1069098" cy="706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A</a:t>
            </a:r>
            <a:endParaRPr lang="ko-KR" altLang="en-US" sz="4000" dirty="0"/>
          </a:p>
        </p:txBody>
      </p:sp>
      <p:sp>
        <p:nvSpPr>
          <p:cNvPr id="55" name="직사각형 54"/>
          <p:cNvSpPr/>
          <p:nvPr/>
        </p:nvSpPr>
        <p:spPr>
          <a:xfrm>
            <a:off x="3273507" y="3005156"/>
            <a:ext cx="1069098" cy="706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B</a:t>
            </a:r>
            <a:endParaRPr lang="ko-KR" altLang="en-US" sz="4000" dirty="0"/>
          </a:p>
        </p:txBody>
      </p:sp>
      <p:sp>
        <p:nvSpPr>
          <p:cNvPr id="56" name="직사각형 55"/>
          <p:cNvSpPr/>
          <p:nvPr/>
        </p:nvSpPr>
        <p:spPr>
          <a:xfrm>
            <a:off x="6400539" y="3004998"/>
            <a:ext cx="1069098" cy="706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C</a:t>
            </a:r>
            <a:endParaRPr lang="ko-KR" altLang="en-US" sz="4000" dirty="0"/>
          </a:p>
        </p:txBody>
      </p:sp>
      <p:sp>
        <p:nvSpPr>
          <p:cNvPr id="57" name="직사각형 56"/>
          <p:cNvSpPr/>
          <p:nvPr/>
        </p:nvSpPr>
        <p:spPr>
          <a:xfrm>
            <a:off x="2560845" y="4142136"/>
            <a:ext cx="1069098" cy="706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D</a:t>
            </a:r>
            <a:endParaRPr lang="ko-KR" altLang="en-US" sz="4000" dirty="0"/>
          </a:p>
        </p:txBody>
      </p:sp>
      <p:sp>
        <p:nvSpPr>
          <p:cNvPr id="58" name="직사각형 57"/>
          <p:cNvSpPr/>
          <p:nvPr/>
        </p:nvSpPr>
        <p:spPr>
          <a:xfrm>
            <a:off x="4051454" y="4142136"/>
            <a:ext cx="1069098" cy="706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E</a:t>
            </a:r>
            <a:endParaRPr lang="ko-KR" altLang="en-US" sz="4000" dirty="0"/>
          </a:p>
        </p:txBody>
      </p:sp>
      <p:sp>
        <p:nvSpPr>
          <p:cNvPr id="59" name="직사각형 58"/>
          <p:cNvSpPr/>
          <p:nvPr/>
        </p:nvSpPr>
        <p:spPr>
          <a:xfrm>
            <a:off x="5833059" y="4147682"/>
            <a:ext cx="1069098" cy="706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F</a:t>
            </a:r>
            <a:endParaRPr lang="ko-KR" altLang="en-US" sz="4000" dirty="0"/>
          </a:p>
        </p:txBody>
      </p:sp>
      <p:sp>
        <p:nvSpPr>
          <p:cNvPr id="60" name="직사각형 59"/>
          <p:cNvSpPr/>
          <p:nvPr/>
        </p:nvSpPr>
        <p:spPr>
          <a:xfrm>
            <a:off x="7323668" y="4147682"/>
            <a:ext cx="1069098" cy="706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G</a:t>
            </a:r>
            <a:endParaRPr lang="ko-KR" altLang="en-US" sz="4000" dirty="0"/>
          </a:p>
        </p:txBody>
      </p:sp>
      <p:sp>
        <p:nvSpPr>
          <p:cNvPr id="61" name="직사각형 60"/>
          <p:cNvSpPr/>
          <p:nvPr/>
        </p:nvSpPr>
        <p:spPr>
          <a:xfrm>
            <a:off x="1782898" y="5367197"/>
            <a:ext cx="1069098" cy="706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H</a:t>
            </a:r>
            <a:endParaRPr lang="ko-KR" altLang="en-US" sz="4000" dirty="0"/>
          </a:p>
        </p:txBody>
      </p:sp>
      <p:sp>
        <p:nvSpPr>
          <p:cNvPr id="62" name="직사각형 61"/>
          <p:cNvSpPr/>
          <p:nvPr/>
        </p:nvSpPr>
        <p:spPr>
          <a:xfrm>
            <a:off x="3273507" y="5367197"/>
            <a:ext cx="1069098" cy="706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/>
              <a:t>I</a:t>
            </a:r>
            <a:endParaRPr lang="ko-KR" altLang="en-US" sz="4000" dirty="0"/>
          </a:p>
        </p:txBody>
      </p:sp>
      <p:cxnSp>
        <p:nvCxnSpPr>
          <p:cNvPr id="12" name="직선 화살표 연결선 11"/>
          <p:cNvCxnSpPr>
            <a:endCxn id="55" idx="0"/>
          </p:cNvCxnSpPr>
          <p:nvPr/>
        </p:nvCxnSpPr>
        <p:spPr>
          <a:xfrm flipH="1">
            <a:off x="3808056" y="2521959"/>
            <a:ext cx="1519641" cy="4831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55" idx="2"/>
            <a:endCxn id="57" idx="0"/>
          </p:cNvCxnSpPr>
          <p:nvPr/>
        </p:nvCxnSpPr>
        <p:spPr>
          <a:xfrm flipH="1">
            <a:off x="3095394" y="3711852"/>
            <a:ext cx="712662" cy="430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55" idx="2"/>
            <a:endCxn id="58" idx="0"/>
          </p:cNvCxnSpPr>
          <p:nvPr/>
        </p:nvCxnSpPr>
        <p:spPr>
          <a:xfrm>
            <a:off x="3808056" y="3711852"/>
            <a:ext cx="777947" cy="430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57" idx="2"/>
            <a:endCxn id="61" idx="0"/>
          </p:cNvCxnSpPr>
          <p:nvPr/>
        </p:nvCxnSpPr>
        <p:spPr>
          <a:xfrm flipH="1">
            <a:off x="2317447" y="4848832"/>
            <a:ext cx="777947" cy="518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57" idx="2"/>
            <a:endCxn id="62" idx="0"/>
          </p:cNvCxnSpPr>
          <p:nvPr/>
        </p:nvCxnSpPr>
        <p:spPr>
          <a:xfrm>
            <a:off x="3095394" y="4848832"/>
            <a:ext cx="712662" cy="5183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9" idx="2"/>
            <a:endCxn id="56" idx="0"/>
          </p:cNvCxnSpPr>
          <p:nvPr/>
        </p:nvCxnSpPr>
        <p:spPr>
          <a:xfrm>
            <a:off x="5327697" y="2521959"/>
            <a:ext cx="1607391" cy="4830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56" idx="2"/>
          </p:cNvCxnSpPr>
          <p:nvPr/>
        </p:nvCxnSpPr>
        <p:spPr>
          <a:xfrm flipH="1">
            <a:off x="6400539" y="3711694"/>
            <a:ext cx="534549" cy="4304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56" idx="2"/>
            <a:endCxn id="60" idx="0"/>
          </p:cNvCxnSpPr>
          <p:nvPr/>
        </p:nvCxnSpPr>
        <p:spPr>
          <a:xfrm>
            <a:off x="6935088" y="3711694"/>
            <a:ext cx="923129" cy="4359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왼쪽 화살표 51"/>
          <p:cNvSpPr/>
          <p:nvPr/>
        </p:nvSpPr>
        <p:spPr>
          <a:xfrm>
            <a:off x="8832643" y="1862365"/>
            <a:ext cx="2419927" cy="64892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 </a:t>
            </a:r>
            <a:r>
              <a:rPr lang="ko-KR" altLang="en-US" dirty="0"/>
              <a:t>레벨</a:t>
            </a:r>
          </a:p>
        </p:txBody>
      </p:sp>
      <p:sp>
        <p:nvSpPr>
          <p:cNvPr id="80" name="왼쪽 화살표 79"/>
          <p:cNvSpPr/>
          <p:nvPr/>
        </p:nvSpPr>
        <p:spPr>
          <a:xfrm>
            <a:off x="8844362" y="3004998"/>
            <a:ext cx="2419927" cy="64892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 </a:t>
            </a:r>
            <a:r>
              <a:rPr lang="ko-KR" altLang="en-US" dirty="0"/>
              <a:t>레벨</a:t>
            </a:r>
          </a:p>
        </p:txBody>
      </p:sp>
      <p:sp>
        <p:nvSpPr>
          <p:cNvPr id="81" name="왼쪽 화살표 80"/>
          <p:cNvSpPr/>
          <p:nvPr/>
        </p:nvSpPr>
        <p:spPr>
          <a:xfrm>
            <a:off x="8891251" y="4205451"/>
            <a:ext cx="2419927" cy="64892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 </a:t>
            </a:r>
            <a:r>
              <a:rPr lang="ko-KR" altLang="en-US" dirty="0"/>
              <a:t>레벨</a:t>
            </a:r>
          </a:p>
        </p:txBody>
      </p:sp>
      <p:sp>
        <p:nvSpPr>
          <p:cNvPr id="86" name="왼쪽 화살표 85"/>
          <p:cNvSpPr/>
          <p:nvPr/>
        </p:nvSpPr>
        <p:spPr>
          <a:xfrm>
            <a:off x="8933397" y="5429772"/>
            <a:ext cx="2419927" cy="64892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 </a:t>
            </a:r>
            <a:r>
              <a:rPr lang="ko-KR" altLang="en-US" dirty="0"/>
              <a:t>레벨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1782898" y="1630368"/>
            <a:ext cx="6929280" cy="354902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0" dirty="0">
                <a:solidFill>
                  <a:srgbClr val="FF0000"/>
                </a:solidFill>
              </a:rPr>
              <a:t>포화 </a:t>
            </a:r>
            <a:r>
              <a:rPr lang="ko-KR" altLang="en-US" sz="8000" dirty="0" err="1">
                <a:solidFill>
                  <a:srgbClr val="FF0000"/>
                </a:solidFill>
              </a:rPr>
              <a:t>이진트리</a:t>
            </a:r>
            <a:endParaRPr lang="ko-KR" altLang="en-US" sz="8000" dirty="0">
              <a:solidFill>
                <a:srgbClr val="FF0000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469333" y="1607782"/>
            <a:ext cx="8252351" cy="484767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0" dirty="0">
                <a:solidFill>
                  <a:srgbClr val="FF0000"/>
                </a:solidFill>
              </a:rPr>
              <a:t>완전 </a:t>
            </a:r>
            <a:r>
              <a:rPr lang="ko-KR" altLang="en-US" sz="8000" dirty="0" err="1">
                <a:solidFill>
                  <a:srgbClr val="FF0000"/>
                </a:solidFill>
              </a:rPr>
              <a:t>이진트리</a:t>
            </a:r>
            <a:endParaRPr lang="ko-KR" altLang="en-US" sz="8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3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00"/>
                            </p:stCondLst>
                            <p:childTnLst>
                              <p:par>
                                <p:cTn id="1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52" grpId="0" animBg="1"/>
      <p:bldP spid="80" grpId="0" animBg="1"/>
      <p:bldP spid="81" grpId="0" animBg="1"/>
      <p:bldP spid="86" grpId="0" animBg="1"/>
      <p:bldP spid="53" grpId="0" animBg="1"/>
      <p:bldP spid="53" grpId="1" animBg="1"/>
      <p:bldP spid="9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67651"/>
          </a:xfrm>
        </p:spPr>
        <p:txBody>
          <a:bodyPr/>
          <a:lstStyle/>
          <a:p>
            <a:r>
              <a:rPr lang="ko-KR" altLang="en-US" dirty="0" err="1"/>
              <a:t>부모노드는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ko-KR" altLang="en-US" dirty="0" err="1"/>
              <a:t>자식노드를</a:t>
            </a:r>
            <a:r>
              <a:rPr lang="ko-KR" altLang="en-US" dirty="0"/>
              <a:t> 가진다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시드를</a:t>
            </a:r>
            <a:r>
              <a:rPr lang="ko-KR" altLang="en-US" dirty="0"/>
              <a:t> 가지고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ko-KR" altLang="en-US" dirty="0" err="1"/>
              <a:t>연결노드를</a:t>
            </a:r>
            <a:r>
              <a:rPr lang="ko-KR" altLang="en-US" dirty="0"/>
              <a:t> 어떻게 삽입하는가에 따라 </a:t>
            </a:r>
            <a:r>
              <a:rPr lang="ko-KR" altLang="en-US" dirty="0" err="1"/>
              <a:t>트리를</a:t>
            </a:r>
            <a:r>
              <a:rPr lang="ko-KR" altLang="en-US" dirty="0"/>
              <a:t> </a:t>
            </a:r>
            <a:r>
              <a:rPr lang="ko-KR" altLang="en-US" dirty="0" err="1"/>
              <a:t>분류하기도한다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자료의 특성에 따라 추가순서부터 검색부터 모든 기능들이 달라질 수 있다</a:t>
            </a:r>
            <a:r>
              <a:rPr lang="en-US" altLang="ko-KR" dirty="0"/>
              <a:t>.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205685" y="4638396"/>
            <a:ext cx="2084329" cy="1803595"/>
            <a:chOff x="1205685" y="4638396"/>
            <a:chExt cx="2084329" cy="1803595"/>
          </a:xfrm>
        </p:grpSpPr>
        <p:grpSp>
          <p:nvGrpSpPr>
            <p:cNvPr id="52" name="그룹 51"/>
            <p:cNvGrpSpPr/>
            <p:nvPr/>
          </p:nvGrpSpPr>
          <p:grpSpPr>
            <a:xfrm>
              <a:off x="1205685" y="5024922"/>
              <a:ext cx="2084329" cy="1417069"/>
              <a:chOff x="4325589" y="3130219"/>
              <a:chExt cx="1446415" cy="983372"/>
            </a:xfrm>
          </p:grpSpPr>
          <p:grpSp>
            <p:nvGrpSpPr>
              <p:cNvPr id="53" name="그룹 52"/>
              <p:cNvGrpSpPr/>
              <p:nvPr/>
            </p:nvGrpSpPr>
            <p:grpSpPr>
              <a:xfrm>
                <a:off x="4325589" y="3130219"/>
                <a:ext cx="1446415" cy="983372"/>
                <a:chOff x="3363359" y="3849167"/>
                <a:chExt cx="1446415" cy="983372"/>
              </a:xfrm>
            </p:grpSpPr>
            <p:grpSp>
              <p:nvGrpSpPr>
                <p:cNvPr id="55" name="그룹 54"/>
                <p:cNvGrpSpPr/>
                <p:nvPr/>
              </p:nvGrpSpPr>
              <p:grpSpPr>
                <a:xfrm>
                  <a:off x="3363359" y="3849167"/>
                  <a:ext cx="1446415" cy="689582"/>
                  <a:chOff x="1363287" y="3849167"/>
                  <a:chExt cx="1446415" cy="689582"/>
                </a:xfrm>
              </p:grpSpPr>
              <p:sp>
                <p:nvSpPr>
                  <p:cNvPr id="57" name="직사각형 56"/>
                  <p:cNvSpPr/>
                  <p:nvPr/>
                </p:nvSpPr>
                <p:spPr>
                  <a:xfrm>
                    <a:off x="1363287" y="3849167"/>
                    <a:ext cx="1446415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/>
                      <a:t>0x01</a:t>
                    </a:r>
                  </a:p>
                  <a:p>
                    <a:pPr algn="ctr"/>
                    <a:r>
                      <a:rPr lang="en-US" altLang="ko-KR" sz="1000"/>
                      <a:t>(</a:t>
                    </a:r>
                    <a:r>
                      <a:rPr lang="ko-KR" altLang="en-US" sz="1000"/>
                      <a:t>노드 주소</a:t>
                    </a:r>
                    <a:r>
                      <a:rPr lang="en-US" altLang="ko-KR" sz="1000"/>
                      <a:t>)</a:t>
                    </a:r>
                    <a:endParaRPr lang="ko-KR" altLang="en-US" sz="1000" dirty="0"/>
                  </a:p>
                </p:txBody>
              </p:sp>
              <p:sp>
                <p:nvSpPr>
                  <p:cNvPr id="58" name="직사각형 57"/>
                  <p:cNvSpPr/>
                  <p:nvPr/>
                </p:nvSpPr>
                <p:spPr>
                  <a:xfrm>
                    <a:off x="1363287" y="4212531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>
                        <a:solidFill>
                          <a:sysClr val="windowText" lastClr="000000"/>
                        </a:solidFill>
                      </a:rPr>
                      <a:t>A</a:t>
                    </a:r>
                    <a:br>
                      <a:rPr lang="en-US" altLang="ko-KR">
                        <a:solidFill>
                          <a:sysClr val="windowText" lastClr="000000"/>
                        </a:solidFill>
                      </a:rPr>
                    </a:br>
                    <a:r>
                      <a:rPr lang="en-US" altLang="ko-KR" sz="1000">
                        <a:solidFill>
                          <a:sysClr val="windowText" lastClr="000000"/>
                        </a:solidFill>
                      </a:rPr>
                      <a:t>(</a:t>
                    </a:r>
                    <a:r>
                      <a:rPr lang="ko-KR" altLang="en-US" sz="1000">
                        <a:solidFill>
                          <a:sysClr val="windowText" lastClr="000000"/>
                        </a:solidFill>
                      </a:rPr>
                      <a:t>데이터</a:t>
                    </a:r>
                    <a:r>
                      <a:rPr lang="en-US" altLang="ko-KR" sz="1000">
                        <a:solidFill>
                          <a:sysClr val="windowText" lastClr="000000"/>
                        </a:solidFill>
                      </a:rPr>
                      <a:t>)</a:t>
                    </a:r>
                    <a:endParaRPr lang="ko-KR" altLang="en-US" sz="100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56" name="직사각형 55"/>
                <p:cNvSpPr/>
                <p:nvPr/>
              </p:nvSpPr>
              <p:spPr>
                <a:xfrm>
                  <a:off x="3363359" y="4538749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/>
                    <a:t>NULL</a:t>
                  </a:r>
                  <a:br>
                    <a:rPr lang="en-US" altLang="ko-KR" sz="1400"/>
                  </a:br>
                  <a:r>
                    <a:rPr lang="en-US" altLang="ko-KR" sz="1000"/>
                    <a:t>(</a:t>
                  </a:r>
                  <a:r>
                    <a:rPr lang="ko-KR" altLang="en-US" sz="1000"/>
                    <a:t>좌 노드주소</a:t>
                  </a:r>
                  <a:r>
                    <a:rPr lang="en-US" altLang="ko-KR" sz="1000"/>
                    <a:t>)</a:t>
                  </a:r>
                  <a:endParaRPr lang="ko-KR" altLang="en-US" sz="1400" dirty="0"/>
                </a:p>
              </p:txBody>
            </p:sp>
          </p:grpSp>
          <p:sp>
            <p:nvSpPr>
              <p:cNvPr id="54" name="직사각형 53"/>
              <p:cNvSpPr/>
              <p:nvPr/>
            </p:nvSpPr>
            <p:spPr>
              <a:xfrm>
                <a:off x="5048796" y="3819800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/>
                  <a:t>NULL</a:t>
                </a:r>
              </a:p>
              <a:p>
                <a:pPr algn="ctr"/>
                <a:r>
                  <a:rPr lang="en-US" altLang="ko-KR" sz="1000"/>
                  <a:t>(</a:t>
                </a:r>
                <a:r>
                  <a:rPr lang="ko-KR" altLang="en-US" sz="1000"/>
                  <a:t>우 노드주소</a:t>
                </a:r>
                <a:r>
                  <a:rPr lang="en-US" altLang="ko-KR" sz="1000"/>
                  <a:t>)</a:t>
                </a:r>
                <a:endParaRPr lang="ko-KR" altLang="en-US" sz="1000" dirty="0"/>
              </a:p>
            </p:txBody>
          </p:sp>
        </p:grpSp>
        <p:sp>
          <p:nvSpPr>
            <p:cNvPr id="64" name="TextBox 63"/>
            <p:cNvSpPr txBox="1"/>
            <p:nvPr/>
          </p:nvSpPr>
          <p:spPr>
            <a:xfrm>
              <a:off x="1205685" y="4638396"/>
              <a:ext cx="1528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노드</a:t>
              </a: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3795746" y="4646635"/>
            <a:ext cx="1850430" cy="1239128"/>
            <a:chOff x="3795746" y="4646635"/>
            <a:chExt cx="1850430" cy="1239128"/>
          </a:xfrm>
        </p:grpSpPr>
        <p:grpSp>
          <p:nvGrpSpPr>
            <p:cNvPr id="59" name="그룹 58"/>
            <p:cNvGrpSpPr/>
            <p:nvPr/>
          </p:nvGrpSpPr>
          <p:grpSpPr>
            <a:xfrm>
              <a:off x="3795746" y="5028867"/>
              <a:ext cx="1850430" cy="856896"/>
              <a:chOff x="1363287" y="3720660"/>
              <a:chExt cx="1446415" cy="669805"/>
            </a:xfrm>
          </p:grpSpPr>
          <p:sp>
            <p:nvSpPr>
              <p:cNvPr id="60" name="직사각형 59"/>
              <p:cNvSpPr/>
              <p:nvPr/>
            </p:nvSpPr>
            <p:spPr>
              <a:xfrm>
                <a:off x="1363287" y="3720660"/>
                <a:ext cx="1446415" cy="329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/>
                  <a:t>Seed</a:t>
                </a:r>
              </a:p>
              <a:p>
                <a:pPr algn="ctr"/>
                <a:r>
                  <a:rPr lang="en-US" altLang="ko-KR" sz="1000"/>
                  <a:t>(</a:t>
                </a:r>
                <a:r>
                  <a:rPr lang="ko-KR" altLang="en-US" sz="1000"/>
                  <a:t>변수명</a:t>
                </a:r>
                <a:r>
                  <a:rPr lang="en-US" altLang="ko-KR" sz="1000"/>
                  <a:t>)</a:t>
                </a:r>
                <a:endParaRPr lang="ko-KR" altLang="en-US" sz="1000" dirty="0"/>
              </a:p>
            </p:txBody>
          </p:sp>
          <p:sp>
            <p:nvSpPr>
              <p:cNvPr id="61" name="직사각형 60"/>
              <p:cNvSpPr/>
              <p:nvPr/>
            </p:nvSpPr>
            <p:spPr>
              <a:xfrm>
                <a:off x="1363287" y="4050171"/>
                <a:ext cx="1446415" cy="34029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ysClr val="windowText" lastClr="000000"/>
                    </a:solidFill>
                  </a:rPr>
                  <a:t>NULL</a:t>
                </a:r>
              </a:p>
              <a:p>
                <a:pPr algn="ctr"/>
                <a:r>
                  <a:rPr lang="en-US" altLang="ko-KR" sz="1000">
                    <a:solidFill>
                      <a:sysClr val="windowText" lastClr="000000"/>
                    </a:solidFill>
                  </a:rPr>
                  <a:t>(</a:t>
                </a:r>
                <a:r>
                  <a:rPr lang="ko-KR" altLang="en-US" sz="1000">
                    <a:solidFill>
                      <a:sysClr val="windowText" lastClr="000000"/>
                    </a:solidFill>
                  </a:rPr>
                  <a:t>노드의 주소</a:t>
                </a:r>
                <a:r>
                  <a:rPr lang="en-US" altLang="ko-KR" sz="1000">
                    <a:solidFill>
                      <a:sysClr val="windowText" lastClr="000000"/>
                    </a:solidFill>
                  </a:rPr>
                  <a:t>)</a:t>
                </a:r>
                <a:endParaRPr lang="ko-KR" altLang="en-US" sz="10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1" name="TextBox 70"/>
            <p:cNvSpPr txBox="1"/>
            <p:nvPr/>
          </p:nvSpPr>
          <p:spPr>
            <a:xfrm>
              <a:off x="3795746" y="4646635"/>
              <a:ext cx="1530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시드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1721263" y="4659535"/>
            <a:ext cx="114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-</a:t>
            </a:r>
            <a:r>
              <a:rPr lang="ko-KR" altLang="en-US"/>
              <a:t>구조체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59575" y="4651090"/>
            <a:ext cx="124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-</a:t>
            </a:r>
            <a:r>
              <a:rPr lang="ko-KR" altLang="en-US"/>
              <a:t>포인터</a:t>
            </a:r>
          </a:p>
        </p:txBody>
      </p:sp>
    </p:spTree>
    <p:extLst>
      <p:ext uri="{BB962C8B-B14F-4D97-AF65-F5344CB8AC3E}">
        <p14:creationId xmlns:p14="http://schemas.microsoft.com/office/powerpoint/2010/main" val="183672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4" grpId="0"/>
      <p:bldP spid="7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이진트리의</a:t>
            </a:r>
            <a:r>
              <a:rPr lang="ko-KR" altLang="en-US" dirty="0"/>
              <a:t> 개념 및 구조 파악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재귀함수의 마법 분석 및 파악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재귀함수를 쓰지 않는다면 어떻게 해야 할 것 인가</a:t>
            </a:r>
            <a:r>
              <a:rPr lang="en-US" altLang="ko-KR" dirty="0"/>
              <a:t>?</a:t>
            </a:r>
          </a:p>
          <a:p>
            <a:r>
              <a:rPr lang="ko-KR" altLang="en-US" dirty="0" err="1"/>
              <a:t>이진트리는</a:t>
            </a:r>
            <a:r>
              <a:rPr lang="ko-KR" altLang="en-US" dirty="0"/>
              <a:t> 어떻게 활용해야 할 것 인가</a:t>
            </a:r>
            <a:r>
              <a:rPr lang="en-US" altLang="ko-KR" dirty="0"/>
              <a:t>?</a:t>
            </a:r>
          </a:p>
        </p:txBody>
      </p:sp>
      <p:grpSp>
        <p:nvGrpSpPr>
          <p:cNvPr id="52" name="그룹 51"/>
          <p:cNvGrpSpPr/>
          <p:nvPr/>
        </p:nvGrpSpPr>
        <p:grpSpPr>
          <a:xfrm>
            <a:off x="1253303" y="4690557"/>
            <a:ext cx="1214694" cy="1320800"/>
            <a:chOff x="9182373" y="4961467"/>
            <a:chExt cx="1214694" cy="1320800"/>
          </a:xfrm>
        </p:grpSpPr>
        <p:sp>
          <p:nvSpPr>
            <p:cNvPr id="53" name="아래쪽 화살표 52">
              <a:hlinkClick r:id="rId2"/>
            </p:cNvPr>
            <p:cNvSpPr/>
            <p:nvPr/>
          </p:nvSpPr>
          <p:spPr>
            <a:xfrm>
              <a:off x="9182373" y="4961467"/>
              <a:ext cx="1214694" cy="1016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9182373" y="6087533"/>
              <a:ext cx="1214694" cy="1947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타원형 설명선 54"/>
          <p:cNvSpPr/>
          <p:nvPr/>
        </p:nvSpPr>
        <p:spPr>
          <a:xfrm>
            <a:off x="1860650" y="4119055"/>
            <a:ext cx="1524000" cy="770467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예제 </a:t>
            </a:r>
            <a:br>
              <a:rPr lang="en-US" altLang="ko-KR" sz="1600" dirty="0"/>
            </a:br>
            <a:r>
              <a:rPr lang="ko-KR" altLang="en-US" sz="1600" dirty="0"/>
              <a:t>다운로드</a:t>
            </a:r>
          </a:p>
        </p:txBody>
      </p:sp>
      <p:sp>
        <p:nvSpPr>
          <p:cNvPr id="56" name="내용 개체 틀 2"/>
          <p:cNvSpPr txBox="1">
            <a:spLocks/>
          </p:cNvSpPr>
          <p:nvPr/>
        </p:nvSpPr>
        <p:spPr>
          <a:xfrm>
            <a:off x="6233530" y="4889521"/>
            <a:ext cx="5530578" cy="1731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b="1" dirty="0">
                <a:solidFill>
                  <a:srgbClr val="FF0000"/>
                </a:solidFill>
              </a:rPr>
              <a:t># </a:t>
            </a:r>
            <a:r>
              <a:rPr lang="ko-KR" altLang="en-US" sz="2000" b="1" dirty="0">
                <a:solidFill>
                  <a:srgbClr val="FF0000"/>
                </a:solidFill>
              </a:rPr>
              <a:t>심화문제</a:t>
            </a:r>
            <a:r>
              <a:rPr lang="en-US" altLang="ko-KR" sz="2000" b="1" dirty="0">
                <a:solidFill>
                  <a:srgbClr val="FF0000"/>
                </a:solidFill>
              </a:rPr>
              <a:t> #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1.</a:t>
            </a:r>
            <a:r>
              <a:rPr lang="ko-KR" altLang="en-US" sz="2000" dirty="0">
                <a:solidFill>
                  <a:srgbClr val="FF0000"/>
                </a:solidFill>
              </a:rPr>
              <a:t>특정 순서로 데이터를 추가 </a:t>
            </a:r>
            <a:r>
              <a:rPr lang="ko-KR" altLang="en-US" sz="2000" dirty="0" err="1">
                <a:solidFill>
                  <a:srgbClr val="FF0000"/>
                </a:solidFill>
              </a:rPr>
              <a:t>함수만들기</a:t>
            </a:r>
            <a:r>
              <a:rPr lang="en-US" altLang="ko-KR" sz="2000" dirty="0">
                <a:solidFill>
                  <a:srgbClr val="FF0000"/>
                </a:solidFill>
              </a:rPr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2.</a:t>
            </a:r>
            <a:r>
              <a:rPr lang="ko-KR" altLang="en-US" sz="2000" dirty="0" err="1">
                <a:solidFill>
                  <a:srgbClr val="FF0000"/>
                </a:solidFill>
              </a:rPr>
              <a:t>재귀없이</a:t>
            </a:r>
            <a:r>
              <a:rPr lang="ko-KR" altLang="en-US" sz="2000" dirty="0">
                <a:solidFill>
                  <a:srgbClr val="FF0000"/>
                </a:solidFill>
              </a:rPr>
              <a:t> 순회 구현하기</a:t>
            </a:r>
            <a:r>
              <a:rPr lang="en-US" altLang="ko-KR" sz="2000" dirty="0">
                <a:solidFill>
                  <a:srgbClr val="FF0000"/>
                </a:solidFill>
              </a:rPr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3.</a:t>
            </a:r>
            <a:r>
              <a:rPr lang="ko-KR" altLang="en-US" sz="2000" dirty="0" err="1">
                <a:solidFill>
                  <a:srgbClr val="FF0000"/>
                </a:solidFill>
              </a:rPr>
              <a:t>힙트리</a:t>
            </a:r>
            <a:r>
              <a:rPr lang="en-US" altLang="ko-KR" sz="2000" dirty="0">
                <a:solidFill>
                  <a:srgbClr val="FF0000"/>
                </a:solidFill>
              </a:rPr>
              <a:t>,</a:t>
            </a:r>
            <a:r>
              <a:rPr lang="ko-KR" altLang="en-US" sz="2000" dirty="0">
                <a:solidFill>
                  <a:srgbClr val="FF0000"/>
                </a:solidFill>
              </a:rPr>
              <a:t>레드블랙트리 만들기</a:t>
            </a:r>
            <a:r>
              <a:rPr lang="en-US" altLang="ko-KR" sz="2000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2589" y="3947377"/>
            <a:ext cx="300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※</a:t>
            </a:r>
            <a:r>
              <a:rPr lang="ko-KR" altLang="en-US" dirty="0" err="1">
                <a:solidFill>
                  <a:srgbClr val="FF0000"/>
                </a:solidFill>
              </a:rPr>
              <a:t>이진트리는</a:t>
            </a:r>
            <a:r>
              <a:rPr lang="ko-KR" altLang="en-US" dirty="0">
                <a:solidFill>
                  <a:srgbClr val="FF0000"/>
                </a:solidFill>
              </a:rPr>
              <a:t> 완성형이다</a:t>
            </a:r>
            <a:r>
              <a:rPr lang="en-US" altLang="ko-KR" dirty="0">
                <a:solidFill>
                  <a:srgbClr val="FF0000"/>
                </a:solidFill>
              </a:rPr>
              <a:t>! 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35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생성</a:t>
            </a:r>
            <a:r>
              <a:rPr lang="en-US" altLang="ko-KR" dirty="0"/>
              <a:t>, </a:t>
            </a:r>
            <a:r>
              <a:rPr lang="ko-KR" altLang="en-US" dirty="0"/>
              <a:t>추가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7182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생성은 </a:t>
            </a:r>
            <a:r>
              <a:rPr lang="ko-KR" altLang="en-US" dirty="0" err="1"/>
              <a:t>노드를</a:t>
            </a:r>
            <a:r>
              <a:rPr lang="ko-KR" altLang="en-US" dirty="0"/>
              <a:t> </a:t>
            </a:r>
            <a:r>
              <a:rPr lang="ko-KR" altLang="en-US" dirty="0" err="1"/>
              <a:t>만들어주는과정이다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어느 </a:t>
            </a:r>
            <a:r>
              <a:rPr lang="ko-KR" altLang="en-US" dirty="0" err="1"/>
              <a:t>자식노드에</a:t>
            </a:r>
            <a:r>
              <a:rPr lang="ko-KR" altLang="en-US" dirty="0"/>
              <a:t> 달게 될지에 따라 함수가 달라진다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</p:txBody>
      </p:sp>
      <p:grpSp>
        <p:nvGrpSpPr>
          <p:cNvPr id="100" name="그룹 99"/>
          <p:cNvGrpSpPr/>
          <p:nvPr/>
        </p:nvGrpSpPr>
        <p:grpSpPr>
          <a:xfrm>
            <a:off x="1349108" y="2816141"/>
            <a:ext cx="1446415" cy="669805"/>
            <a:chOff x="1363287" y="3720660"/>
            <a:chExt cx="1446415" cy="669805"/>
          </a:xfrm>
        </p:grpSpPr>
        <p:sp>
          <p:nvSpPr>
            <p:cNvPr id="27" name="직사각형 26"/>
            <p:cNvSpPr/>
            <p:nvPr/>
          </p:nvSpPr>
          <p:spPr>
            <a:xfrm>
              <a:off x="1363287" y="3720660"/>
              <a:ext cx="1446415" cy="329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Seed</a:t>
              </a:r>
              <a:endParaRPr lang="ko-KR" altLang="en-US" dirty="0"/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1363287" y="4050171"/>
              <a:ext cx="1446415" cy="3402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NULL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5" name="직사각형 64"/>
          <p:cNvSpPr/>
          <p:nvPr/>
        </p:nvSpPr>
        <p:spPr>
          <a:xfrm>
            <a:off x="1349107" y="3145652"/>
            <a:ext cx="1446415" cy="3608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0x01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4325589" y="3130219"/>
            <a:ext cx="1448375" cy="983372"/>
            <a:chOff x="4325589" y="3130219"/>
            <a:chExt cx="1448375" cy="983372"/>
          </a:xfrm>
        </p:grpSpPr>
        <p:grpSp>
          <p:nvGrpSpPr>
            <p:cNvPr id="113" name="그룹 112"/>
            <p:cNvGrpSpPr/>
            <p:nvPr/>
          </p:nvGrpSpPr>
          <p:grpSpPr>
            <a:xfrm>
              <a:off x="4325589" y="3130219"/>
              <a:ext cx="1448375" cy="983372"/>
              <a:chOff x="3363359" y="3849167"/>
              <a:chExt cx="1448375" cy="983372"/>
            </a:xfrm>
          </p:grpSpPr>
          <p:grpSp>
            <p:nvGrpSpPr>
              <p:cNvPr id="101" name="그룹 100"/>
              <p:cNvGrpSpPr/>
              <p:nvPr/>
            </p:nvGrpSpPr>
            <p:grpSpPr>
              <a:xfrm>
                <a:off x="3363359" y="3849167"/>
                <a:ext cx="1448375" cy="689582"/>
                <a:chOff x="1363287" y="3849167"/>
                <a:chExt cx="1448375" cy="689582"/>
              </a:xfrm>
            </p:grpSpPr>
            <p:sp>
              <p:nvSpPr>
                <p:cNvPr id="102" name="직사각형 101"/>
                <p:cNvSpPr/>
                <p:nvPr/>
              </p:nvSpPr>
              <p:spPr>
                <a:xfrm>
                  <a:off x="1363287" y="3849167"/>
                  <a:ext cx="1448375" cy="36336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0x01</a:t>
                  </a:r>
                  <a:endParaRPr lang="ko-KR" altLang="en-US" dirty="0"/>
                </a:p>
              </p:txBody>
            </p:sp>
            <p:sp>
              <p:nvSpPr>
                <p:cNvPr id="103" name="직사각형 102"/>
                <p:cNvSpPr/>
                <p:nvPr/>
              </p:nvSpPr>
              <p:spPr>
                <a:xfrm>
                  <a:off x="1363287" y="4212531"/>
                  <a:ext cx="1446415" cy="32621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A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104" name="직사각형 103"/>
              <p:cNvSpPr/>
              <p:nvPr/>
            </p:nvSpPr>
            <p:spPr>
              <a:xfrm>
                <a:off x="3363359" y="4538749"/>
                <a:ext cx="723207" cy="2937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sp>
          <p:nvSpPr>
            <p:cNvPr id="60" name="직사각형 59"/>
            <p:cNvSpPr/>
            <p:nvPr/>
          </p:nvSpPr>
          <p:spPr>
            <a:xfrm>
              <a:off x="5048796" y="3819800"/>
              <a:ext cx="723208" cy="2937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NULL</a:t>
              </a:r>
              <a:endParaRPr lang="ko-KR" altLang="en-US" sz="1400" dirty="0"/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3512420" y="4358281"/>
            <a:ext cx="1446415" cy="983372"/>
            <a:chOff x="3512420" y="4358281"/>
            <a:chExt cx="1446415" cy="983372"/>
          </a:xfrm>
        </p:grpSpPr>
        <p:grpSp>
          <p:nvGrpSpPr>
            <p:cNvPr id="61" name="그룹 60"/>
            <p:cNvGrpSpPr/>
            <p:nvPr/>
          </p:nvGrpSpPr>
          <p:grpSpPr>
            <a:xfrm>
              <a:off x="3512420" y="4358281"/>
              <a:ext cx="1446415" cy="983372"/>
              <a:chOff x="3363359" y="3849167"/>
              <a:chExt cx="1446415" cy="983372"/>
            </a:xfrm>
          </p:grpSpPr>
          <p:grpSp>
            <p:nvGrpSpPr>
              <p:cNvPr id="62" name="그룹 61"/>
              <p:cNvGrpSpPr/>
              <p:nvPr/>
            </p:nvGrpSpPr>
            <p:grpSpPr>
              <a:xfrm>
                <a:off x="3363359" y="3849167"/>
                <a:ext cx="1446415" cy="689582"/>
                <a:chOff x="1363287" y="3849167"/>
                <a:chExt cx="1446415" cy="689582"/>
              </a:xfrm>
            </p:grpSpPr>
            <p:sp>
              <p:nvSpPr>
                <p:cNvPr id="64" name="직사각형 63"/>
                <p:cNvSpPr/>
                <p:nvPr/>
              </p:nvSpPr>
              <p:spPr>
                <a:xfrm>
                  <a:off x="1364011" y="3849167"/>
                  <a:ext cx="1445691" cy="36336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0x02</a:t>
                  </a:r>
                  <a:endParaRPr lang="ko-KR" altLang="en-US" dirty="0"/>
                </a:p>
              </p:txBody>
            </p:sp>
            <p:sp>
              <p:nvSpPr>
                <p:cNvPr id="66" name="직사각형 65"/>
                <p:cNvSpPr/>
                <p:nvPr/>
              </p:nvSpPr>
              <p:spPr>
                <a:xfrm>
                  <a:off x="1363287" y="4212531"/>
                  <a:ext cx="1446415" cy="32621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B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63" name="직사각형 62"/>
              <p:cNvSpPr/>
              <p:nvPr/>
            </p:nvSpPr>
            <p:spPr>
              <a:xfrm>
                <a:off x="3363359" y="4538749"/>
                <a:ext cx="723207" cy="2937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sp>
          <p:nvSpPr>
            <p:cNvPr id="68" name="직사각형 67"/>
            <p:cNvSpPr/>
            <p:nvPr/>
          </p:nvSpPr>
          <p:spPr>
            <a:xfrm>
              <a:off x="4235627" y="5047862"/>
              <a:ext cx="723208" cy="2937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NULL</a:t>
              </a:r>
              <a:endParaRPr lang="ko-KR" altLang="en-US" sz="1400" dirty="0"/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5382118" y="4353246"/>
            <a:ext cx="1456962" cy="983372"/>
            <a:chOff x="5382118" y="4353246"/>
            <a:chExt cx="1456962" cy="983372"/>
          </a:xfrm>
        </p:grpSpPr>
        <p:grpSp>
          <p:nvGrpSpPr>
            <p:cNvPr id="71" name="그룹 70"/>
            <p:cNvGrpSpPr/>
            <p:nvPr/>
          </p:nvGrpSpPr>
          <p:grpSpPr>
            <a:xfrm>
              <a:off x="5382118" y="4353246"/>
              <a:ext cx="1456962" cy="983372"/>
              <a:chOff x="3352813" y="3849167"/>
              <a:chExt cx="1456962" cy="983372"/>
            </a:xfrm>
          </p:grpSpPr>
          <p:grpSp>
            <p:nvGrpSpPr>
              <p:cNvPr id="72" name="그룹 71"/>
              <p:cNvGrpSpPr/>
              <p:nvPr/>
            </p:nvGrpSpPr>
            <p:grpSpPr>
              <a:xfrm>
                <a:off x="3352813" y="3849167"/>
                <a:ext cx="1456962" cy="689582"/>
                <a:chOff x="1352741" y="3849167"/>
                <a:chExt cx="1456962" cy="689582"/>
              </a:xfrm>
            </p:grpSpPr>
            <p:sp>
              <p:nvSpPr>
                <p:cNvPr id="74" name="직사각형 73"/>
                <p:cNvSpPr/>
                <p:nvPr/>
              </p:nvSpPr>
              <p:spPr>
                <a:xfrm>
                  <a:off x="1352741" y="3849167"/>
                  <a:ext cx="1456961" cy="36336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0x03</a:t>
                  </a:r>
                  <a:endParaRPr lang="ko-KR" altLang="en-US" dirty="0"/>
                </a:p>
              </p:txBody>
            </p:sp>
            <p:sp>
              <p:nvSpPr>
                <p:cNvPr id="75" name="직사각형 74"/>
                <p:cNvSpPr/>
                <p:nvPr/>
              </p:nvSpPr>
              <p:spPr>
                <a:xfrm>
                  <a:off x="1352741" y="4212531"/>
                  <a:ext cx="1456962" cy="32621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C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73" name="직사각형 72"/>
              <p:cNvSpPr/>
              <p:nvPr/>
            </p:nvSpPr>
            <p:spPr>
              <a:xfrm>
                <a:off x="3352813" y="4538749"/>
                <a:ext cx="733753" cy="2937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sp>
          <p:nvSpPr>
            <p:cNvPr id="76" name="직사각형 75"/>
            <p:cNvSpPr/>
            <p:nvPr/>
          </p:nvSpPr>
          <p:spPr>
            <a:xfrm>
              <a:off x="6115871" y="5042827"/>
              <a:ext cx="723208" cy="2937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NULL</a:t>
              </a:r>
              <a:endParaRPr lang="ko-KR" altLang="en-US" sz="1400" dirty="0"/>
            </a:p>
          </p:txBody>
        </p:sp>
      </p:grpSp>
      <p:cxnSp>
        <p:nvCxnSpPr>
          <p:cNvPr id="6" name="꺾인 연결선 5"/>
          <p:cNvCxnSpPr>
            <a:stCxn id="64" idx="0"/>
            <a:endCxn id="104" idx="2"/>
          </p:cNvCxnSpPr>
          <p:nvPr/>
        </p:nvCxnSpPr>
        <p:spPr>
          <a:xfrm rot="5400000" flipH="1" flipV="1">
            <a:off x="4339246" y="4010335"/>
            <a:ext cx="244690" cy="45120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꺾인 연결선 7"/>
          <p:cNvCxnSpPr>
            <a:stCxn id="74" idx="0"/>
            <a:endCxn id="60" idx="2"/>
          </p:cNvCxnSpPr>
          <p:nvPr/>
        </p:nvCxnSpPr>
        <p:spPr>
          <a:xfrm rot="16200000" flipV="1">
            <a:off x="5640673" y="3883319"/>
            <a:ext cx="239655" cy="700199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51654" y="4016123"/>
            <a:ext cx="7457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/>
              <a:t>MakeLeft</a:t>
            </a:r>
            <a:endParaRPr lang="ko-KR" altLang="en-US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6052143" y="3991129"/>
            <a:ext cx="982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/>
              <a:t>MakeRight</a:t>
            </a:r>
            <a:endParaRPr lang="ko-KR" altLang="en-US" sz="1000" dirty="0"/>
          </a:p>
        </p:txBody>
      </p:sp>
      <p:grpSp>
        <p:nvGrpSpPr>
          <p:cNvPr id="52" name="그룹 51"/>
          <p:cNvGrpSpPr/>
          <p:nvPr/>
        </p:nvGrpSpPr>
        <p:grpSpPr>
          <a:xfrm>
            <a:off x="2708522" y="5672216"/>
            <a:ext cx="1446415" cy="983372"/>
            <a:chOff x="2708522" y="5672216"/>
            <a:chExt cx="1446415" cy="983372"/>
          </a:xfrm>
        </p:grpSpPr>
        <p:grpSp>
          <p:nvGrpSpPr>
            <p:cNvPr id="81" name="그룹 80"/>
            <p:cNvGrpSpPr/>
            <p:nvPr/>
          </p:nvGrpSpPr>
          <p:grpSpPr>
            <a:xfrm>
              <a:off x="2708522" y="5672216"/>
              <a:ext cx="1446415" cy="983372"/>
              <a:chOff x="3363359" y="3849167"/>
              <a:chExt cx="1446415" cy="983372"/>
            </a:xfrm>
          </p:grpSpPr>
          <p:grpSp>
            <p:nvGrpSpPr>
              <p:cNvPr id="82" name="그룹 81"/>
              <p:cNvGrpSpPr/>
              <p:nvPr/>
            </p:nvGrpSpPr>
            <p:grpSpPr>
              <a:xfrm>
                <a:off x="3363359" y="3849167"/>
                <a:ext cx="1446415" cy="689582"/>
                <a:chOff x="1363287" y="3849167"/>
                <a:chExt cx="1446415" cy="689582"/>
              </a:xfrm>
            </p:grpSpPr>
            <p:sp>
              <p:nvSpPr>
                <p:cNvPr id="84" name="직사각형 83"/>
                <p:cNvSpPr/>
                <p:nvPr/>
              </p:nvSpPr>
              <p:spPr>
                <a:xfrm>
                  <a:off x="1363287" y="3849167"/>
                  <a:ext cx="1446415" cy="36336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0x04</a:t>
                  </a:r>
                  <a:endParaRPr lang="ko-KR" altLang="en-US" dirty="0"/>
                </a:p>
              </p:txBody>
            </p:sp>
            <p:sp>
              <p:nvSpPr>
                <p:cNvPr id="85" name="직사각형 84"/>
                <p:cNvSpPr/>
                <p:nvPr/>
              </p:nvSpPr>
              <p:spPr>
                <a:xfrm>
                  <a:off x="1363287" y="4212531"/>
                  <a:ext cx="1446415" cy="32621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D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83" name="직사각형 82"/>
              <p:cNvSpPr/>
              <p:nvPr/>
            </p:nvSpPr>
            <p:spPr>
              <a:xfrm>
                <a:off x="3363359" y="4538749"/>
                <a:ext cx="723207" cy="2937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sp>
          <p:nvSpPr>
            <p:cNvPr id="86" name="직사각형 85"/>
            <p:cNvSpPr/>
            <p:nvPr/>
          </p:nvSpPr>
          <p:spPr>
            <a:xfrm>
              <a:off x="3431729" y="6361797"/>
              <a:ext cx="723208" cy="2937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NULL</a:t>
              </a:r>
              <a:endParaRPr lang="ko-KR" altLang="en-US" sz="1400" dirty="0"/>
            </a:p>
          </p:txBody>
        </p:sp>
      </p:grpSp>
      <p:cxnSp>
        <p:nvCxnSpPr>
          <p:cNvPr id="12" name="꺾인 연결선 11"/>
          <p:cNvCxnSpPr>
            <a:stCxn id="84" idx="0"/>
            <a:endCxn id="63" idx="2"/>
          </p:cNvCxnSpPr>
          <p:nvPr/>
        </p:nvCxnSpPr>
        <p:spPr>
          <a:xfrm rot="5400000" flipH="1" flipV="1">
            <a:off x="3487596" y="5285788"/>
            <a:ext cx="330563" cy="44229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/>
          <p:cNvGrpSpPr/>
          <p:nvPr/>
        </p:nvGrpSpPr>
        <p:grpSpPr>
          <a:xfrm>
            <a:off x="6317178" y="5698307"/>
            <a:ext cx="1446415" cy="983372"/>
            <a:chOff x="6317178" y="5698307"/>
            <a:chExt cx="1446415" cy="983372"/>
          </a:xfrm>
        </p:grpSpPr>
        <p:grpSp>
          <p:nvGrpSpPr>
            <p:cNvPr id="89" name="그룹 88"/>
            <p:cNvGrpSpPr/>
            <p:nvPr/>
          </p:nvGrpSpPr>
          <p:grpSpPr>
            <a:xfrm>
              <a:off x="6317178" y="5698307"/>
              <a:ext cx="1446415" cy="983372"/>
              <a:chOff x="3363359" y="3849167"/>
              <a:chExt cx="1446415" cy="983372"/>
            </a:xfrm>
          </p:grpSpPr>
          <p:grpSp>
            <p:nvGrpSpPr>
              <p:cNvPr id="90" name="그룹 89"/>
              <p:cNvGrpSpPr/>
              <p:nvPr/>
            </p:nvGrpSpPr>
            <p:grpSpPr>
              <a:xfrm>
                <a:off x="3363359" y="3849167"/>
                <a:ext cx="1446415" cy="689582"/>
                <a:chOff x="1363287" y="3849167"/>
                <a:chExt cx="1446415" cy="689582"/>
              </a:xfrm>
            </p:grpSpPr>
            <p:sp>
              <p:nvSpPr>
                <p:cNvPr id="92" name="직사각형 91"/>
                <p:cNvSpPr/>
                <p:nvPr/>
              </p:nvSpPr>
              <p:spPr>
                <a:xfrm>
                  <a:off x="1363287" y="3849167"/>
                  <a:ext cx="1446415" cy="36336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0x05</a:t>
                  </a:r>
                  <a:endParaRPr lang="ko-KR" altLang="en-US" dirty="0"/>
                </a:p>
              </p:txBody>
            </p:sp>
            <p:sp>
              <p:nvSpPr>
                <p:cNvPr id="93" name="직사각형 92"/>
                <p:cNvSpPr/>
                <p:nvPr/>
              </p:nvSpPr>
              <p:spPr>
                <a:xfrm>
                  <a:off x="1363287" y="4212531"/>
                  <a:ext cx="1446415" cy="326218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ysClr val="windowText" lastClr="000000"/>
                      </a:solidFill>
                    </a:rPr>
                    <a:t>E</a:t>
                  </a:r>
                  <a:endParaRPr lang="ko-KR" altLang="en-US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91" name="직사각형 90"/>
              <p:cNvSpPr/>
              <p:nvPr/>
            </p:nvSpPr>
            <p:spPr>
              <a:xfrm>
                <a:off x="3363359" y="4538749"/>
                <a:ext cx="723207" cy="2937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sp>
          <p:nvSpPr>
            <p:cNvPr id="94" name="직사각형 93"/>
            <p:cNvSpPr/>
            <p:nvPr/>
          </p:nvSpPr>
          <p:spPr>
            <a:xfrm>
              <a:off x="7040385" y="6387888"/>
              <a:ext cx="723208" cy="2937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NULL</a:t>
              </a:r>
              <a:endParaRPr lang="ko-KR" altLang="en-US" sz="1400" dirty="0"/>
            </a:p>
          </p:txBody>
        </p:sp>
      </p:grpSp>
      <p:cxnSp>
        <p:nvCxnSpPr>
          <p:cNvPr id="14" name="꺾인 연결선 13"/>
          <p:cNvCxnSpPr>
            <a:stCxn id="92" idx="0"/>
            <a:endCxn id="76" idx="2"/>
          </p:cNvCxnSpPr>
          <p:nvPr/>
        </p:nvCxnSpPr>
        <p:spPr>
          <a:xfrm rot="16200000" flipV="1">
            <a:off x="6578087" y="5236007"/>
            <a:ext cx="361689" cy="562911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982412" y="5271242"/>
            <a:ext cx="982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/>
              <a:t>MakeRight</a:t>
            </a:r>
            <a:endParaRPr lang="ko-KR" altLang="en-US" sz="1000" dirty="0"/>
          </a:p>
        </p:txBody>
      </p:sp>
      <p:sp>
        <p:nvSpPr>
          <p:cNvPr id="98" name="TextBox 97"/>
          <p:cNvSpPr txBox="1"/>
          <p:nvPr/>
        </p:nvSpPr>
        <p:spPr>
          <a:xfrm>
            <a:off x="2680710" y="5260714"/>
            <a:ext cx="7457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/>
              <a:t>MakeLeft</a:t>
            </a:r>
            <a:endParaRPr lang="ko-KR" altLang="en-US" sz="1000" dirty="0"/>
          </a:p>
        </p:txBody>
      </p:sp>
      <p:sp>
        <p:nvSpPr>
          <p:cNvPr id="105" name="직사각형 104"/>
          <p:cNvSpPr/>
          <p:nvPr/>
        </p:nvSpPr>
        <p:spPr>
          <a:xfrm>
            <a:off x="4321199" y="3823102"/>
            <a:ext cx="729557" cy="29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0x02</a:t>
            </a:r>
            <a:endParaRPr lang="ko-KR" altLang="en-US" sz="1400" dirty="0"/>
          </a:p>
        </p:txBody>
      </p:sp>
      <p:sp>
        <p:nvSpPr>
          <p:cNvPr id="106" name="직사각형 105"/>
          <p:cNvSpPr/>
          <p:nvPr/>
        </p:nvSpPr>
        <p:spPr>
          <a:xfrm>
            <a:off x="5050756" y="3820448"/>
            <a:ext cx="723208" cy="2937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0x03</a:t>
            </a:r>
            <a:endParaRPr lang="ko-KR" altLang="en-US" sz="1400" dirty="0"/>
          </a:p>
        </p:txBody>
      </p:sp>
      <p:sp>
        <p:nvSpPr>
          <p:cNvPr id="107" name="직사각형 106"/>
          <p:cNvSpPr/>
          <p:nvPr/>
        </p:nvSpPr>
        <p:spPr>
          <a:xfrm>
            <a:off x="3512419" y="5047864"/>
            <a:ext cx="723207" cy="29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0x04</a:t>
            </a:r>
            <a:endParaRPr lang="ko-KR" altLang="en-US" sz="1400" dirty="0"/>
          </a:p>
        </p:txBody>
      </p:sp>
      <p:sp>
        <p:nvSpPr>
          <p:cNvPr id="108" name="직사각형 107"/>
          <p:cNvSpPr/>
          <p:nvPr/>
        </p:nvSpPr>
        <p:spPr>
          <a:xfrm>
            <a:off x="6116948" y="5042827"/>
            <a:ext cx="723207" cy="29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0x05</a:t>
            </a:r>
            <a:endParaRPr lang="ko-KR" altLang="en-US" sz="1400" dirty="0"/>
          </a:p>
        </p:txBody>
      </p:sp>
      <p:cxnSp>
        <p:nvCxnSpPr>
          <p:cNvPr id="18" name="직선 화살표 연결선 17"/>
          <p:cNvCxnSpPr>
            <a:stCxn id="99" idx="3"/>
            <a:endCxn id="102" idx="1"/>
          </p:cNvCxnSpPr>
          <p:nvPr/>
        </p:nvCxnSpPr>
        <p:spPr>
          <a:xfrm flipV="1">
            <a:off x="2795523" y="3311901"/>
            <a:ext cx="1530066" cy="3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71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5" grpId="0" animBg="1"/>
      <p:bldP spid="10" grpId="0"/>
      <p:bldP spid="80" grpId="0"/>
      <p:bldP spid="97" grpId="0"/>
      <p:bldP spid="98" grpId="0"/>
      <p:bldP spid="105" grpId="0" animBg="1"/>
      <p:bldP spid="106" grpId="0" animBg="1"/>
      <p:bldP spid="107" grpId="0" animBg="1"/>
      <p:bldP spid="10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전위 순회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2602173" y="1856242"/>
            <a:ext cx="5489973" cy="3848604"/>
            <a:chOff x="2602173" y="2618272"/>
            <a:chExt cx="5489973" cy="3848604"/>
          </a:xfrm>
        </p:grpSpPr>
        <p:grpSp>
          <p:nvGrpSpPr>
            <p:cNvPr id="65" name="그룹 64"/>
            <p:cNvGrpSpPr/>
            <p:nvPr/>
          </p:nvGrpSpPr>
          <p:grpSpPr>
            <a:xfrm>
              <a:off x="2602174" y="2618272"/>
              <a:ext cx="1446415" cy="669805"/>
              <a:chOff x="1363287" y="3720660"/>
              <a:chExt cx="1446415" cy="669805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1363287" y="3720660"/>
                <a:ext cx="1446415" cy="329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Seed</a:t>
                </a:r>
                <a:endParaRPr lang="ko-KR" altLang="en-US" dirty="0"/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1363287" y="4050171"/>
                <a:ext cx="1446415" cy="34029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</a:rPr>
                  <a:t>NULL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2" name="직사각형 71"/>
            <p:cNvSpPr/>
            <p:nvPr/>
          </p:nvSpPr>
          <p:spPr>
            <a:xfrm>
              <a:off x="2602173" y="2947783"/>
              <a:ext cx="1446415" cy="36084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0x01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73" name="그룹 72"/>
            <p:cNvGrpSpPr/>
            <p:nvPr/>
          </p:nvGrpSpPr>
          <p:grpSpPr>
            <a:xfrm>
              <a:off x="5578655" y="2932350"/>
              <a:ext cx="1448375" cy="983372"/>
              <a:chOff x="4325589" y="3130219"/>
              <a:chExt cx="1448375" cy="983372"/>
            </a:xfrm>
          </p:grpSpPr>
          <p:grpSp>
            <p:nvGrpSpPr>
              <p:cNvPr id="74" name="그룹 73"/>
              <p:cNvGrpSpPr/>
              <p:nvPr/>
            </p:nvGrpSpPr>
            <p:grpSpPr>
              <a:xfrm>
                <a:off x="4325589" y="3130219"/>
                <a:ext cx="1448375" cy="983372"/>
                <a:chOff x="3363359" y="3849167"/>
                <a:chExt cx="1448375" cy="983372"/>
              </a:xfrm>
            </p:grpSpPr>
            <p:grpSp>
              <p:nvGrpSpPr>
                <p:cNvPr id="76" name="그룹 75"/>
                <p:cNvGrpSpPr/>
                <p:nvPr/>
              </p:nvGrpSpPr>
              <p:grpSpPr>
                <a:xfrm>
                  <a:off x="3363359" y="3849167"/>
                  <a:ext cx="1448375" cy="689582"/>
                  <a:chOff x="1363287" y="3849167"/>
                  <a:chExt cx="1448375" cy="689582"/>
                </a:xfrm>
              </p:grpSpPr>
              <p:sp>
                <p:nvSpPr>
                  <p:cNvPr id="78" name="직사각형 77"/>
                  <p:cNvSpPr/>
                  <p:nvPr/>
                </p:nvSpPr>
                <p:spPr>
                  <a:xfrm>
                    <a:off x="1363287" y="3849167"/>
                    <a:ext cx="1448375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0x01</a:t>
                    </a:r>
                    <a:endParaRPr lang="ko-KR" altLang="en-US" dirty="0"/>
                  </a:p>
                </p:txBody>
              </p:sp>
              <p:sp>
                <p:nvSpPr>
                  <p:cNvPr id="79" name="직사각형 78"/>
                  <p:cNvSpPr/>
                  <p:nvPr/>
                </p:nvSpPr>
                <p:spPr>
                  <a:xfrm>
                    <a:off x="1363287" y="4212531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A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77" name="직사각형 76"/>
                <p:cNvSpPr/>
                <p:nvPr/>
              </p:nvSpPr>
              <p:spPr>
                <a:xfrm>
                  <a:off x="3363359" y="4538749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75" name="직사각형 74"/>
              <p:cNvSpPr/>
              <p:nvPr/>
            </p:nvSpPr>
            <p:spPr>
              <a:xfrm>
                <a:off x="5048796" y="3819800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grpSp>
          <p:nvGrpSpPr>
            <p:cNvPr id="80" name="그룹 79"/>
            <p:cNvGrpSpPr/>
            <p:nvPr/>
          </p:nvGrpSpPr>
          <p:grpSpPr>
            <a:xfrm>
              <a:off x="4765486" y="4160412"/>
              <a:ext cx="1446415" cy="983372"/>
              <a:chOff x="3512420" y="4358281"/>
              <a:chExt cx="1446415" cy="983372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3512420" y="4358281"/>
                <a:ext cx="1446415" cy="983372"/>
                <a:chOff x="3363359" y="3849167"/>
                <a:chExt cx="1446415" cy="983372"/>
              </a:xfrm>
            </p:grpSpPr>
            <p:grpSp>
              <p:nvGrpSpPr>
                <p:cNvPr id="83" name="그룹 82"/>
                <p:cNvGrpSpPr/>
                <p:nvPr/>
              </p:nvGrpSpPr>
              <p:grpSpPr>
                <a:xfrm>
                  <a:off x="3363359" y="3849167"/>
                  <a:ext cx="1446415" cy="689582"/>
                  <a:chOff x="1363287" y="3849167"/>
                  <a:chExt cx="1446415" cy="689582"/>
                </a:xfrm>
              </p:grpSpPr>
              <p:sp>
                <p:nvSpPr>
                  <p:cNvPr id="85" name="직사각형 84"/>
                  <p:cNvSpPr/>
                  <p:nvPr/>
                </p:nvSpPr>
                <p:spPr>
                  <a:xfrm>
                    <a:off x="1364011" y="3849167"/>
                    <a:ext cx="1445691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0x02</a:t>
                    </a:r>
                    <a:endParaRPr lang="ko-KR" altLang="en-US" dirty="0"/>
                  </a:p>
                </p:txBody>
              </p:sp>
              <p:sp>
                <p:nvSpPr>
                  <p:cNvPr id="86" name="직사각형 85"/>
                  <p:cNvSpPr/>
                  <p:nvPr/>
                </p:nvSpPr>
                <p:spPr>
                  <a:xfrm>
                    <a:off x="1363287" y="4212531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B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84" name="직사각형 83"/>
                <p:cNvSpPr/>
                <p:nvPr/>
              </p:nvSpPr>
              <p:spPr>
                <a:xfrm>
                  <a:off x="3363359" y="4538749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82" name="직사각형 81"/>
              <p:cNvSpPr/>
              <p:nvPr/>
            </p:nvSpPr>
            <p:spPr>
              <a:xfrm>
                <a:off x="4235627" y="5047862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grpSp>
          <p:nvGrpSpPr>
            <p:cNvPr id="87" name="그룹 86"/>
            <p:cNvGrpSpPr/>
            <p:nvPr/>
          </p:nvGrpSpPr>
          <p:grpSpPr>
            <a:xfrm>
              <a:off x="6635184" y="4155377"/>
              <a:ext cx="1456962" cy="983372"/>
              <a:chOff x="5382118" y="4353246"/>
              <a:chExt cx="1456962" cy="983372"/>
            </a:xfrm>
          </p:grpSpPr>
          <p:grpSp>
            <p:nvGrpSpPr>
              <p:cNvPr id="88" name="그룹 87"/>
              <p:cNvGrpSpPr/>
              <p:nvPr/>
            </p:nvGrpSpPr>
            <p:grpSpPr>
              <a:xfrm>
                <a:off x="5382118" y="4353246"/>
                <a:ext cx="1456962" cy="983372"/>
                <a:chOff x="3352813" y="3849167"/>
                <a:chExt cx="1456962" cy="983372"/>
              </a:xfrm>
            </p:grpSpPr>
            <p:grpSp>
              <p:nvGrpSpPr>
                <p:cNvPr id="90" name="그룹 89"/>
                <p:cNvGrpSpPr/>
                <p:nvPr/>
              </p:nvGrpSpPr>
              <p:grpSpPr>
                <a:xfrm>
                  <a:off x="3352813" y="3849167"/>
                  <a:ext cx="1456962" cy="689582"/>
                  <a:chOff x="1352741" y="3849167"/>
                  <a:chExt cx="1456962" cy="689582"/>
                </a:xfrm>
              </p:grpSpPr>
              <p:sp>
                <p:nvSpPr>
                  <p:cNvPr id="92" name="직사각형 91"/>
                  <p:cNvSpPr/>
                  <p:nvPr/>
                </p:nvSpPr>
                <p:spPr>
                  <a:xfrm>
                    <a:off x="1352741" y="3849167"/>
                    <a:ext cx="1456961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0x03</a:t>
                    </a:r>
                    <a:endParaRPr lang="ko-KR" altLang="en-US" dirty="0"/>
                  </a:p>
                </p:txBody>
              </p:sp>
              <p:sp>
                <p:nvSpPr>
                  <p:cNvPr id="93" name="직사각형 92"/>
                  <p:cNvSpPr/>
                  <p:nvPr/>
                </p:nvSpPr>
                <p:spPr>
                  <a:xfrm>
                    <a:off x="1352741" y="4212531"/>
                    <a:ext cx="1456962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C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91" name="직사각형 90"/>
                <p:cNvSpPr/>
                <p:nvPr/>
              </p:nvSpPr>
              <p:spPr>
                <a:xfrm>
                  <a:off x="3352813" y="4538749"/>
                  <a:ext cx="733753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89" name="직사각형 88"/>
              <p:cNvSpPr/>
              <p:nvPr/>
            </p:nvSpPr>
            <p:spPr>
              <a:xfrm>
                <a:off x="6115871" y="5042827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cxnSp>
          <p:nvCxnSpPr>
            <p:cNvPr id="94" name="꺾인 연결선 93"/>
            <p:cNvCxnSpPr>
              <a:stCxn id="85" idx="0"/>
              <a:endCxn id="77" idx="2"/>
            </p:cNvCxnSpPr>
            <p:nvPr/>
          </p:nvCxnSpPr>
          <p:spPr>
            <a:xfrm rot="5400000" flipH="1" flipV="1">
              <a:off x="5592312" y="3812466"/>
              <a:ext cx="244690" cy="451203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92" idx="0"/>
              <a:endCxn id="75" idx="2"/>
            </p:cNvCxnSpPr>
            <p:nvPr/>
          </p:nvCxnSpPr>
          <p:spPr>
            <a:xfrm rot="16200000" flipV="1">
              <a:off x="6893739" y="3685450"/>
              <a:ext cx="239655" cy="700199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그룹 97"/>
            <p:cNvGrpSpPr/>
            <p:nvPr/>
          </p:nvGrpSpPr>
          <p:grpSpPr>
            <a:xfrm>
              <a:off x="3961588" y="5474347"/>
              <a:ext cx="1446415" cy="983372"/>
              <a:chOff x="2708522" y="5672216"/>
              <a:chExt cx="1446415" cy="983372"/>
            </a:xfrm>
          </p:grpSpPr>
          <p:grpSp>
            <p:nvGrpSpPr>
              <p:cNvPr id="105" name="그룹 104"/>
              <p:cNvGrpSpPr/>
              <p:nvPr/>
            </p:nvGrpSpPr>
            <p:grpSpPr>
              <a:xfrm>
                <a:off x="2708522" y="5672216"/>
                <a:ext cx="1446415" cy="983372"/>
                <a:chOff x="3363359" y="3849167"/>
                <a:chExt cx="1446415" cy="983372"/>
              </a:xfrm>
            </p:grpSpPr>
            <p:grpSp>
              <p:nvGrpSpPr>
                <p:cNvPr id="107" name="그룹 106"/>
                <p:cNvGrpSpPr/>
                <p:nvPr/>
              </p:nvGrpSpPr>
              <p:grpSpPr>
                <a:xfrm>
                  <a:off x="3363359" y="3849167"/>
                  <a:ext cx="1446415" cy="689582"/>
                  <a:chOff x="1363287" y="3849167"/>
                  <a:chExt cx="1446415" cy="689582"/>
                </a:xfrm>
              </p:grpSpPr>
              <p:sp>
                <p:nvSpPr>
                  <p:cNvPr id="109" name="직사각형 108"/>
                  <p:cNvSpPr/>
                  <p:nvPr/>
                </p:nvSpPr>
                <p:spPr>
                  <a:xfrm>
                    <a:off x="1363287" y="3849167"/>
                    <a:ext cx="1446415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0x04</a:t>
                    </a:r>
                    <a:endParaRPr lang="ko-KR" altLang="en-US" dirty="0"/>
                  </a:p>
                </p:txBody>
              </p:sp>
              <p:sp>
                <p:nvSpPr>
                  <p:cNvPr id="110" name="직사각형 109"/>
                  <p:cNvSpPr/>
                  <p:nvPr/>
                </p:nvSpPr>
                <p:spPr>
                  <a:xfrm>
                    <a:off x="1363287" y="4212531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D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108" name="직사각형 107"/>
                <p:cNvSpPr/>
                <p:nvPr/>
              </p:nvSpPr>
              <p:spPr>
                <a:xfrm>
                  <a:off x="3363359" y="4538749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106" name="직사각형 105"/>
              <p:cNvSpPr/>
              <p:nvPr/>
            </p:nvSpPr>
            <p:spPr>
              <a:xfrm>
                <a:off x="3431729" y="6361797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cxnSp>
          <p:nvCxnSpPr>
            <p:cNvPr id="111" name="꺾인 연결선 110"/>
            <p:cNvCxnSpPr>
              <a:stCxn id="109" idx="0"/>
              <a:endCxn id="84" idx="2"/>
            </p:cNvCxnSpPr>
            <p:nvPr/>
          </p:nvCxnSpPr>
          <p:spPr>
            <a:xfrm rot="5400000" flipH="1" flipV="1">
              <a:off x="4740662" y="5087919"/>
              <a:ext cx="330563" cy="442294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그룹 111"/>
            <p:cNvGrpSpPr/>
            <p:nvPr/>
          </p:nvGrpSpPr>
          <p:grpSpPr>
            <a:xfrm>
              <a:off x="5639768" y="5483504"/>
              <a:ext cx="1446415" cy="983372"/>
              <a:chOff x="4386702" y="5681373"/>
              <a:chExt cx="1446415" cy="983372"/>
            </a:xfrm>
          </p:grpSpPr>
          <p:grpSp>
            <p:nvGrpSpPr>
              <p:cNvPr id="129" name="그룹 128"/>
              <p:cNvGrpSpPr/>
              <p:nvPr/>
            </p:nvGrpSpPr>
            <p:grpSpPr>
              <a:xfrm>
                <a:off x="4386702" y="5681373"/>
                <a:ext cx="1446415" cy="983372"/>
                <a:chOff x="1432883" y="3832233"/>
                <a:chExt cx="1446415" cy="983372"/>
              </a:xfrm>
            </p:grpSpPr>
            <p:grpSp>
              <p:nvGrpSpPr>
                <p:cNvPr id="133" name="그룹 132"/>
                <p:cNvGrpSpPr/>
                <p:nvPr/>
              </p:nvGrpSpPr>
              <p:grpSpPr>
                <a:xfrm>
                  <a:off x="1432883" y="3832233"/>
                  <a:ext cx="1446415" cy="689582"/>
                  <a:chOff x="-567189" y="3832233"/>
                  <a:chExt cx="1446415" cy="689582"/>
                </a:xfrm>
              </p:grpSpPr>
              <p:sp>
                <p:nvSpPr>
                  <p:cNvPr id="135" name="직사각형 134"/>
                  <p:cNvSpPr/>
                  <p:nvPr/>
                </p:nvSpPr>
                <p:spPr>
                  <a:xfrm>
                    <a:off x="-567189" y="3832233"/>
                    <a:ext cx="1446415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0x05</a:t>
                    </a:r>
                    <a:endParaRPr lang="ko-KR" altLang="en-US" dirty="0"/>
                  </a:p>
                </p:txBody>
              </p:sp>
              <p:sp>
                <p:nvSpPr>
                  <p:cNvPr id="136" name="직사각형 135"/>
                  <p:cNvSpPr/>
                  <p:nvPr/>
                </p:nvSpPr>
                <p:spPr>
                  <a:xfrm>
                    <a:off x="-567189" y="4195597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E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134" name="직사각형 133"/>
                <p:cNvSpPr/>
                <p:nvPr/>
              </p:nvSpPr>
              <p:spPr>
                <a:xfrm>
                  <a:off x="1432883" y="4521815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131" name="직사각형 130"/>
              <p:cNvSpPr/>
              <p:nvPr/>
            </p:nvSpPr>
            <p:spPr>
              <a:xfrm>
                <a:off x="5109909" y="6370954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cxnSp>
          <p:nvCxnSpPr>
            <p:cNvPr id="138" name="꺾인 연결선 137"/>
            <p:cNvCxnSpPr>
              <a:stCxn id="135" idx="0"/>
              <a:endCxn id="82" idx="2"/>
            </p:cNvCxnSpPr>
            <p:nvPr/>
          </p:nvCxnSpPr>
          <p:spPr>
            <a:xfrm rot="16200000" flipV="1">
              <a:off x="5936777" y="5057304"/>
              <a:ext cx="339720" cy="512679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직사각형 141"/>
            <p:cNvSpPr/>
            <p:nvPr/>
          </p:nvSpPr>
          <p:spPr>
            <a:xfrm>
              <a:off x="5574265" y="3625233"/>
              <a:ext cx="729557" cy="293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0x02</a:t>
              </a:r>
              <a:endParaRPr lang="ko-KR" altLang="en-US" sz="1400" dirty="0"/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6303822" y="3622579"/>
              <a:ext cx="723208" cy="2937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0x03</a:t>
              </a:r>
              <a:endParaRPr lang="ko-KR" altLang="en-US" sz="1400" dirty="0"/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4765485" y="4849995"/>
              <a:ext cx="723207" cy="293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0x04</a:t>
              </a:r>
              <a:endParaRPr lang="ko-KR" altLang="en-US" sz="1400" dirty="0"/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5489055" y="4849995"/>
              <a:ext cx="723207" cy="293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0x05</a:t>
              </a:r>
              <a:endParaRPr lang="ko-KR" altLang="en-US" sz="1400" dirty="0"/>
            </a:p>
          </p:txBody>
        </p:sp>
        <p:cxnSp>
          <p:nvCxnSpPr>
            <p:cNvPr id="146" name="직선 화살표 연결선 145"/>
            <p:cNvCxnSpPr>
              <a:stCxn id="71" idx="3"/>
              <a:endCxn id="78" idx="1"/>
            </p:cNvCxnSpPr>
            <p:nvPr/>
          </p:nvCxnSpPr>
          <p:spPr>
            <a:xfrm flipV="1">
              <a:off x="4048589" y="3114032"/>
              <a:ext cx="1530066" cy="389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오른쪽 화살표 7"/>
          <p:cNvSpPr/>
          <p:nvPr/>
        </p:nvSpPr>
        <p:spPr>
          <a:xfrm rot="7895881">
            <a:off x="5494776" y="3104962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오른쪽 화살표 146"/>
          <p:cNvSpPr/>
          <p:nvPr/>
        </p:nvSpPr>
        <p:spPr>
          <a:xfrm rot="8100000">
            <a:off x="4555951" y="4389132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오른쪽 화살표 147"/>
          <p:cNvSpPr/>
          <p:nvPr/>
        </p:nvSpPr>
        <p:spPr>
          <a:xfrm>
            <a:off x="5318359" y="5004184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오른쪽 화살표 150"/>
          <p:cNvSpPr/>
          <p:nvPr/>
        </p:nvSpPr>
        <p:spPr>
          <a:xfrm>
            <a:off x="6202457" y="3692893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오른쪽 화살표 149"/>
          <p:cNvSpPr/>
          <p:nvPr/>
        </p:nvSpPr>
        <p:spPr>
          <a:xfrm rot="13500000">
            <a:off x="5812057" y="4345609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478415" y="5845523"/>
            <a:ext cx="50459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/>
              <a:t>순회순서</a:t>
            </a:r>
            <a:r>
              <a:rPr lang="en-US" altLang="ko-KR" sz="4400" dirty="0"/>
              <a:t>: A,B,D,E,C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70736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147" grpId="0" animBg="1"/>
      <p:bldP spid="148" grpId="0" animBg="1"/>
      <p:bldP spid="151" grpId="0" animBg="1"/>
      <p:bldP spid="150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중위 순회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2602173" y="1873176"/>
            <a:ext cx="5489973" cy="3848604"/>
            <a:chOff x="2602173" y="2618272"/>
            <a:chExt cx="5489973" cy="3848604"/>
          </a:xfrm>
        </p:grpSpPr>
        <p:grpSp>
          <p:nvGrpSpPr>
            <p:cNvPr id="65" name="그룹 64"/>
            <p:cNvGrpSpPr/>
            <p:nvPr/>
          </p:nvGrpSpPr>
          <p:grpSpPr>
            <a:xfrm>
              <a:off x="2602174" y="2618272"/>
              <a:ext cx="1446415" cy="669805"/>
              <a:chOff x="1363287" y="3720660"/>
              <a:chExt cx="1446415" cy="669805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1363287" y="3720660"/>
                <a:ext cx="1446415" cy="329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Seed</a:t>
                </a:r>
                <a:endParaRPr lang="ko-KR" altLang="en-US" dirty="0"/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1363287" y="4050171"/>
                <a:ext cx="1446415" cy="34029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</a:rPr>
                  <a:t>NULL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2" name="직사각형 71"/>
            <p:cNvSpPr/>
            <p:nvPr/>
          </p:nvSpPr>
          <p:spPr>
            <a:xfrm>
              <a:off x="2602173" y="2947783"/>
              <a:ext cx="1446415" cy="36084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0x01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73" name="그룹 72"/>
            <p:cNvGrpSpPr/>
            <p:nvPr/>
          </p:nvGrpSpPr>
          <p:grpSpPr>
            <a:xfrm>
              <a:off x="5578655" y="2932350"/>
              <a:ext cx="1448375" cy="983372"/>
              <a:chOff x="4325589" y="3130219"/>
              <a:chExt cx="1448375" cy="983372"/>
            </a:xfrm>
          </p:grpSpPr>
          <p:grpSp>
            <p:nvGrpSpPr>
              <p:cNvPr id="74" name="그룹 73"/>
              <p:cNvGrpSpPr/>
              <p:nvPr/>
            </p:nvGrpSpPr>
            <p:grpSpPr>
              <a:xfrm>
                <a:off x="4325589" y="3130219"/>
                <a:ext cx="1448375" cy="983372"/>
                <a:chOff x="3363359" y="3849167"/>
                <a:chExt cx="1448375" cy="983372"/>
              </a:xfrm>
            </p:grpSpPr>
            <p:grpSp>
              <p:nvGrpSpPr>
                <p:cNvPr id="76" name="그룹 75"/>
                <p:cNvGrpSpPr/>
                <p:nvPr/>
              </p:nvGrpSpPr>
              <p:grpSpPr>
                <a:xfrm>
                  <a:off x="3363359" y="3849167"/>
                  <a:ext cx="1448375" cy="689582"/>
                  <a:chOff x="1363287" y="3849167"/>
                  <a:chExt cx="1448375" cy="689582"/>
                </a:xfrm>
              </p:grpSpPr>
              <p:sp>
                <p:nvSpPr>
                  <p:cNvPr id="78" name="직사각형 77"/>
                  <p:cNvSpPr/>
                  <p:nvPr/>
                </p:nvSpPr>
                <p:spPr>
                  <a:xfrm>
                    <a:off x="1363287" y="3849167"/>
                    <a:ext cx="1448375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0x01</a:t>
                    </a:r>
                    <a:endParaRPr lang="ko-KR" altLang="en-US" dirty="0"/>
                  </a:p>
                </p:txBody>
              </p:sp>
              <p:sp>
                <p:nvSpPr>
                  <p:cNvPr id="79" name="직사각형 78"/>
                  <p:cNvSpPr/>
                  <p:nvPr/>
                </p:nvSpPr>
                <p:spPr>
                  <a:xfrm>
                    <a:off x="1363287" y="4212531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A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77" name="직사각형 76"/>
                <p:cNvSpPr/>
                <p:nvPr/>
              </p:nvSpPr>
              <p:spPr>
                <a:xfrm>
                  <a:off x="3363359" y="4538749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75" name="직사각형 74"/>
              <p:cNvSpPr/>
              <p:nvPr/>
            </p:nvSpPr>
            <p:spPr>
              <a:xfrm>
                <a:off x="5048796" y="3819800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grpSp>
          <p:nvGrpSpPr>
            <p:cNvPr id="80" name="그룹 79"/>
            <p:cNvGrpSpPr/>
            <p:nvPr/>
          </p:nvGrpSpPr>
          <p:grpSpPr>
            <a:xfrm>
              <a:off x="4765486" y="4160412"/>
              <a:ext cx="1446415" cy="983372"/>
              <a:chOff x="3512420" y="4358281"/>
              <a:chExt cx="1446415" cy="983372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3512420" y="4358281"/>
                <a:ext cx="1446415" cy="983372"/>
                <a:chOff x="3363359" y="3849167"/>
                <a:chExt cx="1446415" cy="983372"/>
              </a:xfrm>
            </p:grpSpPr>
            <p:grpSp>
              <p:nvGrpSpPr>
                <p:cNvPr id="83" name="그룹 82"/>
                <p:cNvGrpSpPr/>
                <p:nvPr/>
              </p:nvGrpSpPr>
              <p:grpSpPr>
                <a:xfrm>
                  <a:off x="3363359" y="3849167"/>
                  <a:ext cx="1446415" cy="689582"/>
                  <a:chOff x="1363287" y="3849167"/>
                  <a:chExt cx="1446415" cy="689582"/>
                </a:xfrm>
              </p:grpSpPr>
              <p:sp>
                <p:nvSpPr>
                  <p:cNvPr id="85" name="직사각형 84"/>
                  <p:cNvSpPr/>
                  <p:nvPr/>
                </p:nvSpPr>
                <p:spPr>
                  <a:xfrm>
                    <a:off x="1364011" y="3849167"/>
                    <a:ext cx="1445691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0x02</a:t>
                    </a:r>
                    <a:endParaRPr lang="ko-KR" altLang="en-US" dirty="0"/>
                  </a:p>
                </p:txBody>
              </p:sp>
              <p:sp>
                <p:nvSpPr>
                  <p:cNvPr id="86" name="직사각형 85"/>
                  <p:cNvSpPr/>
                  <p:nvPr/>
                </p:nvSpPr>
                <p:spPr>
                  <a:xfrm>
                    <a:off x="1363287" y="4212531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B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84" name="직사각형 83"/>
                <p:cNvSpPr/>
                <p:nvPr/>
              </p:nvSpPr>
              <p:spPr>
                <a:xfrm>
                  <a:off x="3363359" y="4538749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82" name="직사각형 81"/>
              <p:cNvSpPr/>
              <p:nvPr/>
            </p:nvSpPr>
            <p:spPr>
              <a:xfrm>
                <a:off x="4235627" y="5047862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grpSp>
          <p:nvGrpSpPr>
            <p:cNvPr id="87" name="그룹 86"/>
            <p:cNvGrpSpPr/>
            <p:nvPr/>
          </p:nvGrpSpPr>
          <p:grpSpPr>
            <a:xfrm>
              <a:off x="6635184" y="4155377"/>
              <a:ext cx="1456962" cy="983372"/>
              <a:chOff x="5382118" y="4353246"/>
              <a:chExt cx="1456962" cy="983372"/>
            </a:xfrm>
          </p:grpSpPr>
          <p:grpSp>
            <p:nvGrpSpPr>
              <p:cNvPr id="88" name="그룹 87"/>
              <p:cNvGrpSpPr/>
              <p:nvPr/>
            </p:nvGrpSpPr>
            <p:grpSpPr>
              <a:xfrm>
                <a:off x="5382118" y="4353246"/>
                <a:ext cx="1456962" cy="983372"/>
                <a:chOff x="3352813" y="3849167"/>
                <a:chExt cx="1456962" cy="983372"/>
              </a:xfrm>
            </p:grpSpPr>
            <p:grpSp>
              <p:nvGrpSpPr>
                <p:cNvPr id="90" name="그룹 89"/>
                <p:cNvGrpSpPr/>
                <p:nvPr/>
              </p:nvGrpSpPr>
              <p:grpSpPr>
                <a:xfrm>
                  <a:off x="3352813" y="3849167"/>
                  <a:ext cx="1456962" cy="689582"/>
                  <a:chOff x="1352741" y="3849167"/>
                  <a:chExt cx="1456962" cy="689582"/>
                </a:xfrm>
              </p:grpSpPr>
              <p:sp>
                <p:nvSpPr>
                  <p:cNvPr id="92" name="직사각형 91"/>
                  <p:cNvSpPr/>
                  <p:nvPr/>
                </p:nvSpPr>
                <p:spPr>
                  <a:xfrm>
                    <a:off x="1352741" y="3849167"/>
                    <a:ext cx="1456961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0x03</a:t>
                    </a:r>
                    <a:endParaRPr lang="ko-KR" altLang="en-US" dirty="0"/>
                  </a:p>
                </p:txBody>
              </p:sp>
              <p:sp>
                <p:nvSpPr>
                  <p:cNvPr id="93" name="직사각형 92"/>
                  <p:cNvSpPr/>
                  <p:nvPr/>
                </p:nvSpPr>
                <p:spPr>
                  <a:xfrm>
                    <a:off x="1352741" y="4212531"/>
                    <a:ext cx="1456962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C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91" name="직사각형 90"/>
                <p:cNvSpPr/>
                <p:nvPr/>
              </p:nvSpPr>
              <p:spPr>
                <a:xfrm>
                  <a:off x="3352813" y="4538749"/>
                  <a:ext cx="733753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89" name="직사각형 88"/>
              <p:cNvSpPr/>
              <p:nvPr/>
            </p:nvSpPr>
            <p:spPr>
              <a:xfrm>
                <a:off x="6115871" y="5042827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cxnSp>
          <p:nvCxnSpPr>
            <p:cNvPr id="94" name="꺾인 연결선 93"/>
            <p:cNvCxnSpPr>
              <a:stCxn id="85" idx="0"/>
              <a:endCxn id="77" idx="2"/>
            </p:cNvCxnSpPr>
            <p:nvPr/>
          </p:nvCxnSpPr>
          <p:spPr>
            <a:xfrm rot="5400000" flipH="1" flipV="1">
              <a:off x="5592312" y="3812466"/>
              <a:ext cx="244690" cy="451203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92" idx="0"/>
              <a:endCxn id="75" idx="2"/>
            </p:cNvCxnSpPr>
            <p:nvPr/>
          </p:nvCxnSpPr>
          <p:spPr>
            <a:xfrm rot="16200000" flipV="1">
              <a:off x="6893739" y="3685450"/>
              <a:ext cx="239655" cy="700199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그룹 97"/>
            <p:cNvGrpSpPr/>
            <p:nvPr/>
          </p:nvGrpSpPr>
          <p:grpSpPr>
            <a:xfrm>
              <a:off x="3961588" y="5474347"/>
              <a:ext cx="1446415" cy="983372"/>
              <a:chOff x="2708522" y="5672216"/>
              <a:chExt cx="1446415" cy="983372"/>
            </a:xfrm>
          </p:grpSpPr>
          <p:grpSp>
            <p:nvGrpSpPr>
              <p:cNvPr id="105" name="그룹 104"/>
              <p:cNvGrpSpPr/>
              <p:nvPr/>
            </p:nvGrpSpPr>
            <p:grpSpPr>
              <a:xfrm>
                <a:off x="2708522" y="5672216"/>
                <a:ext cx="1446415" cy="983372"/>
                <a:chOff x="3363359" y="3849167"/>
                <a:chExt cx="1446415" cy="983372"/>
              </a:xfrm>
            </p:grpSpPr>
            <p:grpSp>
              <p:nvGrpSpPr>
                <p:cNvPr id="107" name="그룹 106"/>
                <p:cNvGrpSpPr/>
                <p:nvPr/>
              </p:nvGrpSpPr>
              <p:grpSpPr>
                <a:xfrm>
                  <a:off x="3363359" y="3849167"/>
                  <a:ext cx="1446415" cy="689582"/>
                  <a:chOff x="1363287" y="3849167"/>
                  <a:chExt cx="1446415" cy="689582"/>
                </a:xfrm>
              </p:grpSpPr>
              <p:sp>
                <p:nvSpPr>
                  <p:cNvPr id="109" name="직사각형 108"/>
                  <p:cNvSpPr/>
                  <p:nvPr/>
                </p:nvSpPr>
                <p:spPr>
                  <a:xfrm>
                    <a:off x="1363287" y="3849167"/>
                    <a:ext cx="1446415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0x04</a:t>
                    </a:r>
                    <a:endParaRPr lang="ko-KR" altLang="en-US" dirty="0"/>
                  </a:p>
                </p:txBody>
              </p:sp>
              <p:sp>
                <p:nvSpPr>
                  <p:cNvPr id="110" name="직사각형 109"/>
                  <p:cNvSpPr/>
                  <p:nvPr/>
                </p:nvSpPr>
                <p:spPr>
                  <a:xfrm>
                    <a:off x="1363287" y="4212531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D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108" name="직사각형 107"/>
                <p:cNvSpPr/>
                <p:nvPr/>
              </p:nvSpPr>
              <p:spPr>
                <a:xfrm>
                  <a:off x="3363359" y="4538749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106" name="직사각형 105"/>
              <p:cNvSpPr/>
              <p:nvPr/>
            </p:nvSpPr>
            <p:spPr>
              <a:xfrm>
                <a:off x="3431729" y="6361797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cxnSp>
          <p:nvCxnSpPr>
            <p:cNvPr id="111" name="꺾인 연결선 110"/>
            <p:cNvCxnSpPr>
              <a:stCxn id="109" idx="0"/>
              <a:endCxn id="84" idx="2"/>
            </p:cNvCxnSpPr>
            <p:nvPr/>
          </p:nvCxnSpPr>
          <p:spPr>
            <a:xfrm rot="5400000" flipH="1" flipV="1">
              <a:off x="4740662" y="5087919"/>
              <a:ext cx="330563" cy="442294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그룹 111"/>
            <p:cNvGrpSpPr/>
            <p:nvPr/>
          </p:nvGrpSpPr>
          <p:grpSpPr>
            <a:xfrm>
              <a:off x="5639768" y="5483504"/>
              <a:ext cx="1446415" cy="983372"/>
              <a:chOff x="4386702" y="5681373"/>
              <a:chExt cx="1446415" cy="983372"/>
            </a:xfrm>
          </p:grpSpPr>
          <p:grpSp>
            <p:nvGrpSpPr>
              <p:cNvPr id="129" name="그룹 128"/>
              <p:cNvGrpSpPr/>
              <p:nvPr/>
            </p:nvGrpSpPr>
            <p:grpSpPr>
              <a:xfrm>
                <a:off x="4386702" y="5681373"/>
                <a:ext cx="1446415" cy="983372"/>
                <a:chOff x="1432883" y="3832233"/>
                <a:chExt cx="1446415" cy="983372"/>
              </a:xfrm>
            </p:grpSpPr>
            <p:grpSp>
              <p:nvGrpSpPr>
                <p:cNvPr id="133" name="그룹 132"/>
                <p:cNvGrpSpPr/>
                <p:nvPr/>
              </p:nvGrpSpPr>
              <p:grpSpPr>
                <a:xfrm>
                  <a:off x="1432883" y="3832233"/>
                  <a:ext cx="1446415" cy="689582"/>
                  <a:chOff x="-567189" y="3832233"/>
                  <a:chExt cx="1446415" cy="689582"/>
                </a:xfrm>
              </p:grpSpPr>
              <p:sp>
                <p:nvSpPr>
                  <p:cNvPr id="135" name="직사각형 134"/>
                  <p:cNvSpPr/>
                  <p:nvPr/>
                </p:nvSpPr>
                <p:spPr>
                  <a:xfrm>
                    <a:off x="-567189" y="3832233"/>
                    <a:ext cx="1446415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0x05</a:t>
                    </a:r>
                    <a:endParaRPr lang="ko-KR" altLang="en-US" dirty="0"/>
                  </a:p>
                </p:txBody>
              </p:sp>
              <p:sp>
                <p:nvSpPr>
                  <p:cNvPr id="136" name="직사각형 135"/>
                  <p:cNvSpPr/>
                  <p:nvPr/>
                </p:nvSpPr>
                <p:spPr>
                  <a:xfrm>
                    <a:off x="-567189" y="4195597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E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134" name="직사각형 133"/>
                <p:cNvSpPr/>
                <p:nvPr/>
              </p:nvSpPr>
              <p:spPr>
                <a:xfrm>
                  <a:off x="1432883" y="4521815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131" name="직사각형 130"/>
              <p:cNvSpPr/>
              <p:nvPr/>
            </p:nvSpPr>
            <p:spPr>
              <a:xfrm>
                <a:off x="5109909" y="6370954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cxnSp>
          <p:nvCxnSpPr>
            <p:cNvPr id="138" name="꺾인 연결선 137"/>
            <p:cNvCxnSpPr>
              <a:stCxn id="135" idx="0"/>
              <a:endCxn id="82" idx="2"/>
            </p:cNvCxnSpPr>
            <p:nvPr/>
          </p:nvCxnSpPr>
          <p:spPr>
            <a:xfrm rot="16200000" flipV="1">
              <a:off x="5936777" y="5057304"/>
              <a:ext cx="339720" cy="512679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직사각형 141"/>
            <p:cNvSpPr/>
            <p:nvPr/>
          </p:nvSpPr>
          <p:spPr>
            <a:xfrm>
              <a:off x="5574265" y="3625233"/>
              <a:ext cx="729557" cy="293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0x02</a:t>
              </a:r>
              <a:endParaRPr lang="ko-KR" altLang="en-US" sz="1400" dirty="0"/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6303822" y="3622579"/>
              <a:ext cx="723208" cy="2937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0x03</a:t>
              </a:r>
              <a:endParaRPr lang="ko-KR" altLang="en-US" sz="1400" dirty="0"/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4765485" y="4849995"/>
              <a:ext cx="723207" cy="293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0x04</a:t>
              </a:r>
              <a:endParaRPr lang="ko-KR" altLang="en-US" sz="1400" dirty="0"/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5489055" y="4849995"/>
              <a:ext cx="723207" cy="293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0x05</a:t>
              </a:r>
              <a:endParaRPr lang="ko-KR" altLang="en-US" sz="1400" dirty="0"/>
            </a:p>
          </p:txBody>
        </p:sp>
        <p:cxnSp>
          <p:nvCxnSpPr>
            <p:cNvPr id="146" name="직선 화살표 연결선 145"/>
            <p:cNvCxnSpPr>
              <a:stCxn id="71" idx="3"/>
              <a:endCxn id="78" idx="1"/>
            </p:cNvCxnSpPr>
            <p:nvPr/>
          </p:nvCxnSpPr>
          <p:spPr>
            <a:xfrm flipV="1">
              <a:off x="4048589" y="3114032"/>
              <a:ext cx="1530066" cy="389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오른쪽 화살표 147"/>
          <p:cNvSpPr/>
          <p:nvPr/>
        </p:nvSpPr>
        <p:spPr>
          <a:xfrm rot="18900000">
            <a:off x="5540362" y="3072885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오른쪽 화살표 95"/>
          <p:cNvSpPr/>
          <p:nvPr/>
        </p:nvSpPr>
        <p:spPr>
          <a:xfrm rot="2700000">
            <a:off x="6735632" y="3109071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오른쪽 화살표 96"/>
          <p:cNvSpPr/>
          <p:nvPr/>
        </p:nvSpPr>
        <p:spPr>
          <a:xfrm rot="18900000">
            <a:off x="4762087" y="4334957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오른쪽 화살표 98"/>
          <p:cNvSpPr/>
          <p:nvPr/>
        </p:nvSpPr>
        <p:spPr>
          <a:xfrm rot="2700000">
            <a:off x="5821032" y="4392469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3478415" y="5845523"/>
            <a:ext cx="50459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/>
              <a:t>순회순서</a:t>
            </a:r>
            <a:r>
              <a:rPr lang="en-US" altLang="ko-KR" sz="4400" dirty="0"/>
              <a:t>: D,B,E,A,C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81294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8" grpId="0" animBg="1"/>
      <p:bldP spid="96" grpId="0" animBg="1"/>
      <p:bldP spid="97" grpId="0" animBg="1"/>
      <p:bldP spid="99" grpId="0" animBg="1"/>
      <p:bldP spid="10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후위 순회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2602173" y="1881643"/>
            <a:ext cx="5489973" cy="3848604"/>
            <a:chOff x="2602173" y="2618272"/>
            <a:chExt cx="5489973" cy="3848604"/>
          </a:xfrm>
        </p:grpSpPr>
        <p:grpSp>
          <p:nvGrpSpPr>
            <p:cNvPr id="65" name="그룹 64"/>
            <p:cNvGrpSpPr/>
            <p:nvPr/>
          </p:nvGrpSpPr>
          <p:grpSpPr>
            <a:xfrm>
              <a:off x="2602174" y="2618272"/>
              <a:ext cx="1446415" cy="669805"/>
              <a:chOff x="1363287" y="3720660"/>
              <a:chExt cx="1446415" cy="669805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1363287" y="3720660"/>
                <a:ext cx="1446415" cy="329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Seed</a:t>
                </a:r>
                <a:endParaRPr lang="ko-KR" altLang="en-US" dirty="0"/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1363287" y="4050171"/>
                <a:ext cx="1446415" cy="34029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</a:rPr>
                  <a:t>NULL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72" name="직사각형 71"/>
            <p:cNvSpPr/>
            <p:nvPr/>
          </p:nvSpPr>
          <p:spPr>
            <a:xfrm>
              <a:off x="2602173" y="2947783"/>
              <a:ext cx="1446415" cy="36084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0x01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73" name="그룹 72"/>
            <p:cNvGrpSpPr/>
            <p:nvPr/>
          </p:nvGrpSpPr>
          <p:grpSpPr>
            <a:xfrm>
              <a:off x="5578655" y="2932350"/>
              <a:ext cx="1448375" cy="983372"/>
              <a:chOff x="4325589" y="3130219"/>
              <a:chExt cx="1448375" cy="983372"/>
            </a:xfrm>
          </p:grpSpPr>
          <p:grpSp>
            <p:nvGrpSpPr>
              <p:cNvPr id="74" name="그룹 73"/>
              <p:cNvGrpSpPr/>
              <p:nvPr/>
            </p:nvGrpSpPr>
            <p:grpSpPr>
              <a:xfrm>
                <a:off x="4325589" y="3130219"/>
                <a:ext cx="1448375" cy="983372"/>
                <a:chOff x="3363359" y="3849167"/>
                <a:chExt cx="1448375" cy="983372"/>
              </a:xfrm>
            </p:grpSpPr>
            <p:grpSp>
              <p:nvGrpSpPr>
                <p:cNvPr id="76" name="그룹 75"/>
                <p:cNvGrpSpPr/>
                <p:nvPr/>
              </p:nvGrpSpPr>
              <p:grpSpPr>
                <a:xfrm>
                  <a:off x="3363359" y="3849167"/>
                  <a:ext cx="1448375" cy="689582"/>
                  <a:chOff x="1363287" y="3849167"/>
                  <a:chExt cx="1448375" cy="689582"/>
                </a:xfrm>
              </p:grpSpPr>
              <p:sp>
                <p:nvSpPr>
                  <p:cNvPr id="78" name="직사각형 77"/>
                  <p:cNvSpPr/>
                  <p:nvPr/>
                </p:nvSpPr>
                <p:spPr>
                  <a:xfrm>
                    <a:off x="1363287" y="3849167"/>
                    <a:ext cx="1448375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0x01</a:t>
                    </a:r>
                    <a:endParaRPr lang="ko-KR" altLang="en-US" dirty="0"/>
                  </a:p>
                </p:txBody>
              </p:sp>
              <p:sp>
                <p:nvSpPr>
                  <p:cNvPr id="79" name="직사각형 78"/>
                  <p:cNvSpPr/>
                  <p:nvPr/>
                </p:nvSpPr>
                <p:spPr>
                  <a:xfrm>
                    <a:off x="1363287" y="4212531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A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77" name="직사각형 76"/>
                <p:cNvSpPr/>
                <p:nvPr/>
              </p:nvSpPr>
              <p:spPr>
                <a:xfrm>
                  <a:off x="3363359" y="4538749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75" name="직사각형 74"/>
              <p:cNvSpPr/>
              <p:nvPr/>
            </p:nvSpPr>
            <p:spPr>
              <a:xfrm>
                <a:off x="5048796" y="3819800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grpSp>
          <p:nvGrpSpPr>
            <p:cNvPr id="80" name="그룹 79"/>
            <p:cNvGrpSpPr/>
            <p:nvPr/>
          </p:nvGrpSpPr>
          <p:grpSpPr>
            <a:xfrm>
              <a:off x="4765486" y="4160412"/>
              <a:ext cx="1446415" cy="983372"/>
              <a:chOff x="3512420" y="4358281"/>
              <a:chExt cx="1446415" cy="983372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3512420" y="4358281"/>
                <a:ext cx="1446415" cy="983372"/>
                <a:chOff x="3363359" y="3849167"/>
                <a:chExt cx="1446415" cy="983372"/>
              </a:xfrm>
            </p:grpSpPr>
            <p:grpSp>
              <p:nvGrpSpPr>
                <p:cNvPr id="83" name="그룹 82"/>
                <p:cNvGrpSpPr/>
                <p:nvPr/>
              </p:nvGrpSpPr>
              <p:grpSpPr>
                <a:xfrm>
                  <a:off x="3363359" y="3849167"/>
                  <a:ext cx="1446415" cy="689582"/>
                  <a:chOff x="1363287" y="3849167"/>
                  <a:chExt cx="1446415" cy="689582"/>
                </a:xfrm>
              </p:grpSpPr>
              <p:sp>
                <p:nvSpPr>
                  <p:cNvPr id="85" name="직사각형 84"/>
                  <p:cNvSpPr/>
                  <p:nvPr/>
                </p:nvSpPr>
                <p:spPr>
                  <a:xfrm>
                    <a:off x="1364011" y="3849167"/>
                    <a:ext cx="1445691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0x02</a:t>
                    </a:r>
                    <a:endParaRPr lang="ko-KR" altLang="en-US" dirty="0"/>
                  </a:p>
                </p:txBody>
              </p:sp>
              <p:sp>
                <p:nvSpPr>
                  <p:cNvPr id="86" name="직사각형 85"/>
                  <p:cNvSpPr/>
                  <p:nvPr/>
                </p:nvSpPr>
                <p:spPr>
                  <a:xfrm>
                    <a:off x="1363287" y="4212531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B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84" name="직사각형 83"/>
                <p:cNvSpPr/>
                <p:nvPr/>
              </p:nvSpPr>
              <p:spPr>
                <a:xfrm>
                  <a:off x="3363359" y="4538749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82" name="직사각형 81"/>
              <p:cNvSpPr/>
              <p:nvPr/>
            </p:nvSpPr>
            <p:spPr>
              <a:xfrm>
                <a:off x="4235627" y="5047862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grpSp>
          <p:nvGrpSpPr>
            <p:cNvPr id="87" name="그룹 86"/>
            <p:cNvGrpSpPr/>
            <p:nvPr/>
          </p:nvGrpSpPr>
          <p:grpSpPr>
            <a:xfrm>
              <a:off x="6635184" y="4155377"/>
              <a:ext cx="1456962" cy="983372"/>
              <a:chOff x="5382118" y="4353246"/>
              <a:chExt cx="1456962" cy="983372"/>
            </a:xfrm>
          </p:grpSpPr>
          <p:grpSp>
            <p:nvGrpSpPr>
              <p:cNvPr id="88" name="그룹 87"/>
              <p:cNvGrpSpPr/>
              <p:nvPr/>
            </p:nvGrpSpPr>
            <p:grpSpPr>
              <a:xfrm>
                <a:off x="5382118" y="4353246"/>
                <a:ext cx="1456962" cy="983372"/>
                <a:chOff x="3352813" y="3849167"/>
                <a:chExt cx="1456962" cy="983372"/>
              </a:xfrm>
            </p:grpSpPr>
            <p:grpSp>
              <p:nvGrpSpPr>
                <p:cNvPr id="90" name="그룹 89"/>
                <p:cNvGrpSpPr/>
                <p:nvPr/>
              </p:nvGrpSpPr>
              <p:grpSpPr>
                <a:xfrm>
                  <a:off x="3352813" y="3849167"/>
                  <a:ext cx="1456962" cy="689582"/>
                  <a:chOff x="1352741" y="3849167"/>
                  <a:chExt cx="1456962" cy="689582"/>
                </a:xfrm>
              </p:grpSpPr>
              <p:sp>
                <p:nvSpPr>
                  <p:cNvPr id="92" name="직사각형 91"/>
                  <p:cNvSpPr/>
                  <p:nvPr/>
                </p:nvSpPr>
                <p:spPr>
                  <a:xfrm>
                    <a:off x="1352741" y="3849167"/>
                    <a:ext cx="1456961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0x03</a:t>
                    </a:r>
                    <a:endParaRPr lang="ko-KR" altLang="en-US" dirty="0"/>
                  </a:p>
                </p:txBody>
              </p:sp>
              <p:sp>
                <p:nvSpPr>
                  <p:cNvPr id="93" name="직사각형 92"/>
                  <p:cNvSpPr/>
                  <p:nvPr/>
                </p:nvSpPr>
                <p:spPr>
                  <a:xfrm>
                    <a:off x="1352741" y="4212531"/>
                    <a:ext cx="1456962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C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91" name="직사각형 90"/>
                <p:cNvSpPr/>
                <p:nvPr/>
              </p:nvSpPr>
              <p:spPr>
                <a:xfrm>
                  <a:off x="3352813" y="4538749"/>
                  <a:ext cx="733753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89" name="직사각형 88"/>
              <p:cNvSpPr/>
              <p:nvPr/>
            </p:nvSpPr>
            <p:spPr>
              <a:xfrm>
                <a:off x="6115871" y="5042827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cxnSp>
          <p:nvCxnSpPr>
            <p:cNvPr id="94" name="꺾인 연결선 93"/>
            <p:cNvCxnSpPr>
              <a:stCxn id="85" idx="0"/>
              <a:endCxn id="77" idx="2"/>
            </p:cNvCxnSpPr>
            <p:nvPr/>
          </p:nvCxnSpPr>
          <p:spPr>
            <a:xfrm rot="5400000" flipH="1" flipV="1">
              <a:off x="5592312" y="3812466"/>
              <a:ext cx="244690" cy="451203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92" idx="0"/>
              <a:endCxn id="75" idx="2"/>
            </p:cNvCxnSpPr>
            <p:nvPr/>
          </p:nvCxnSpPr>
          <p:spPr>
            <a:xfrm rot="16200000" flipV="1">
              <a:off x="6893739" y="3685450"/>
              <a:ext cx="239655" cy="700199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그룹 97"/>
            <p:cNvGrpSpPr/>
            <p:nvPr/>
          </p:nvGrpSpPr>
          <p:grpSpPr>
            <a:xfrm>
              <a:off x="3961588" y="5474347"/>
              <a:ext cx="1446415" cy="983372"/>
              <a:chOff x="2708522" y="5672216"/>
              <a:chExt cx="1446415" cy="983372"/>
            </a:xfrm>
          </p:grpSpPr>
          <p:grpSp>
            <p:nvGrpSpPr>
              <p:cNvPr id="105" name="그룹 104"/>
              <p:cNvGrpSpPr/>
              <p:nvPr/>
            </p:nvGrpSpPr>
            <p:grpSpPr>
              <a:xfrm>
                <a:off x="2708522" y="5672216"/>
                <a:ext cx="1446415" cy="983372"/>
                <a:chOff x="3363359" y="3849167"/>
                <a:chExt cx="1446415" cy="983372"/>
              </a:xfrm>
            </p:grpSpPr>
            <p:grpSp>
              <p:nvGrpSpPr>
                <p:cNvPr id="107" name="그룹 106"/>
                <p:cNvGrpSpPr/>
                <p:nvPr/>
              </p:nvGrpSpPr>
              <p:grpSpPr>
                <a:xfrm>
                  <a:off x="3363359" y="3849167"/>
                  <a:ext cx="1446415" cy="689582"/>
                  <a:chOff x="1363287" y="3849167"/>
                  <a:chExt cx="1446415" cy="689582"/>
                </a:xfrm>
              </p:grpSpPr>
              <p:sp>
                <p:nvSpPr>
                  <p:cNvPr id="109" name="직사각형 108"/>
                  <p:cNvSpPr/>
                  <p:nvPr/>
                </p:nvSpPr>
                <p:spPr>
                  <a:xfrm>
                    <a:off x="1363287" y="3849167"/>
                    <a:ext cx="1446415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0x04</a:t>
                    </a:r>
                    <a:endParaRPr lang="ko-KR" altLang="en-US" dirty="0"/>
                  </a:p>
                </p:txBody>
              </p:sp>
              <p:sp>
                <p:nvSpPr>
                  <p:cNvPr id="110" name="직사각형 109"/>
                  <p:cNvSpPr/>
                  <p:nvPr/>
                </p:nvSpPr>
                <p:spPr>
                  <a:xfrm>
                    <a:off x="1363287" y="4212531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D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108" name="직사각형 107"/>
                <p:cNvSpPr/>
                <p:nvPr/>
              </p:nvSpPr>
              <p:spPr>
                <a:xfrm>
                  <a:off x="3363359" y="4538749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106" name="직사각형 105"/>
              <p:cNvSpPr/>
              <p:nvPr/>
            </p:nvSpPr>
            <p:spPr>
              <a:xfrm>
                <a:off x="3431729" y="6361797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cxnSp>
          <p:nvCxnSpPr>
            <p:cNvPr id="111" name="꺾인 연결선 110"/>
            <p:cNvCxnSpPr>
              <a:stCxn id="109" idx="0"/>
              <a:endCxn id="84" idx="2"/>
            </p:cNvCxnSpPr>
            <p:nvPr/>
          </p:nvCxnSpPr>
          <p:spPr>
            <a:xfrm rot="5400000" flipH="1" flipV="1">
              <a:off x="4740662" y="5087919"/>
              <a:ext cx="330563" cy="442294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그룹 111"/>
            <p:cNvGrpSpPr/>
            <p:nvPr/>
          </p:nvGrpSpPr>
          <p:grpSpPr>
            <a:xfrm>
              <a:off x="5639768" y="5483504"/>
              <a:ext cx="1446415" cy="983372"/>
              <a:chOff x="4386702" y="5681373"/>
              <a:chExt cx="1446415" cy="983372"/>
            </a:xfrm>
          </p:grpSpPr>
          <p:grpSp>
            <p:nvGrpSpPr>
              <p:cNvPr id="129" name="그룹 128"/>
              <p:cNvGrpSpPr/>
              <p:nvPr/>
            </p:nvGrpSpPr>
            <p:grpSpPr>
              <a:xfrm>
                <a:off x="4386702" y="5681373"/>
                <a:ext cx="1446415" cy="983372"/>
                <a:chOff x="1432883" y="3832233"/>
                <a:chExt cx="1446415" cy="983372"/>
              </a:xfrm>
            </p:grpSpPr>
            <p:grpSp>
              <p:nvGrpSpPr>
                <p:cNvPr id="133" name="그룹 132"/>
                <p:cNvGrpSpPr/>
                <p:nvPr/>
              </p:nvGrpSpPr>
              <p:grpSpPr>
                <a:xfrm>
                  <a:off x="1432883" y="3832233"/>
                  <a:ext cx="1446415" cy="689582"/>
                  <a:chOff x="-567189" y="3832233"/>
                  <a:chExt cx="1446415" cy="689582"/>
                </a:xfrm>
              </p:grpSpPr>
              <p:sp>
                <p:nvSpPr>
                  <p:cNvPr id="135" name="직사각형 134"/>
                  <p:cNvSpPr/>
                  <p:nvPr/>
                </p:nvSpPr>
                <p:spPr>
                  <a:xfrm>
                    <a:off x="-567189" y="3832233"/>
                    <a:ext cx="1446415" cy="36336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0x05</a:t>
                    </a:r>
                    <a:endParaRPr lang="ko-KR" altLang="en-US" dirty="0"/>
                  </a:p>
                </p:txBody>
              </p:sp>
              <p:sp>
                <p:nvSpPr>
                  <p:cNvPr id="136" name="직사각형 135"/>
                  <p:cNvSpPr/>
                  <p:nvPr/>
                </p:nvSpPr>
                <p:spPr>
                  <a:xfrm>
                    <a:off x="-567189" y="4195597"/>
                    <a:ext cx="1446415" cy="3262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ysClr val="windowText" lastClr="000000"/>
                        </a:solidFill>
                      </a:rPr>
                      <a:t>E</a:t>
                    </a:r>
                    <a:endParaRPr lang="ko-KR" altLang="en-US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p:grpSp>
            <p:sp>
              <p:nvSpPr>
                <p:cNvPr id="134" name="직사각형 133"/>
                <p:cNvSpPr/>
                <p:nvPr/>
              </p:nvSpPr>
              <p:spPr>
                <a:xfrm>
                  <a:off x="1432883" y="4521815"/>
                  <a:ext cx="723207" cy="2937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/>
                    <a:t>NULL</a:t>
                  </a:r>
                  <a:endParaRPr lang="ko-KR" altLang="en-US" sz="1400" dirty="0"/>
                </a:p>
              </p:txBody>
            </p:sp>
          </p:grpSp>
          <p:sp>
            <p:nvSpPr>
              <p:cNvPr id="131" name="직사각형 130"/>
              <p:cNvSpPr/>
              <p:nvPr/>
            </p:nvSpPr>
            <p:spPr>
              <a:xfrm>
                <a:off x="5109909" y="6370954"/>
                <a:ext cx="723208" cy="2937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/>
                  <a:t>NULL</a:t>
                </a:r>
                <a:endParaRPr lang="ko-KR" altLang="en-US" sz="1400" dirty="0"/>
              </a:p>
            </p:txBody>
          </p:sp>
        </p:grpSp>
        <p:cxnSp>
          <p:nvCxnSpPr>
            <p:cNvPr id="138" name="꺾인 연결선 137"/>
            <p:cNvCxnSpPr>
              <a:stCxn id="135" idx="0"/>
              <a:endCxn id="82" idx="2"/>
            </p:cNvCxnSpPr>
            <p:nvPr/>
          </p:nvCxnSpPr>
          <p:spPr>
            <a:xfrm rot="16200000" flipV="1">
              <a:off x="5936777" y="5057304"/>
              <a:ext cx="339720" cy="512679"/>
            </a:xfrm>
            <a:prstGeom prst="bent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직사각형 141"/>
            <p:cNvSpPr/>
            <p:nvPr/>
          </p:nvSpPr>
          <p:spPr>
            <a:xfrm>
              <a:off x="5574265" y="3625233"/>
              <a:ext cx="729557" cy="293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0x02</a:t>
              </a:r>
              <a:endParaRPr lang="ko-KR" altLang="en-US" sz="1400" dirty="0"/>
            </a:p>
          </p:txBody>
        </p:sp>
        <p:sp>
          <p:nvSpPr>
            <p:cNvPr id="143" name="직사각형 142"/>
            <p:cNvSpPr/>
            <p:nvPr/>
          </p:nvSpPr>
          <p:spPr>
            <a:xfrm>
              <a:off x="6303822" y="3622579"/>
              <a:ext cx="723208" cy="2937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0x03</a:t>
              </a:r>
              <a:endParaRPr lang="ko-KR" altLang="en-US" sz="1400" dirty="0"/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4765485" y="4849995"/>
              <a:ext cx="723207" cy="293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0x04</a:t>
              </a:r>
              <a:endParaRPr lang="ko-KR" altLang="en-US" sz="1400" dirty="0"/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5489055" y="4849995"/>
              <a:ext cx="723207" cy="293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0x05</a:t>
              </a:r>
              <a:endParaRPr lang="ko-KR" altLang="en-US" sz="1400" dirty="0"/>
            </a:p>
          </p:txBody>
        </p:sp>
        <p:cxnSp>
          <p:nvCxnSpPr>
            <p:cNvPr id="146" name="직선 화살표 연결선 145"/>
            <p:cNvCxnSpPr>
              <a:stCxn id="71" idx="3"/>
              <a:endCxn id="78" idx="1"/>
            </p:cNvCxnSpPr>
            <p:nvPr/>
          </p:nvCxnSpPr>
          <p:spPr>
            <a:xfrm flipV="1">
              <a:off x="4048589" y="3114032"/>
              <a:ext cx="1530066" cy="389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오른쪽 화살표 147"/>
          <p:cNvSpPr/>
          <p:nvPr/>
        </p:nvSpPr>
        <p:spPr>
          <a:xfrm>
            <a:off x="5318359" y="5029585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오른쪽 화살표 150"/>
          <p:cNvSpPr/>
          <p:nvPr/>
        </p:nvSpPr>
        <p:spPr>
          <a:xfrm>
            <a:off x="6202457" y="3718294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오른쪽 화살표 149"/>
          <p:cNvSpPr/>
          <p:nvPr/>
        </p:nvSpPr>
        <p:spPr>
          <a:xfrm rot="13500000">
            <a:off x="6771555" y="3101385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오른쪽 화살표 156"/>
          <p:cNvSpPr/>
          <p:nvPr/>
        </p:nvSpPr>
        <p:spPr>
          <a:xfrm rot="13500000">
            <a:off x="5769889" y="4348460"/>
            <a:ext cx="461009" cy="39507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3478415" y="5845523"/>
            <a:ext cx="50459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/>
              <a:t>순회순서</a:t>
            </a:r>
            <a:r>
              <a:rPr lang="en-US" altLang="ko-KR" sz="4400" dirty="0"/>
              <a:t>: D,E,B,C,A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73926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8" grpId="0" animBg="1"/>
      <p:bldP spid="151" grpId="0" animBg="1"/>
      <p:bldP spid="150" grpId="0" animBg="1"/>
      <p:bldP spid="157" grpId="0" animBg="1"/>
      <p:bldP spid="9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/>
              <a:t>종류</a:t>
            </a:r>
          </a:p>
        </p:txBody>
      </p:sp>
      <p:sp>
        <p:nvSpPr>
          <p:cNvPr id="3" name="타원 2"/>
          <p:cNvSpPr/>
          <p:nvPr/>
        </p:nvSpPr>
        <p:spPr>
          <a:xfrm>
            <a:off x="3021941" y="2636216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7" name="타원 96"/>
          <p:cNvSpPr/>
          <p:nvPr/>
        </p:nvSpPr>
        <p:spPr>
          <a:xfrm>
            <a:off x="1766661" y="3627479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9" name="타원 98"/>
          <p:cNvSpPr/>
          <p:nvPr/>
        </p:nvSpPr>
        <p:spPr>
          <a:xfrm>
            <a:off x="4281691" y="1537398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1" name="타원 100"/>
          <p:cNvSpPr/>
          <p:nvPr/>
        </p:nvSpPr>
        <p:spPr>
          <a:xfrm>
            <a:off x="2708565" y="1537398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02" name="타원 101"/>
          <p:cNvSpPr/>
          <p:nvPr/>
        </p:nvSpPr>
        <p:spPr>
          <a:xfrm>
            <a:off x="3500472" y="1537398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3" name="타원 102"/>
          <p:cNvSpPr/>
          <p:nvPr/>
        </p:nvSpPr>
        <p:spPr>
          <a:xfrm>
            <a:off x="5074483" y="1537398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4" name="타원 103"/>
          <p:cNvSpPr/>
          <p:nvPr/>
        </p:nvSpPr>
        <p:spPr>
          <a:xfrm>
            <a:off x="5855709" y="1537398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13" name="타원 112"/>
          <p:cNvSpPr/>
          <p:nvPr/>
        </p:nvSpPr>
        <p:spPr>
          <a:xfrm>
            <a:off x="6635754" y="1537398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14" name="타원 113"/>
          <p:cNvSpPr/>
          <p:nvPr/>
        </p:nvSpPr>
        <p:spPr>
          <a:xfrm>
            <a:off x="7445123" y="1537398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15" name="타원 114"/>
          <p:cNvSpPr/>
          <p:nvPr/>
        </p:nvSpPr>
        <p:spPr>
          <a:xfrm>
            <a:off x="4259089" y="3629652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7" name="타원 116"/>
          <p:cNvSpPr/>
          <p:nvPr/>
        </p:nvSpPr>
        <p:spPr>
          <a:xfrm>
            <a:off x="5017182" y="4639967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18" name="타원 117"/>
          <p:cNvSpPr/>
          <p:nvPr/>
        </p:nvSpPr>
        <p:spPr>
          <a:xfrm>
            <a:off x="1179698" y="4639967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9" name="타원 118"/>
          <p:cNvSpPr/>
          <p:nvPr/>
        </p:nvSpPr>
        <p:spPr>
          <a:xfrm>
            <a:off x="2245435" y="4639967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20" name="타원 119"/>
          <p:cNvSpPr/>
          <p:nvPr/>
        </p:nvSpPr>
        <p:spPr>
          <a:xfrm>
            <a:off x="401111" y="5660423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21" name="타원 120"/>
          <p:cNvSpPr/>
          <p:nvPr/>
        </p:nvSpPr>
        <p:spPr>
          <a:xfrm>
            <a:off x="8212067" y="1537398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22" name="타원 121"/>
          <p:cNvSpPr/>
          <p:nvPr/>
        </p:nvSpPr>
        <p:spPr>
          <a:xfrm>
            <a:off x="3495845" y="4639967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24" name="타원 123"/>
          <p:cNvSpPr/>
          <p:nvPr/>
        </p:nvSpPr>
        <p:spPr>
          <a:xfrm>
            <a:off x="8642917" y="2636216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25" name="타원 124"/>
          <p:cNvSpPr/>
          <p:nvPr/>
        </p:nvSpPr>
        <p:spPr>
          <a:xfrm>
            <a:off x="6752841" y="4523853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6" name="타원 125"/>
          <p:cNvSpPr/>
          <p:nvPr/>
        </p:nvSpPr>
        <p:spPr>
          <a:xfrm>
            <a:off x="7566209" y="3573167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7" name="타원 126"/>
          <p:cNvSpPr/>
          <p:nvPr/>
        </p:nvSpPr>
        <p:spPr>
          <a:xfrm>
            <a:off x="8297104" y="4523853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30" name="타원 129"/>
          <p:cNvSpPr/>
          <p:nvPr/>
        </p:nvSpPr>
        <p:spPr>
          <a:xfrm>
            <a:off x="9707162" y="3573434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32" name="타원 131"/>
          <p:cNvSpPr/>
          <p:nvPr/>
        </p:nvSpPr>
        <p:spPr>
          <a:xfrm>
            <a:off x="10476435" y="4523853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37" name="타원 136"/>
          <p:cNvSpPr/>
          <p:nvPr/>
        </p:nvSpPr>
        <p:spPr>
          <a:xfrm>
            <a:off x="11301554" y="5457223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cxnSp>
        <p:nvCxnSpPr>
          <p:cNvPr id="8" name="직선 화살표 연결선 7"/>
          <p:cNvCxnSpPr>
            <a:stCxn id="3" idx="3"/>
            <a:endCxn id="97" idx="7"/>
          </p:cNvCxnSpPr>
          <p:nvPr/>
        </p:nvCxnSpPr>
        <p:spPr>
          <a:xfrm flipH="1">
            <a:off x="2373708" y="3243263"/>
            <a:ext cx="752386" cy="488369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97" idx="3"/>
            <a:endCxn id="118" idx="0"/>
          </p:cNvCxnSpPr>
          <p:nvPr/>
        </p:nvCxnSpPr>
        <p:spPr>
          <a:xfrm flipH="1">
            <a:off x="1535298" y="4234526"/>
            <a:ext cx="335516" cy="405441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118" idx="3"/>
            <a:endCxn id="120" idx="7"/>
          </p:cNvCxnSpPr>
          <p:nvPr/>
        </p:nvCxnSpPr>
        <p:spPr>
          <a:xfrm flipH="1">
            <a:off x="1008158" y="5247014"/>
            <a:ext cx="275693" cy="517562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97" idx="5"/>
            <a:endCxn id="119" idx="0"/>
          </p:cNvCxnSpPr>
          <p:nvPr/>
        </p:nvCxnSpPr>
        <p:spPr>
          <a:xfrm>
            <a:off x="2373708" y="4234526"/>
            <a:ext cx="227327" cy="405441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3" idx="5"/>
            <a:endCxn id="115" idx="1"/>
          </p:cNvCxnSpPr>
          <p:nvPr/>
        </p:nvCxnSpPr>
        <p:spPr>
          <a:xfrm>
            <a:off x="3628988" y="3243263"/>
            <a:ext cx="734254" cy="490542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15" idx="5"/>
            <a:endCxn id="117" idx="1"/>
          </p:cNvCxnSpPr>
          <p:nvPr/>
        </p:nvCxnSpPr>
        <p:spPr>
          <a:xfrm>
            <a:off x="4866136" y="4236699"/>
            <a:ext cx="255199" cy="507421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115" idx="3"/>
            <a:endCxn id="122" idx="7"/>
          </p:cNvCxnSpPr>
          <p:nvPr/>
        </p:nvCxnSpPr>
        <p:spPr>
          <a:xfrm flipH="1">
            <a:off x="4102892" y="4236699"/>
            <a:ext cx="260350" cy="507421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124" idx="3"/>
            <a:endCxn id="126" idx="7"/>
          </p:cNvCxnSpPr>
          <p:nvPr/>
        </p:nvCxnSpPr>
        <p:spPr>
          <a:xfrm flipH="1">
            <a:off x="8173256" y="3243263"/>
            <a:ext cx="573814" cy="434057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126" idx="3"/>
            <a:endCxn id="125" idx="7"/>
          </p:cNvCxnSpPr>
          <p:nvPr/>
        </p:nvCxnSpPr>
        <p:spPr>
          <a:xfrm flipH="1">
            <a:off x="7359888" y="4180214"/>
            <a:ext cx="310474" cy="447792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>
            <a:stCxn id="126" idx="5"/>
            <a:endCxn id="127" idx="1"/>
          </p:cNvCxnSpPr>
          <p:nvPr/>
        </p:nvCxnSpPr>
        <p:spPr>
          <a:xfrm>
            <a:off x="8173256" y="4180214"/>
            <a:ext cx="228001" cy="447792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stCxn id="124" idx="5"/>
            <a:endCxn id="130" idx="1"/>
          </p:cNvCxnSpPr>
          <p:nvPr/>
        </p:nvCxnSpPr>
        <p:spPr>
          <a:xfrm>
            <a:off x="9249964" y="3243263"/>
            <a:ext cx="561351" cy="43432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130" idx="5"/>
            <a:endCxn id="132" idx="1"/>
          </p:cNvCxnSpPr>
          <p:nvPr/>
        </p:nvCxnSpPr>
        <p:spPr>
          <a:xfrm>
            <a:off x="10314209" y="4180481"/>
            <a:ext cx="266379" cy="447525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132" idx="5"/>
            <a:endCxn id="137" idx="1"/>
          </p:cNvCxnSpPr>
          <p:nvPr/>
        </p:nvCxnSpPr>
        <p:spPr>
          <a:xfrm>
            <a:off x="11083482" y="5130900"/>
            <a:ext cx="322225" cy="430476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401111" y="2250658"/>
            <a:ext cx="2661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 err="1"/>
              <a:t>힙</a:t>
            </a:r>
            <a:r>
              <a:rPr lang="ko-KR" altLang="en-US" dirty="0"/>
              <a:t> 트리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171633" y="2362652"/>
            <a:ext cx="5320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 err="1"/>
              <a:t>레드블랙</a:t>
            </a:r>
            <a:r>
              <a:rPr lang="ko-KR" altLang="en-US" dirty="0"/>
              <a:t> 트리</a:t>
            </a:r>
          </a:p>
        </p:txBody>
      </p:sp>
      <p:sp>
        <p:nvSpPr>
          <p:cNvPr id="67" name="타원 66"/>
          <p:cNvSpPr/>
          <p:nvPr/>
        </p:nvSpPr>
        <p:spPr>
          <a:xfrm>
            <a:off x="9249964" y="4490409"/>
            <a:ext cx="711200" cy="711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10" name="직선 화살표 연결선 9"/>
          <p:cNvCxnSpPr>
            <a:stCxn id="130" idx="3"/>
          </p:cNvCxnSpPr>
          <p:nvPr/>
        </p:nvCxnSpPr>
        <p:spPr>
          <a:xfrm flipH="1">
            <a:off x="9605564" y="4180481"/>
            <a:ext cx="205751" cy="447525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356433" y="2289373"/>
            <a:ext cx="5709473" cy="41917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 err="1">
                <a:solidFill>
                  <a:srgbClr val="FF0000"/>
                </a:solidFill>
              </a:rPr>
              <a:t>힙트리</a:t>
            </a:r>
            <a:r>
              <a:rPr lang="ko-KR" altLang="en-US" sz="5400" dirty="0">
                <a:solidFill>
                  <a:srgbClr val="FF0000"/>
                </a:solidFill>
              </a:rPr>
              <a:t> 만들기</a:t>
            </a:r>
            <a:r>
              <a:rPr lang="en-US" altLang="ko-KR" sz="5400" dirty="0">
                <a:solidFill>
                  <a:srgbClr val="FF0000"/>
                </a:solidFill>
              </a:rPr>
              <a:t>!</a:t>
            </a:r>
            <a:endParaRPr lang="ko-KR" altLang="en-US" sz="5400" dirty="0">
              <a:solidFill>
                <a:srgbClr val="FF0000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6247485" y="2308357"/>
            <a:ext cx="5709473" cy="41917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>
                <a:solidFill>
                  <a:srgbClr val="FF0000"/>
                </a:solidFill>
              </a:rPr>
              <a:t>개념이해하기</a:t>
            </a:r>
            <a:r>
              <a:rPr lang="en-US" altLang="ko-KR" sz="5400" dirty="0">
                <a:solidFill>
                  <a:srgbClr val="FF0000"/>
                </a:solidFill>
              </a:rPr>
              <a:t>!</a:t>
            </a:r>
            <a:endParaRPr lang="ko-KR" altLang="en-US"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9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9" grpId="0" animBg="1"/>
      <p:bldP spid="101" grpId="0" animBg="1"/>
      <p:bldP spid="102" grpId="0" animBg="1"/>
      <p:bldP spid="103" grpId="0" animBg="1"/>
      <p:bldP spid="104" grpId="0" animBg="1"/>
      <p:bldP spid="113" grpId="0" animBg="1"/>
      <p:bldP spid="114" grpId="0" animBg="1"/>
      <p:bldP spid="121" grpId="0" animBg="1"/>
      <p:bldP spid="76" grpId="0" animBg="1"/>
      <p:bldP spid="7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 err="1"/>
              <a:t>힙트리</a:t>
            </a:r>
            <a:r>
              <a:rPr lang="ko-KR" altLang="en-US" dirty="0"/>
              <a:t> 규칙</a:t>
            </a:r>
          </a:p>
        </p:txBody>
      </p:sp>
      <p:sp>
        <p:nvSpPr>
          <p:cNvPr id="69" name="내용 개체 틀 2"/>
          <p:cNvSpPr txBox="1">
            <a:spLocks/>
          </p:cNvSpPr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/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838276" y="1383282"/>
            <a:ext cx="10515600" cy="2682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데이터는 작은 값부터 추가된다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부모는 자식보다 작다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 err="1"/>
              <a:t>자식노드가</a:t>
            </a:r>
            <a:r>
              <a:rPr lang="ko-KR" altLang="en-US" dirty="0"/>
              <a:t> </a:t>
            </a:r>
            <a:r>
              <a:rPr lang="ko-KR" altLang="en-US" dirty="0" err="1"/>
              <a:t>비어있다면</a:t>
            </a:r>
            <a:r>
              <a:rPr lang="en-US" altLang="ko-KR" dirty="0"/>
              <a:t>,</a:t>
            </a:r>
            <a:r>
              <a:rPr lang="ko-KR" altLang="en-US" dirty="0"/>
              <a:t> 왼쪽부터 채운다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 err="1"/>
              <a:t>자식노드</a:t>
            </a:r>
            <a:r>
              <a:rPr lang="ko-KR" altLang="en-US" dirty="0"/>
              <a:t> 중 자식이 비워진 노드부터 채운다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자식이 모두 차 있다면</a:t>
            </a:r>
            <a:r>
              <a:rPr lang="en-US" altLang="ko-KR" dirty="0"/>
              <a:t>,</a:t>
            </a:r>
            <a:r>
              <a:rPr lang="ko-KR" altLang="en-US" dirty="0"/>
              <a:t> 같은 레벨의 노드부터 채운다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685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9" grpId="0" build="p"/>
      <p:bldP spid="7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</a:t>
            </a:r>
            <a:r>
              <a:rPr lang="en-US" altLang="ko-KR" dirty="0"/>
              <a:t>#</a:t>
            </a:r>
            <a:r>
              <a:rPr lang="ko-KR" altLang="en-US" dirty="0" err="1"/>
              <a:t>기초문제</a:t>
            </a:r>
            <a:endParaRPr lang="ko-KR" altLang="en-US" dirty="0"/>
          </a:p>
        </p:txBody>
      </p:sp>
      <p:sp>
        <p:nvSpPr>
          <p:cNvPr id="69" name="내용 개체 틀 2"/>
          <p:cNvSpPr txBox="1">
            <a:spLocks/>
          </p:cNvSpPr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/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838276" y="1383282"/>
            <a:ext cx="10515600" cy="2682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만들어진 </a:t>
            </a:r>
            <a:r>
              <a:rPr lang="ko-KR" altLang="en-US" dirty="0" err="1"/>
              <a:t>힙트리는</a:t>
            </a:r>
            <a:r>
              <a:rPr lang="ko-KR" altLang="en-US" dirty="0"/>
              <a:t> 어떤 종류의 </a:t>
            </a:r>
            <a:r>
              <a:rPr lang="ko-KR" altLang="en-US" dirty="0" err="1"/>
              <a:t>힙트리인가</a:t>
            </a:r>
            <a:r>
              <a:rPr lang="en-US" altLang="ko-KR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데이터를 왜 최소값부터 추가 했을까</a:t>
            </a:r>
            <a:r>
              <a:rPr lang="en-US" altLang="ko-KR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최대값부터 데이터가 들어온다면</a:t>
            </a:r>
            <a:r>
              <a:rPr lang="en-US" altLang="ko-KR" dirty="0"/>
              <a:t>, </a:t>
            </a:r>
            <a:r>
              <a:rPr lang="ko-KR" altLang="en-US" dirty="0"/>
              <a:t>어떤 </a:t>
            </a:r>
            <a:r>
              <a:rPr lang="ko-KR" altLang="en-US" dirty="0" err="1"/>
              <a:t>힙트리를</a:t>
            </a:r>
            <a:r>
              <a:rPr lang="ko-KR" altLang="en-US" dirty="0"/>
              <a:t> 활용하는 것이 좋은가</a:t>
            </a:r>
            <a:r>
              <a:rPr lang="en-US" altLang="ko-KR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들어온 순서와 상관없이 추가 가능한 </a:t>
            </a:r>
            <a:r>
              <a:rPr lang="ko-KR" altLang="en-US" dirty="0" err="1"/>
              <a:t>힙트리도</a:t>
            </a:r>
            <a:r>
              <a:rPr lang="ko-KR" altLang="en-US" dirty="0"/>
              <a:t> 만들어보자</a:t>
            </a:r>
            <a:r>
              <a:rPr lang="en-US" altLang="ko-KR" dirty="0"/>
              <a:t>.</a:t>
            </a:r>
          </a:p>
        </p:txBody>
      </p:sp>
      <p:pic>
        <p:nvPicPr>
          <p:cNvPr id="54" name="그림 53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925" y="4083613"/>
            <a:ext cx="2890916" cy="205462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395925" y="6145532"/>
            <a:ext cx="15750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#</a:t>
            </a:r>
            <a:r>
              <a:rPr lang="ko-KR" altLang="en-US" sz="1000" dirty="0" err="1">
                <a:solidFill>
                  <a:srgbClr val="FF0000"/>
                </a:solidFill>
              </a:rPr>
              <a:t>힙트리</a:t>
            </a:r>
            <a:r>
              <a:rPr lang="ko-KR" altLang="en-US" sz="1000" dirty="0">
                <a:solidFill>
                  <a:srgbClr val="FF0000"/>
                </a:solidFill>
              </a:rPr>
              <a:t> 시뮬레이터</a:t>
            </a:r>
          </a:p>
        </p:txBody>
      </p:sp>
    </p:spTree>
    <p:extLst>
      <p:ext uri="{BB962C8B-B14F-4D97-AF65-F5344CB8AC3E}">
        <p14:creationId xmlns:p14="http://schemas.microsoft.com/office/powerpoint/2010/main" val="132257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9" grpId="0" build="p"/>
      <p:bldP spid="7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이진트리</a:t>
            </a:r>
            <a:r>
              <a:rPr lang="ko-KR" altLang="en-US" dirty="0"/>
              <a:t>  </a:t>
            </a:r>
            <a:r>
              <a:rPr lang="en-US" altLang="ko-KR" dirty="0"/>
              <a:t>#</a:t>
            </a:r>
            <a:r>
              <a:rPr lang="ko-KR" altLang="en-US" dirty="0" err="1"/>
              <a:t>심화문제</a:t>
            </a:r>
            <a:endParaRPr lang="ko-KR" altLang="en-US" dirty="0"/>
          </a:p>
        </p:txBody>
      </p:sp>
      <p:sp>
        <p:nvSpPr>
          <p:cNvPr id="69" name="내용 개체 틀 2"/>
          <p:cNvSpPr txBox="1">
            <a:spLocks/>
          </p:cNvSpPr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/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838276" y="1383282"/>
            <a:ext cx="10515600" cy="4568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이진트리에서 </a:t>
            </a:r>
            <a:r>
              <a:rPr lang="ko-KR" altLang="en-US" dirty="0" err="1"/>
              <a:t>재귀구조를</a:t>
            </a:r>
            <a:r>
              <a:rPr lang="ko-KR" altLang="en-US" dirty="0"/>
              <a:t> 사용하는 이유는 무엇인가</a:t>
            </a:r>
            <a:r>
              <a:rPr lang="en-US" altLang="ko-KR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최소 </a:t>
            </a:r>
            <a:r>
              <a:rPr lang="ko-KR" altLang="en-US" dirty="0" err="1"/>
              <a:t>힙트리를</a:t>
            </a:r>
            <a:r>
              <a:rPr lang="ko-KR" altLang="en-US" dirty="0"/>
              <a:t> 만들어보고</a:t>
            </a:r>
            <a:r>
              <a:rPr lang="en-US" altLang="ko-KR" dirty="0"/>
              <a:t>, </a:t>
            </a:r>
            <a:r>
              <a:rPr lang="ko-KR" altLang="en-US" dirty="0"/>
              <a:t>어떤 특징을 가지는지 정리해보자</a:t>
            </a:r>
            <a:r>
              <a:rPr lang="en-US" altLang="ko-K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이진트리에서 </a:t>
            </a:r>
            <a:r>
              <a:rPr lang="ko-KR" altLang="en-US" dirty="0" err="1"/>
              <a:t>재귀구조를</a:t>
            </a:r>
            <a:r>
              <a:rPr lang="ko-KR" altLang="en-US" dirty="0"/>
              <a:t> 이용하지않고</a:t>
            </a:r>
            <a:r>
              <a:rPr lang="en-US" altLang="ko-KR" dirty="0"/>
              <a:t>, </a:t>
            </a:r>
            <a:r>
              <a:rPr lang="ko-KR" altLang="en-US" dirty="0"/>
              <a:t>순회를 구현하려면 스택이 필요하다 이유는 무엇인가</a:t>
            </a:r>
            <a:r>
              <a:rPr lang="en-US" altLang="ko-KR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레드블랙이진트리는 무엇인가</a:t>
            </a:r>
            <a:r>
              <a:rPr lang="en-US" altLang="ko-KR" dirty="0"/>
              <a:t>? </a:t>
            </a:r>
            <a:r>
              <a:rPr lang="ko-KR" altLang="en-US" dirty="0"/>
              <a:t>어떤 특징을 가지는가</a:t>
            </a:r>
            <a:r>
              <a:rPr lang="en-US" altLang="ko-KR" dirty="0"/>
              <a:t>?</a:t>
            </a:r>
          </a:p>
        </p:txBody>
      </p:sp>
      <p:pic>
        <p:nvPicPr>
          <p:cNvPr id="52" name="Picture 2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622" y="4107354"/>
            <a:ext cx="3120072" cy="1975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TextBox 52"/>
          <p:cNvSpPr txBox="1"/>
          <p:nvPr/>
        </p:nvSpPr>
        <p:spPr>
          <a:xfrm>
            <a:off x="1276312" y="6165710"/>
            <a:ext cx="21989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#</a:t>
            </a:r>
            <a:r>
              <a:rPr lang="ko-KR" altLang="en-US" sz="1000" dirty="0" err="1">
                <a:solidFill>
                  <a:srgbClr val="FF0000"/>
                </a:solidFill>
              </a:rPr>
              <a:t>레드블랙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</a:rPr>
              <a:t>이진트리</a:t>
            </a:r>
            <a:r>
              <a:rPr lang="ko-KR" altLang="en-US" sz="1000" dirty="0">
                <a:solidFill>
                  <a:srgbClr val="FF0000"/>
                </a:solidFill>
              </a:rPr>
              <a:t> 시뮬레이터</a:t>
            </a:r>
          </a:p>
        </p:txBody>
      </p:sp>
    </p:spTree>
    <p:extLst>
      <p:ext uri="{BB962C8B-B14F-4D97-AF65-F5344CB8AC3E}">
        <p14:creationId xmlns:p14="http://schemas.microsoft.com/office/powerpoint/2010/main" val="241370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9" grpId="0" build="p"/>
      <p:bldP spid="7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9" name="그룹 2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/>
                    <a:t>str</a:t>
                  </a:r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/>
                    <a:t>0x04</a:t>
                  </a:r>
                  <a:endParaRPr lang="ko-KR" altLang="en-US" sz="1000" dirty="0"/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0x04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2" name="그룹 3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" name="직사각형 4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char </a:t>
                    </a:r>
                    <a:r>
                      <a:rPr lang="en-US" altLang="ko-KR" dirty="0" err="1"/>
                      <a:t>str</a:t>
                    </a:r>
                    <a:r>
                      <a:rPr lang="en-US" altLang="ko-KR" dirty="0"/>
                      <a:t>[4]</a:t>
                    </a:r>
                    <a:endParaRPr lang="ko-KR" altLang="en-US" dirty="0"/>
                  </a:p>
                </p:txBody>
              </p:sp>
              <p:sp>
                <p:nvSpPr>
                  <p:cNvPr id="47" name="직사각형 4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0x04</a:t>
                    </a:r>
                    <a:endParaRPr lang="ko-KR" altLang="en-US" sz="1000" dirty="0"/>
                  </a:p>
                </p:txBody>
              </p:sp>
              <p:sp>
                <p:nvSpPr>
                  <p:cNvPr id="48" name="직사각형 4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D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7" name="그룹 3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4" name="직사각형 4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0x05</a:t>
                    </a:r>
                    <a:endParaRPr lang="ko-KR" altLang="en-US" sz="1000" dirty="0"/>
                  </a:p>
                </p:txBody>
              </p:sp>
              <p:sp>
                <p:nvSpPr>
                  <p:cNvPr id="45" name="직사각형 4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8" name="그룹 3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2" name="직사각형 4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0x06</a:t>
                    </a:r>
                    <a:endParaRPr lang="ko-KR" altLang="en-US" sz="1000" dirty="0"/>
                  </a:p>
                </p:txBody>
              </p:sp>
              <p:sp>
                <p:nvSpPr>
                  <p:cNvPr id="43" name="직사각형 4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T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9" name="그룹 3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0" name="직사각형 3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00" dirty="0"/>
                      <a:t>0x07</a:t>
                    </a:r>
                    <a:endParaRPr lang="ko-KR" altLang="en-US" sz="1000" dirty="0"/>
                  </a:p>
                </p:txBody>
              </p:sp>
              <p:sp>
                <p:nvSpPr>
                  <p:cNvPr id="41" name="직사각형 4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A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cxnSp>
            <p:nvCxnSpPr>
              <p:cNvPr id="33" name="꺾인 연결선 32"/>
              <p:cNvCxnSpPr>
                <a:stCxn id="51" idx="3"/>
                <a:endCxn id="47" idx="1"/>
              </p:cNvCxnSpPr>
              <p:nvPr/>
            </p:nvCxnSpPr>
            <p:spPr>
              <a:xfrm>
                <a:off x="1859341" y="1046801"/>
                <a:ext cx="996685" cy="428441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꺾인 연결선 33"/>
              <p:cNvCxnSpPr>
                <a:stCxn id="47" idx="2"/>
                <a:endCxn id="42" idx="2"/>
              </p:cNvCxnSpPr>
              <p:nvPr/>
            </p:nvCxnSpPr>
            <p:spPr>
              <a:xfrm rot="16200000" flipH="1">
                <a:off x="5186945" y="88813"/>
                <a:ext cx="12700" cy="3107892"/>
              </a:xfrm>
              <a:prstGeom prst="bentConnector3">
                <a:avLst>
                  <a:gd name="adj1" fmla="val 1800000"/>
                </a:avLst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Swap Data</a:t>
                </a:r>
                <a:endParaRPr lang="ko-KR" altLang="en-US" sz="1000" dirty="0"/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8000" dirty="0"/>
              <a:t>Q&amp;A</a:t>
            </a:r>
            <a:endParaRPr lang="ko-KR" altLang="en-US" sz="8000" dirty="0"/>
          </a:p>
        </p:txBody>
      </p:sp>
      <p:sp>
        <p:nvSpPr>
          <p:cNvPr id="72" name="내용 개체 틀 2"/>
          <p:cNvSpPr txBox="1">
            <a:spLocks/>
          </p:cNvSpPr>
          <p:nvPr/>
        </p:nvSpPr>
        <p:spPr>
          <a:xfrm>
            <a:off x="5815474" y="2335442"/>
            <a:ext cx="6376526" cy="494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dirty="0"/>
          </a:p>
        </p:txBody>
      </p:sp>
      <p:sp>
        <p:nvSpPr>
          <p:cNvPr id="82" name="내용 개체 틀 2"/>
          <p:cNvSpPr>
            <a:spLocks noGrp="1"/>
          </p:cNvSpPr>
          <p:nvPr>
            <p:ph idx="1"/>
          </p:nvPr>
        </p:nvSpPr>
        <p:spPr>
          <a:xfrm>
            <a:off x="838200" y="3047999"/>
            <a:ext cx="10515600" cy="12446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sz="6000" dirty="0"/>
              <a:t>감사합니다</a:t>
            </a:r>
            <a:r>
              <a:rPr lang="en-US" altLang="ko-KR" sz="6000" dirty="0"/>
              <a:t>!</a:t>
            </a:r>
            <a:endParaRPr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12549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2" grpId="0" build="p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50800"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2288</TotalTime>
  <Words>738</Words>
  <Application>Microsoft Office PowerPoint</Application>
  <PresentationFormat>와이드스크린</PresentationFormat>
  <Paragraphs>393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이진트리</vt:lpstr>
      <vt:lpstr>이진트리 #용어</vt:lpstr>
      <vt:lpstr>이진트리 #정의</vt:lpstr>
      <vt:lpstr>이진트리 #학습목표</vt:lpstr>
      <vt:lpstr>이진트리 #생성, 추가</vt:lpstr>
      <vt:lpstr>이진트리 #전위 순회</vt:lpstr>
      <vt:lpstr>이진트리 #중위 순회</vt:lpstr>
      <vt:lpstr>이진트리 #후위 순회</vt:lpstr>
      <vt:lpstr>이진트리 #종류</vt:lpstr>
      <vt:lpstr>이진트리 #힙트리 규칙</vt:lpstr>
      <vt:lpstr>이진트리 #기초문제</vt:lpstr>
      <vt:lpstr>이진트리  #심화문제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</dc:title>
  <dc:creator>khg</dc:creator>
  <cp:lastModifiedBy>김 홍규</cp:lastModifiedBy>
  <cp:revision>159</cp:revision>
  <dcterms:created xsi:type="dcterms:W3CDTF">2017-05-19T03:02:09Z</dcterms:created>
  <dcterms:modified xsi:type="dcterms:W3CDTF">2022-02-16T11:06:00Z</dcterms:modified>
</cp:coreProperties>
</file>