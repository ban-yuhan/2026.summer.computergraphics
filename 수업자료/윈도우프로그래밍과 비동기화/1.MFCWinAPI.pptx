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8" r:id="rId9"/>
    <p:sldId id="274" r:id="rId10"/>
    <p:sldId id="276" r:id="rId11"/>
    <p:sldId id="278" r:id="rId12"/>
    <p:sldId id="270" r:id="rId13"/>
    <p:sldId id="277" r:id="rId14"/>
    <p:sldId id="271" r:id="rId15"/>
    <p:sldId id="273" r:id="rId16"/>
    <p:sldId id="275" r:id="rId17"/>
    <p:sldId id="272" r:id="rId18"/>
    <p:sldId id="265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87B208-0CE7-E84D-C8C8-56C7248680AB}" v="6" dt="2025-06-12T02:57:50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홍규 김" userId="6d16d8e1c579a2a2" providerId="Windows Live" clId="Web-{9D87B208-0CE7-E84D-C8C8-56C7248680AB}"/>
    <pc:docChg chg="modSld">
      <pc:chgData name="홍규 김" userId="6d16d8e1c579a2a2" providerId="Windows Live" clId="Web-{9D87B208-0CE7-E84D-C8C8-56C7248680AB}" dt="2025-06-12T02:57:50.418" v="4" actId="1076"/>
      <pc:docMkLst>
        <pc:docMk/>
      </pc:docMkLst>
      <pc:sldChg chg="addSp modSp">
        <pc:chgData name="홍규 김" userId="6d16d8e1c579a2a2" providerId="Windows Live" clId="Web-{9D87B208-0CE7-E84D-C8C8-56C7248680AB}" dt="2025-06-12T02:57:50.418" v="4" actId="1076"/>
        <pc:sldMkLst>
          <pc:docMk/>
          <pc:sldMk cId="2576573943" sldId="278"/>
        </pc:sldMkLst>
        <pc:picChg chg="add mod">
          <ac:chgData name="홍규 김" userId="6d16d8e1c579a2a2" providerId="Windows Live" clId="Web-{9D87B208-0CE7-E84D-C8C8-56C7248680AB}" dt="2025-06-12T02:57:50.418" v="4" actId="1076"/>
          <ac:picMkLst>
            <pc:docMk/>
            <pc:sldMk cId="2576573943" sldId="278"/>
            <ac:picMk id="3" creationId="{D2D34691-A299-E012-4368-FF5B39DFCC4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2025-06-11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788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2025-06-11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302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2025-06-11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3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2025-06-11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02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2025-06-11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40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2025-06-11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2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2025-06-11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356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2025-06-11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011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2025-06-11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295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2025-06-11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78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2025-06-11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223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50C75-4975-413F-8D88-25CA53818A10}" type="datetimeFigureOut">
              <a:rPr lang="ko-KR" altLang="en-US" smtClean="0"/>
              <a:t>2025-06-11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410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17599" y="1122363"/>
            <a:ext cx="9922934" cy="2387600"/>
          </a:xfrm>
        </p:spPr>
        <p:txBody>
          <a:bodyPr>
            <a:normAutofit/>
          </a:bodyPr>
          <a:lstStyle/>
          <a:p>
            <a:r>
              <a:rPr lang="en-US" altLang="ko-KR" sz="9600"/>
              <a:t>Win API / MFC</a:t>
            </a:r>
            <a:endParaRPr lang="ko-KR" altLang="en-US" sz="960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02987" y="3602038"/>
            <a:ext cx="9144000" cy="1655762"/>
          </a:xfrm>
        </p:spPr>
        <p:txBody>
          <a:bodyPr/>
          <a:lstStyle/>
          <a:p>
            <a:r>
              <a:rPr lang="en-US" altLang="ko-KR"/>
              <a:t>Window Application Programing Interface</a:t>
            </a:r>
          </a:p>
          <a:p>
            <a:r>
              <a:rPr lang="en-US" altLang="ko-KR"/>
              <a:t>Microsoft Foundation Classes</a:t>
            </a:r>
          </a:p>
        </p:txBody>
      </p:sp>
      <p:sp>
        <p:nvSpPr>
          <p:cNvPr id="9" name="오른쪽 화살표 8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TextBox 2"/>
          <p:cNvSpPr txBox="1"/>
          <p:nvPr/>
        </p:nvSpPr>
        <p:spPr>
          <a:xfrm>
            <a:off x="9226550" y="5934670"/>
            <a:ext cx="2965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/>
              <a:t>Ver. 2.0</a:t>
            </a:r>
          </a:p>
          <a:p>
            <a:pPr algn="r"/>
            <a:r>
              <a:rPr lang="en-US" altLang="ko-KR"/>
              <a:t>downkhg@gmail.com</a:t>
            </a:r>
          </a:p>
          <a:p>
            <a:pPr algn="r"/>
            <a:r>
              <a:rPr lang="ko-KR" altLang="en-US"/>
              <a:t>김홍규</a:t>
            </a:r>
          </a:p>
        </p:txBody>
      </p:sp>
    </p:spTree>
    <p:extLst>
      <p:ext uri="{BB962C8B-B14F-4D97-AF65-F5344CB8AC3E}">
        <p14:creationId xmlns:p14="http://schemas.microsoft.com/office/powerpoint/2010/main" val="234276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5547 -0.00278 L 0.11211 -0.0027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윈도우에 사용되는 </a:t>
            </a:r>
            <a:r>
              <a:rPr lang="en-US" altLang="ko-KR"/>
              <a:t>API(Application Programing Interface)</a:t>
            </a:r>
            <a:r>
              <a:rPr lang="ko-KR" altLang="en-US"/>
              <a:t>다</a:t>
            </a:r>
            <a:r>
              <a:rPr lang="en-US" altLang="ko-KR"/>
              <a:t>.</a:t>
            </a:r>
          </a:p>
          <a:p>
            <a:r>
              <a:rPr lang="ko-KR" altLang="en-US"/>
              <a:t>윈도우 운영체제에서 사용되는 앱은 모두이 </a:t>
            </a:r>
            <a:r>
              <a:rPr lang="en-US" altLang="ko-KR"/>
              <a:t>API</a:t>
            </a:r>
            <a:r>
              <a:rPr lang="ko-KR" altLang="en-US"/>
              <a:t>를 통해서 작동한다</a:t>
            </a:r>
            <a:r>
              <a:rPr lang="en-US" altLang="ko-KR"/>
              <a:t>.</a:t>
            </a:r>
          </a:p>
          <a:p>
            <a:r>
              <a:rPr lang="en-US" altLang="ko-KR"/>
              <a:t>C</a:t>
            </a:r>
            <a:r>
              <a:rPr lang="ko-KR" altLang="en-US"/>
              <a:t>로 구성되어있다</a:t>
            </a:r>
            <a:r>
              <a:rPr lang="en-US" altLang="ko-KR"/>
              <a:t>. </a:t>
            </a:r>
            <a:r>
              <a:rPr lang="ko-KR" altLang="en-US"/>
              <a:t>그러므로 </a:t>
            </a:r>
            <a:r>
              <a:rPr lang="en-US" altLang="ko-KR"/>
              <a:t>C++</a:t>
            </a:r>
            <a:r>
              <a:rPr lang="ko-KR" altLang="en-US"/>
              <a:t>에서도 사용이 가능하다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오른쪽 화살표 3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248400" y="5514975"/>
            <a:ext cx="51354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*API: </a:t>
            </a:r>
            <a:r>
              <a:rPr lang="ko-KR" altLang="en-US">
                <a:solidFill>
                  <a:srgbClr val="FF0000"/>
                </a:solidFill>
              </a:rPr>
              <a:t>프로그래밍에서 프로그램의 </a:t>
            </a:r>
            <a:r>
              <a:rPr lang="ko-KR" altLang="en-US" err="1">
                <a:solidFill>
                  <a:srgbClr val="FF0000"/>
                </a:solidFill>
              </a:rPr>
              <a:t>작성위한</a:t>
            </a:r>
            <a:r>
              <a:rPr lang="ko-KR" altLang="en-US">
                <a:solidFill>
                  <a:srgbClr val="FF0000"/>
                </a:solidFill>
              </a:rPr>
              <a:t> 일련의 프로그램의 상호작용을 위한 인터페이스</a:t>
            </a:r>
            <a:endParaRPr lang="en-US" altLang="ko-KR">
              <a:solidFill>
                <a:srgbClr val="FF0000"/>
              </a:solidFill>
            </a:endParaRPr>
          </a:p>
          <a:p>
            <a:r>
              <a:rPr lang="en-US" altLang="ko-KR">
                <a:solidFill>
                  <a:srgbClr val="FF0000"/>
                </a:solidFill>
              </a:rPr>
              <a:t>*</a:t>
            </a:r>
            <a:r>
              <a:rPr lang="ko-KR" altLang="en-US">
                <a:solidFill>
                  <a:srgbClr val="FF0000"/>
                </a:solidFill>
              </a:rPr>
              <a:t>인터페이스</a:t>
            </a:r>
            <a:r>
              <a:rPr lang="en-US" altLang="ko-KR">
                <a:solidFill>
                  <a:srgbClr val="FF0000"/>
                </a:solidFill>
              </a:rPr>
              <a:t>: </a:t>
            </a:r>
            <a:r>
              <a:rPr lang="ko-KR" altLang="en-US">
                <a:solidFill>
                  <a:srgbClr val="FF0000"/>
                </a:solidFill>
              </a:rPr>
              <a:t>상호작용을 위한 매개체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Window API</a:t>
            </a:r>
            <a:r>
              <a:rPr lang="ko-KR" altLang="en-US"/>
              <a:t>의 개요</a:t>
            </a:r>
          </a:p>
        </p:txBody>
      </p:sp>
    </p:spTree>
    <p:extLst>
      <p:ext uri="{BB962C8B-B14F-4D97-AF65-F5344CB8AC3E}">
        <p14:creationId xmlns:p14="http://schemas.microsoft.com/office/powerpoint/2010/main" val="218931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Microsoft Foundation Classes(</a:t>
            </a:r>
            <a:r>
              <a:rPr lang="ko-KR" altLang="en-US"/>
              <a:t>마이크로소프트 기초 클래스</a:t>
            </a:r>
            <a:r>
              <a:rPr lang="en-US" altLang="ko-KR"/>
              <a:t>)</a:t>
            </a:r>
          </a:p>
          <a:p>
            <a:r>
              <a:rPr lang="ko-KR" altLang="en-US"/>
              <a:t>윈도우 운영체제환경에서 작동하는 </a:t>
            </a:r>
            <a:r>
              <a:rPr lang="en-US" altLang="ko-KR"/>
              <a:t>GUI</a:t>
            </a:r>
            <a:r>
              <a:rPr lang="ko-KR" altLang="en-US"/>
              <a:t>프로그램을 </a:t>
            </a:r>
            <a:r>
              <a:rPr lang="en-US" altLang="ko-KR"/>
              <a:t>C++</a:t>
            </a:r>
            <a:r>
              <a:rPr lang="ko-KR" altLang="en-US"/>
              <a:t>을 이용하여 개발을 돕는 라이브러리</a:t>
            </a:r>
            <a:endParaRPr lang="en-US" altLang="ko-KR"/>
          </a:p>
          <a:p>
            <a:r>
              <a:rPr lang="ko-KR" altLang="en-US"/>
              <a:t>원래 </a:t>
            </a:r>
            <a:r>
              <a:rPr lang="en-US" altLang="ko-KR"/>
              <a:t>Win32 API</a:t>
            </a:r>
            <a:r>
              <a:rPr lang="ko-KR" altLang="en-US"/>
              <a:t>를 이용하여 개발해야하지만 이것이 단순 </a:t>
            </a:r>
            <a:r>
              <a:rPr lang="en-US" altLang="ko-KR"/>
              <a:t>C</a:t>
            </a:r>
            <a:r>
              <a:rPr lang="ko-KR" altLang="en-US"/>
              <a:t>언어 함수들의 집합이기 때문에 </a:t>
            </a:r>
            <a:r>
              <a:rPr lang="en-US" altLang="ko-KR"/>
              <a:t>GUI</a:t>
            </a:r>
            <a:r>
              <a:rPr lang="ko-KR" altLang="en-US"/>
              <a:t>를 작성하는 경우 구현하기가 어렵다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en-US" altLang="ko-KR"/>
          </a:p>
          <a:p>
            <a:r>
              <a:rPr lang="ko-KR" altLang="en-US"/>
              <a:t>기존에 </a:t>
            </a:r>
            <a:r>
              <a:rPr lang="en-US" altLang="ko-KR"/>
              <a:t>Win32 API</a:t>
            </a:r>
            <a:r>
              <a:rPr lang="ko-KR" altLang="en-US"/>
              <a:t>에 객체지향개념을 이용하여 도입된</a:t>
            </a:r>
            <a:r>
              <a:rPr lang="en-US" altLang="ko-KR"/>
              <a:t>, MFC</a:t>
            </a:r>
            <a:r>
              <a:rPr lang="ko-KR" altLang="en-US"/>
              <a:t>가 만들어짐</a:t>
            </a:r>
          </a:p>
        </p:txBody>
      </p:sp>
      <p:sp>
        <p:nvSpPr>
          <p:cNvPr id="4" name="오른쪽 화살표 3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MFC</a:t>
            </a:r>
            <a:r>
              <a:rPr lang="ko-KR" altLang="en-US"/>
              <a:t>의 개요</a:t>
            </a:r>
          </a:p>
        </p:txBody>
      </p:sp>
    </p:spTree>
    <p:extLst>
      <p:ext uri="{BB962C8B-B14F-4D97-AF65-F5344CB8AC3E}">
        <p14:creationId xmlns:p14="http://schemas.microsoft.com/office/powerpoint/2010/main" val="277781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윈도우용 </a:t>
            </a:r>
            <a:r>
              <a:rPr lang="en-US" altLang="ko-KR"/>
              <a:t>GUI</a:t>
            </a:r>
            <a:r>
              <a:rPr lang="ko-KR" altLang="en-US"/>
              <a:t>프로그램 개발을 위해 사용한다</a:t>
            </a:r>
            <a:r>
              <a:rPr lang="en-US" altLang="ko-KR"/>
              <a:t>.</a:t>
            </a:r>
          </a:p>
          <a:p>
            <a:r>
              <a:rPr lang="ko-KR" altLang="en-US"/>
              <a:t>이를 위해</a:t>
            </a:r>
            <a:r>
              <a:rPr lang="en-US" altLang="ko-KR"/>
              <a:t>, C</a:t>
            </a:r>
            <a:r>
              <a:rPr lang="ko-KR" altLang="en-US"/>
              <a:t>를 이용한 </a:t>
            </a:r>
            <a:r>
              <a:rPr lang="en-US" altLang="ko-KR" err="1"/>
              <a:t>WinAPI</a:t>
            </a:r>
            <a:r>
              <a:rPr lang="ko-KR" altLang="en-US"/>
              <a:t>를 </a:t>
            </a:r>
            <a:r>
              <a:rPr lang="ko-KR" altLang="en-US" err="1"/>
              <a:t>이용할수도</a:t>
            </a:r>
            <a:r>
              <a:rPr lang="ko-KR" altLang="en-US"/>
              <a:t> 있지만</a:t>
            </a:r>
            <a:r>
              <a:rPr lang="en-US" altLang="ko-KR"/>
              <a:t>, </a:t>
            </a:r>
            <a:r>
              <a:rPr lang="ko-KR" altLang="en-US"/>
              <a:t>생산성이 떨어진다</a:t>
            </a:r>
            <a:r>
              <a:rPr lang="en-US" altLang="ko-KR"/>
              <a:t>.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MFC</a:t>
            </a:r>
            <a:r>
              <a:rPr lang="ko-KR" altLang="en-US"/>
              <a:t>의 사용목적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409" y="3453493"/>
            <a:ext cx="4586514" cy="2579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89266" y="6052848"/>
            <a:ext cx="4604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-MFC</a:t>
            </a:r>
            <a:r>
              <a:rPr lang="ko-KR" altLang="en-US"/>
              <a:t>를 이용한 </a:t>
            </a:r>
            <a:r>
              <a:rPr lang="ko-KR" altLang="en-US" err="1"/>
              <a:t>윈도우앱</a:t>
            </a:r>
            <a:r>
              <a:rPr lang="ko-KR" altLang="en-US"/>
              <a:t> 개발</a:t>
            </a:r>
          </a:p>
        </p:txBody>
      </p:sp>
    </p:spTree>
    <p:extLst>
      <p:ext uri="{BB962C8B-B14F-4D97-AF65-F5344CB8AC3E}">
        <p14:creationId xmlns:p14="http://schemas.microsoft.com/office/powerpoint/2010/main" val="105419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42508"/>
          </a:xfrm>
        </p:spPr>
        <p:txBody>
          <a:bodyPr>
            <a:normAutofit/>
          </a:bodyPr>
          <a:lstStyle/>
          <a:p>
            <a:r>
              <a:rPr lang="en-US" altLang="ko-KR"/>
              <a:t>C/C++</a:t>
            </a:r>
            <a:r>
              <a:rPr lang="ko-KR" altLang="en-US"/>
              <a:t>소스를 바로 사용 할 수 있다</a:t>
            </a:r>
            <a:r>
              <a:rPr lang="en-US" altLang="ko-KR"/>
              <a:t>.</a:t>
            </a:r>
          </a:p>
          <a:p>
            <a:r>
              <a:rPr lang="en-US" altLang="ko-KR"/>
              <a:t>Win API</a:t>
            </a:r>
            <a:r>
              <a:rPr lang="ko-KR" altLang="en-US"/>
              <a:t>에 보다 생산성이 높다</a:t>
            </a:r>
            <a:r>
              <a:rPr lang="en-US" altLang="ko-KR"/>
              <a:t>.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838200" y="4619625"/>
            <a:ext cx="10515600" cy="14425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Win API</a:t>
            </a:r>
            <a:r>
              <a:rPr lang="ko-KR" altLang="en-US"/>
              <a:t>보다 무겁다</a:t>
            </a:r>
            <a:r>
              <a:rPr lang="en-US" altLang="ko-KR"/>
              <a:t>.</a:t>
            </a:r>
          </a:p>
          <a:p>
            <a:r>
              <a:rPr lang="en-US" altLang="ko-KR"/>
              <a:t>GUI</a:t>
            </a:r>
            <a:r>
              <a:rPr lang="ko-KR" altLang="en-US"/>
              <a:t>를 위하여 제공되는 기능이 </a:t>
            </a:r>
            <a:r>
              <a:rPr lang="en-US" altLang="ko-KR"/>
              <a:t>Wrapper</a:t>
            </a:r>
            <a:r>
              <a:rPr lang="ko-KR" altLang="en-US"/>
              <a:t>수준이다</a:t>
            </a:r>
            <a:r>
              <a:rPr lang="en-US" altLang="ko-KR"/>
              <a:t>.</a:t>
            </a:r>
          </a:p>
          <a:p>
            <a:r>
              <a:rPr lang="en-US" altLang="ko-KR"/>
              <a:t>Win API</a:t>
            </a:r>
            <a:r>
              <a:rPr lang="ko-KR" altLang="en-US"/>
              <a:t>를 반드시 사용해야만하는 경우도 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9" name="오른쪽 화살표 8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오른쪽 화살표 9"/>
          <p:cNvSpPr/>
          <p:nvPr/>
        </p:nvSpPr>
        <p:spPr>
          <a:xfrm>
            <a:off x="-11126821" y="2936689"/>
            <a:ext cx="11965021" cy="1770434"/>
          </a:xfrm>
          <a:prstGeom prst="rightArrow">
            <a:avLst/>
          </a:prstGeom>
          <a:solidFill>
            <a:srgbClr val="FF0000">
              <a:alpha val="50000"/>
            </a:srgb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MFC</a:t>
            </a:r>
            <a:r>
              <a:rPr lang="ko-KR" altLang="en-US"/>
              <a:t>의 장점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838200" y="3159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MFC</a:t>
            </a:r>
            <a:r>
              <a:rPr lang="ko-KR" altLang="en-US"/>
              <a:t>의 단점</a:t>
            </a:r>
          </a:p>
        </p:txBody>
      </p:sp>
    </p:spTree>
    <p:extLst>
      <p:ext uri="{BB962C8B-B14F-4D97-AF65-F5344CB8AC3E}">
        <p14:creationId xmlns:p14="http://schemas.microsoft.com/office/powerpoint/2010/main" val="105602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4.07407E-6 L 0.86758 4.07407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81788"/>
          </a:xfrm>
        </p:spPr>
        <p:txBody>
          <a:bodyPr/>
          <a:lstStyle/>
          <a:p>
            <a:r>
              <a:rPr lang="ko-KR" altLang="en-US"/>
              <a:t>실상 </a:t>
            </a:r>
            <a:r>
              <a:rPr lang="en-US" altLang="ko-KR"/>
              <a:t>VS 2008</a:t>
            </a:r>
            <a:r>
              <a:rPr lang="ko-KR" altLang="en-US"/>
              <a:t>이후로 변화가 없다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게다가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VS2015</a:t>
            </a:r>
            <a:r>
              <a:rPr lang="ko-KR" altLang="en-US"/>
              <a:t>부터는 기본으로 포함도 되어 있지 않다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윈도우 </a:t>
            </a:r>
            <a:r>
              <a:rPr lang="en-US" altLang="ko-KR"/>
              <a:t>GUI</a:t>
            </a:r>
            <a:r>
              <a:rPr lang="ko-KR" altLang="en-US"/>
              <a:t>를 개발하기위한 다른 방법도 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>
                <a:solidFill>
                  <a:srgbClr val="FF0000"/>
                </a:solidFill>
              </a:rPr>
              <a:t>Ex) QT,WTL,WPF</a:t>
            </a:r>
            <a:r>
              <a:rPr lang="ko-KR" altLang="en-US">
                <a:solidFill>
                  <a:srgbClr val="FF0000"/>
                </a:solidFill>
              </a:rPr>
              <a:t>등</a:t>
            </a:r>
            <a:endParaRPr lang="en-US" altLang="ko-KR">
              <a:solidFill>
                <a:srgbClr val="FF0000"/>
              </a:solidFill>
            </a:endParaRPr>
          </a:p>
          <a:p>
            <a:endParaRPr lang="en-US" altLang="ko-KR"/>
          </a:p>
          <a:p>
            <a:r>
              <a:rPr lang="ko-KR" altLang="en-US" err="1"/>
              <a:t>닷넷이</a:t>
            </a:r>
            <a:r>
              <a:rPr lang="ko-KR" altLang="en-US"/>
              <a:t> 나온 이후로는 </a:t>
            </a:r>
            <a:r>
              <a:rPr lang="en-US" altLang="ko-KR"/>
              <a:t>MS</a:t>
            </a:r>
            <a:r>
              <a:rPr lang="ko-KR" altLang="en-US"/>
              <a:t>에게 버림 받은 것이라는 의견이 지배적이다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rgbClr val="FF0000">
              <a:alpha val="50000"/>
            </a:srgb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MFC</a:t>
            </a:r>
            <a:r>
              <a:rPr lang="ko-KR" altLang="en-US"/>
              <a:t>의 현재</a:t>
            </a:r>
          </a:p>
        </p:txBody>
      </p:sp>
    </p:spTree>
    <p:extLst>
      <p:ext uri="{BB962C8B-B14F-4D97-AF65-F5344CB8AC3E}">
        <p14:creationId xmlns:p14="http://schemas.microsoft.com/office/powerpoint/2010/main" val="339607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GUI</a:t>
            </a:r>
            <a:r>
              <a:rPr lang="ko-KR" altLang="en-US"/>
              <a:t>의 기본개념 및 사용방법을 익히고 학습하는데 차고도 넘칠 정도의 편리한 기능이 제공된다</a:t>
            </a:r>
            <a:r>
              <a:rPr lang="en-US" altLang="ko-KR"/>
              <a:t>.</a:t>
            </a:r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C/C++</a:t>
            </a:r>
            <a:r>
              <a:rPr lang="ko-KR" altLang="en-US"/>
              <a:t>에서 배운 것 들을 그대로 </a:t>
            </a:r>
            <a:r>
              <a:rPr lang="ko-KR" altLang="en-US" err="1"/>
              <a:t>사용가능하다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클래스들로 구성되어 있으므로 </a:t>
            </a:r>
            <a:r>
              <a:rPr lang="en-US" altLang="ko-KR"/>
              <a:t>C++</a:t>
            </a:r>
            <a:r>
              <a:rPr lang="ko-KR" altLang="en-US"/>
              <a:t>에서 배웠던 것을 실질적으로 만들어져 있는 예를 볼 수 있는 기회다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윈도우에서 </a:t>
            </a:r>
            <a:r>
              <a:rPr lang="ko-KR" altLang="en-US" err="1"/>
              <a:t>앱이</a:t>
            </a:r>
            <a:r>
              <a:rPr lang="ko-KR" altLang="en-US"/>
              <a:t> 돌아가는 구조를 </a:t>
            </a:r>
            <a:r>
              <a:rPr lang="ko-KR" altLang="en-US" err="1"/>
              <a:t>파악할수있다</a:t>
            </a:r>
            <a:r>
              <a:rPr lang="en-US" altLang="ko-KR"/>
              <a:t>.</a:t>
            </a:r>
          </a:p>
        </p:txBody>
      </p:sp>
      <p:sp>
        <p:nvSpPr>
          <p:cNvPr id="5" name="오른쪽 화살표 4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MFC</a:t>
            </a:r>
            <a:r>
              <a:rPr lang="ko-KR" altLang="en-US"/>
              <a:t>를 배우는 이유</a:t>
            </a:r>
          </a:p>
        </p:txBody>
      </p:sp>
    </p:spTree>
    <p:extLst>
      <p:ext uri="{BB962C8B-B14F-4D97-AF65-F5344CB8AC3E}">
        <p14:creationId xmlns:p14="http://schemas.microsoft.com/office/powerpoint/2010/main" val="173077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오른쪽 화살표 4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831" y="3031956"/>
            <a:ext cx="4878784" cy="3601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직사각형 26"/>
          <p:cNvSpPr/>
          <p:nvPr/>
        </p:nvSpPr>
        <p:spPr>
          <a:xfrm>
            <a:off x="4884472" y="1330667"/>
            <a:ext cx="5001414" cy="94935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/>
              <a:t>//3. </a:t>
            </a:r>
            <a:r>
              <a:rPr lang="ko-KR" altLang="en-US" sz="1000"/>
              <a:t>버튼생성</a:t>
            </a:r>
            <a:endParaRPr lang="en-US" altLang="ko-KR" sz="1000"/>
          </a:p>
          <a:p>
            <a:r>
              <a:rPr lang="en-US" altLang="ko-KR" sz="1000"/>
              <a:t>case WM_CREATE:</a:t>
            </a:r>
          </a:p>
          <a:p>
            <a:r>
              <a:rPr lang="en-US" altLang="ko-KR" sz="1000" err="1"/>
              <a:t>CreateWindow</a:t>
            </a:r>
            <a:r>
              <a:rPr lang="en-US" altLang="ko-KR" sz="1000"/>
              <a:t>(TEXT("button"), TEXT("Click me"), </a:t>
            </a:r>
          </a:p>
          <a:p>
            <a:r>
              <a:rPr lang="en-US" altLang="ko-KR" sz="1000"/>
              <a:t>		WS_CHILD | WS_VISIBLE | BS_PUSHBUTTON, </a:t>
            </a:r>
          </a:p>
          <a:p>
            <a:r>
              <a:rPr lang="en-US" altLang="ko-KR" sz="1000"/>
              <a:t>		20, 20, 100, 25, </a:t>
            </a:r>
            <a:r>
              <a:rPr lang="en-US" altLang="ko-KR" sz="1000" err="1"/>
              <a:t>hWnd</a:t>
            </a:r>
            <a:r>
              <a:rPr lang="en-US" altLang="ko-KR" sz="1000"/>
              <a:t>, (HMENU)0, </a:t>
            </a:r>
            <a:r>
              <a:rPr lang="en-US" altLang="ko-KR" sz="1000" err="1"/>
              <a:t>hInst</a:t>
            </a:r>
            <a:r>
              <a:rPr lang="en-US" altLang="ko-KR" sz="1000"/>
              <a:t>, NULL);</a:t>
            </a:r>
          </a:p>
          <a:p>
            <a:r>
              <a:rPr lang="en-US" altLang="ko-KR" sz="1000"/>
              <a:t>break; </a:t>
            </a:r>
            <a:endParaRPr lang="ko-KR" altLang="en-US" sz="1000"/>
          </a:p>
        </p:txBody>
      </p:sp>
      <p:sp>
        <p:nvSpPr>
          <p:cNvPr id="28" name="직사각형 27"/>
          <p:cNvSpPr/>
          <p:nvPr/>
        </p:nvSpPr>
        <p:spPr>
          <a:xfrm>
            <a:off x="4884472" y="2367029"/>
            <a:ext cx="5001414" cy="57654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/>
              <a:t>case 0:</a:t>
            </a:r>
          </a:p>
          <a:p>
            <a:r>
              <a:rPr lang="en-US" altLang="ko-KR" sz="1000"/>
              <a:t>//4. </a:t>
            </a:r>
            <a:r>
              <a:rPr lang="ko-KR" altLang="en-US" sz="1000" err="1"/>
              <a:t>메세지박스</a:t>
            </a:r>
            <a:r>
              <a:rPr lang="ko-KR" altLang="en-US" sz="1000"/>
              <a:t> 띄우기</a:t>
            </a:r>
            <a:endParaRPr lang="en-US" altLang="ko-KR" sz="1000"/>
          </a:p>
          <a:p>
            <a:r>
              <a:rPr lang="en-US" altLang="ko-KR" sz="1000" err="1"/>
              <a:t>MessageBox</a:t>
            </a:r>
            <a:r>
              <a:rPr lang="en-US" altLang="ko-KR" sz="1000"/>
              <a:t>(</a:t>
            </a:r>
            <a:r>
              <a:rPr lang="en-US" altLang="ko-KR" sz="1000" err="1"/>
              <a:t>hWnd</a:t>
            </a:r>
            <a:r>
              <a:rPr lang="en-US" altLang="ko-KR" sz="1000"/>
              <a:t>, TEXT("First Button Clicked"), TEXT("Button"), MB_OK);</a:t>
            </a:r>
          </a:p>
          <a:p>
            <a:r>
              <a:rPr lang="en-US" altLang="ko-KR" sz="1000"/>
              <a:t>break;</a:t>
            </a:r>
            <a:endParaRPr lang="ko-KR" altLang="en-US" sz="1000"/>
          </a:p>
        </p:txBody>
      </p:sp>
      <p:sp>
        <p:nvSpPr>
          <p:cNvPr id="17" name="직사각형 16"/>
          <p:cNvSpPr/>
          <p:nvPr/>
        </p:nvSpPr>
        <p:spPr>
          <a:xfrm>
            <a:off x="5639604" y="3663281"/>
            <a:ext cx="2910036" cy="39585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3.</a:t>
            </a:r>
            <a:endParaRPr lang="ko-KR" altLang="en-US" sz="1000"/>
          </a:p>
        </p:txBody>
      </p:sp>
      <p:sp>
        <p:nvSpPr>
          <p:cNvPr id="18" name="직사각형 17"/>
          <p:cNvSpPr/>
          <p:nvPr/>
        </p:nvSpPr>
        <p:spPr>
          <a:xfrm>
            <a:off x="5860204" y="4912961"/>
            <a:ext cx="3840055" cy="39585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4.</a:t>
            </a:r>
            <a:endParaRPr lang="ko-KR" altLang="en-US" sz="1000"/>
          </a:p>
        </p:txBody>
      </p:sp>
      <p:grpSp>
        <p:nvGrpSpPr>
          <p:cNvPr id="3" name="그룹 2"/>
          <p:cNvGrpSpPr/>
          <p:nvPr/>
        </p:nvGrpSpPr>
        <p:grpSpPr>
          <a:xfrm>
            <a:off x="1320534" y="1330667"/>
            <a:ext cx="3400910" cy="3067680"/>
            <a:chOff x="1347439" y="1330667"/>
            <a:chExt cx="3400910" cy="3067680"/>
          </a:xfrm>
        </p:grpSpPr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7439" y="1330667"/>
              <a:ext cx="3400910" cy="30676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" name="직사각형 18"/>
            <p:cNvSpPr/>
            <p:nvPr/>
          </p:nvSpPr>
          <p:spPr>
            <a:xfrm>
              <a:off x="3826731" y="4084320"/>
              <a:ext cx="455709" cy="18288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50000"/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000"/>
                <a:t>1.</a:t>
              </a:r>
              <a:endParaRPr lang="ko-KR" altLang="en-US" sz="1000"/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1107811" y="4398347"/>
            <a:ext cx="4531793" cy="2229374"/>
            <a:chOff x="1107811" y="4398347"/>
            <a:chExt cx="4531793" cy="2229374"/>
          </a:xfrm>
        </p:grpSpPr>
        <p:pic>
          <p:nvPicPr>
            <p:cNvPr id="9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7811" y="4398347"/>
              <a:ext cx="4208944" cy="2229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" name="오른쪽 화살표 19"/>
            <p:cNvSpPr/>
            <p:nvPr/>
          </p:nvSpPr>
          <p:spPr>
            <a:xfrm>
              <a:off x="5104348" y="5649636"/>
              <a:ext cx="535256" cy="453984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00"/>
                <a:t>2.</a:t>
              </a:r>
              <a:endParaRPr lang="ko-KR" altLang="en-US" sz="1000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Win32 </a:t>
            </a:r>
            <a:r>
              <a:rPr lang="ko-KR" altLang="en-US"/>
              <a:t>프로젝트 만들기 </a:t>
            </a:r>
            <a:r>
              <a:rPr lang="en-US" altLang="ko-KR" sz="2000"/>
              <a:t>#</a:t>
            </a:r>
            <a:r>
              <a:rPr lang="ko-KR" altLang="en-US" sz="2000"/>
              <a:t>버튼추가</a:t>
            </a:r>
            <a:r>
              <a:rPr lang="en-US" altLang="ko-KR" sz="2000"/>
              <a:t>/</a:t>
            </a:r>
            <a:r>
              <a:rPr lang="ko-KR" altLang="en-US" sz="2000" err="1"/>
              <a:t>메세지박스띄우기</a:t>
            </a:r>
            <a:endParaRPr lang="ko-KR" altLang="en-US" sz="2000"/>
          </a:p>
        </p:txBody>
      </p:sp>
      <p:sp>
        <p:nvSpPr>
          <p:cNvPr id="24" name="오른쪽 화살표 23"/>
          <p:cNvSpPr/>
          <p:nvPr/>
        </p:nvSpPr>
        <p:spPr>
          <a:xfrm>
            <a:off x="2035648" y="2268344"/>
            <a:ext cx="535256" cy="45398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/>
          </a:p>
        </p:txBody>
      </p:sp>
      <p:grpSp>
        <p:nvGrpSpPr>
          <p:cNvPr id="6" name="그룹 5"/>
          <p:cNvGrpSpPr/>
          <p:nvPr/>
        </p:nvGrpSpPr>
        <p:grpSpPr>
          <a:xfrm>
            <a:off x="423401" y="1885391"/>
            <a:ext cx="1612247" cy="1050898"/>
            <a:chOff x="1052090" y="2566850"/>
            <a:chExt cx="2352675" cy="153352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2090" y="2566850"/>
              <a:ext cx="2352675" cy="1533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" name="직사각형 21"/>
            <p:cNvSpPr/>
            <p:nvPr/>
          </p:nvSpPr>
          <p:spPr>
            <a:xfrm>
              <a:off x="1107811" y="3299091"/>
              <a:ext cx="2216414" cy="315647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50000"/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000"/>
                <a:t>1.</a:t>
              </a:r>
              <a:endParaRPr lang="ko-KR" altLang="en-US" sz="1000"/>
            </a:p>
          </p:txBody>
        </p:sp>
      </p:grpSp>
    </p:spTree>
    <p:extLst>
      <p:ext uri="{BB962C8B-B14F-4D97-AF65-F5344CB8AC3E}">
        <p14:creationId xmlns:p14="http://schemas.microsoft.com/office/powerpoint/2010/main" val="2102684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오른쪽 화살표 4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Win32 </a:t>
            </a:r>
            <a:r>
              <a:rPr lang="ko-KR" altLang="en-US"/>
              <a:t>프로젝트 만들기 </a:t>
            </a:r>
            <a:r>
              <a:rPr lang="en-US" altLang="ko-KR" sz="2000"/>
              <a:t>#</a:t>
            </a:r>
            <a:r>
              <a:rPr lang="ko-KR" altLang="en-US" sz="2000"/>
              <a:t>실행결과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4" y="1744005"/>
            <a:ext cx="8639175" cy="4590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772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오른쪽 화살표 4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Win32 </a:t>
            </a:r>
            <a:r>
              <a:rPr lang="ko-KR" altLang="en-US"/>
              <a:t>프로젝트 구조</a:t>
            </a:r>
            <a:endParaRPr lang="ko-KR" altLang="en-US" sz="2000"/>
          </a:p>
        </p:txBody>
      </p:sp>
      <p:sp>
        <p:nvSpPr>
          <p:cNvPr id="30" name="TextBox 29"/>
          <p:cNvSpPr txBox="1"/>
          <p:nvPr/>
        </p:nvSpPr>
        <p:spPr>
          <a:xfrm>
            <a:off x="2494384" y="6323451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</a:rPr>
              <a:t>사용 비중이 높음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38704" y="1913123"/>
            <a:ext cx="6761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1.wWinMain()</a:t>
            </a:r>
            <a:br>
              <a:rPr lang="en-US" altLang="ko-KR" sz="2400" b="1"/>
            </a:br>
            <a:r>
              <a:rPr lang="en-US" altLang="ko-KR" sz="2400"/>
              <a:t>-</a:t>
            </a:r>
            <a:r>
              <a:rPr lang="ko-KR" altLang="en-US" sz="2400"/>
              <a:t>콘솔에 </a:t>
            </a:r>
            <a:r>
              <a:rPr lang="en-US" altLang="ko-KR" sz="2400"/>
              <a:t>Main</a:t>
            </a:r>
            <a:r>
              <a:rPr lang="ko-KR" altLang="en-US" sz="2400"/>
              <a:t>과 같은 역할</a:t>
            </a:r>
            <a:endParaRPr lang="en-US" altLang="ko-KR" sz="240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1" y="1913123"/>
            <a:ext cx="5062453" cy="3773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777241" y="3880988"/>
            <a:ext cx="2964140" cy="55385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1.</a:t>
            </a:r>
            <a:endParaRPr lang="ko-KR" altLang="en-US" sz="1000"/>
          </a:p>
        </p:txBody>
      </p:sp>
      <p:sp>
        <p:nvSpPr>
          <p:cNvPr id="8" name="직사각형 7"/>
          <p:cNvSpPr/>
          <p:nvPr/>
        </p:nvSpPr>
        <p:spPr>
          <a:xfrm>
            <a:off x="723900" y="4606290"/>
            <a:ext cx="2964140" cy="22098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2.</a:t>
            </a:r>
            <a:endParaRPr lang="ko-KR" altLang="en-US" sz="1000"/>
          </a:p>
        </p:txBody>
      </p:sp>
      <p:sp>
        <p:nvSpPr>
          <p:cNvPr id="9" name="직사각형 8"/>
          <p:cNvSpPr/>
          <p:nvPr/>
        </p:nvSpPr>
        <p:spPr>
          <a:xfrm>
            <a:off x="723900" y="4967731"/>
            <a:ext cx="3246120" cy="22098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3.</a:t>
            </a:r>
            <a:endParaRPr lang="ko-KR" altLang="en-US" sz="1000"/>
          </a:p>
        </p:txBody>
      </p:sp>
      <p:sp>
        <p:nvSpPr>
          <p:cNvPr id="10" name="직사각형 9"/>
          <p:cNvSpPr/>
          <p:nvPr/>
        </p:nvSpPr>
        <p:spPr>
          <a:xfrm>
            <a:off x="723900" y="5230112"/>
            <a:ext cx="4564380" cy="22098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4.</a:t>
            </a:r>
            <a:endParaRPr lang="ko-KR" altLang="en-US" sz="1000"/>
          </a:p>
        </p:txBody>
      </p:sp>
      <p:sp>
        <p:nvSpPr>
          <p:cNvPr id="11" name="TextBox 10"/>
          <p:cNvSpPr txBox="1"/>
          <p:nvPr/>
        </p:nvSpPr>
        <p:spPr>
          <a:xfrm>
            <a:off x="5538704" y="2726826"/>
            <a:ext cx="6761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2.MyRegisterClass()</a:t>
            </a:r>
            <a:br>
              <a:rPr lang="en-US" altLang="ko-KR" sz="2400" b="1"/>
            </a:br>
            <a:r>
              <a:rPr lang="en-US" altLang="ko-KR" sz="2400"/>
              <a:t>-</a:t>
            </a:r>
            <a:r>
              <a:rPr lang="ko-KR" altLang="en-US" sz="2400"/>
              <a:t>윈도우 창을 초기화하고 등록하는 함수</a:t>
            </a:r>
            <a:endParaRPr lang="en-US" altLang="ko-KR" sz="2400"/>
          </a:p>
        </p:txBody>
      </p:sp>
      <p:sp>
        <p:nvSpPr>
          <p:cNvPr id="12" name="TextBox 11"/>
          <p:cNvSpPr txBox="1"/>
          <p:nvPr/>
        </p:nvSpPr>
        <p:spPr>
          <a:xfrm>
            <a:off x="5538704" y="3508561"/>
            <a:ext cx="6761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3.InitInstance()</a:t>
            </a:r>
            <a:br>
              <a:rPr lang="en-US" altLang="ko-KR" sz="2400" b="1"/>
            </a:br>
            <a:r>
              <a:rPr lang="en-US" altLang="ko-KR" sz="2400"/>
              <a:t>-</a:t>
            </a:r>
            <a:r>
              <a:rPr lang="ko-KR" altLang="en-US" sz="2400" err="1"/>
              <a:t>윈도우창을</a:t>
            </a:r>
            <a:r>
              <a:rPr lang="ko-KR" altLang="en-US" sz="2400"/>
              <a:t> 등록하기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8704" y="4327234"/>
            <a:ext cx="6761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4.WndProc()</a:t>
            </a:r>
            <a:br>
              <a:rPr lang="en-US" altLang="ko-KR" sz="2400" b="1"/>
            </a:br>
            <a:r>
              <a:rPr lang="en-US" altLang="ko-KR" sz="2400"/>
              <a:t>-</a:t>
            </a:r>
            <a:r>
              <a:rPr lang="ko-KR" altLang="en-US" sz="2400"/>
              <a:t>메시지를 받아 처리하는 </a:t>
            </a:r>
            <a:r>
              <a:rPr lang="ko-KR" altLang="en-US" sz="2400" err="1"/>
              <a:t>콜백함수</a:t>
            </a:r>
            <a:r>
              <a:rPr lang="ko-KR" altLang="en-US" sz="2400"/>
              <a:t> </a:t>
            </a:r>
            <a:endParaRPr lang="en-US" altLang="ko-KR" sz="2400"/>
          </a:p>
        </p:txBody>
      </p:sp>
    </p:spTree>
    <p:extLst>
      <p:ext uri="{BB962C8B-B14F-4D97-AF65-F5344CB8AC3E}">
        <p14:creationId xmlns:p14="http://schemas.microsoft.com/office/powerpoint/2010/main" val="246479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오른쪽 화살표 4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Win32 </a:t>
            </a:r>
            <a:r>
              <a:rPr lang="ko-KR" altLang="en-US"/>
              <a:t>구조 분석하기</a:t>
            </a:r>
            <a:endParaRPr lang="ko-KR" altLang="en-US" sz="2000"/>
          </a:p>
        </p:txBody>
      </p:sp>
      <p:sp>
        <p:nvSpPr>
          <p:cNvPr id="30" name="TextBox 29"/>
          <p:cNvSpPr txBox="1"/>
          <p:nvPr/>
        </p:nvSpPr>
        <p:spPr>
          <a:xfrm>
            <a:off x="2494384" y="6323451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</a:rPr>
              <a:t>사용 비중이 높음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38704" y="1913123"/>
            <a:ext cx="6761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1.wWinMain()</a:t>
            </a:r>
            <a:br>
              <a:rPr lang="en-US" altLang="ko-KR" sz="2400" b="1"/>
            </a:br>
            <a:r>
              <a:rPr lang="en-US" altLang="ko-KR" sz="2400"/>
              <a:t>-</a:t>
            </a:r>
            <a:r>
              <a:rPr lang="ko-KR" altLang="en-US" sz="2400"/>
              <a:t>콘솔에 </a:t>
            </a:r>
            <a:r>
              <a:rPr lang="en-US" altLang="ko-KR" sz="2400"/>
              <a:t>Main</a:t>
            </a:r>
            <a:r>
              <a:rPr lang="ko-KR" altLang="en-US" sz="2400"/>
              <a:t>과 같은 역할</a:t>
            </a:r>
            <a:endParaRPr lang="en-US" altLang="ko-KR" sz="2400"/>
          </a:p>
        </p:txBody>
      </p:sp>
      <p:sp>
        <p:nvSpPr>
          <p:cNvPr id="11" name="TextBox 10"/>
          <p:cNvSpPr txBox="1"/>
          <p:nvPr/>
        </p:nvSpPr>
        <p:spPr>
          <a:xfrm>
            <a:off x="5538704" y="2726826"/>
            <a:ext cx="6761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2.MyRegisterClass()</a:t>
            </a:r>
            <a:br>
              <a:rPr lang="en-US" altLang="ko-KR" sz="2400" b="1"/>
            </a:br>
            <a:r>
              <a:rPr lang="en-US" altLang="ko-KR" sz="2400"/>
              <a:t>-</a:t>
            </a:r>
            <a:r>
              <a:rPr lang="ko-KR" altLang="en-US" sz="2400"/>
              <a:t>윈도우 창을 초기화하고 등록하는 함수</a:t>
            </a:r>
            <a:endParaRPr lang="en-US" altLang="ko-KR" sz="2400"/>
          </a:p>
        </p:txBody>
      </p:sp>
      <p:sp>
        <p:nvSpPr>
          <p:cNvPr id="12" name="TextBox 11"/>
          <p:cNvSpPr txBox="1"/>
          <p:nvPr/>
        </p:nvSpPr>
        <p:spPr>
          <a:xfrm>
            <a:off x="5538704" y="3508561"/>
            <a:ext cx="6761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3.InitInstance()</a:t>
            </a:r>
            <a:br>
              <a:rPr lang="en-US" altLang="ko-KR" sz="2400" b="1"/>
            </a:br>
            <a:r>
              <a:rPr lang="en-US" altLang="ko-KR" sz="2400"/>
              <a:t>-</a:t>
            </a:r>
            <a:r>
              <a:rPr lang="ko-KR" altLang="en-US" sz="2400" err="1"/>
              <a:t>윈도우창을</a:t>
            </a:r>
            <a:r>
              <a:rPr lang="ko-KR" altLang="en-US" sz="2400"/>
              <a:t> 등록하기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8704" y="4327234"/>
            <a:ext cx="6761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4.WndProc()</a:t>
            </a:r>
            <a:br>
              <a:rPr lang="en-US" altLang="ko-KR" sz="2400" b="1"/>
            </a:br>
            <a:r>
              <a:rPr lang="en-US" altLang="ko-KR" sz="2400"/>
              <a:t>-</a:t>
            </a:r>
            <a:r>
              <a:rPr lang="ko-KR" altLang="en-US" sz="2400"/>
              <a:t>메시지를 받아 처리하는 </a:t>
            </a:r>
            <a:r>
              <a:rPr lang="ko-KR" altLang="en-US" sz="2400" err="1"/>
              <a:t>콜백함수</a:t>
            </a:r>
            <a:r>
              <a:rPr lang="ko-KR" altLang="en-US" sz="2400"/>
              <a:t> </a:t>
            </a:r>
            <a:endParaRPr lang="en-US" altLang="ko-KR" sz="2400"/>
          </a:p>
        </p:txBody>
      </p:sp>
      <p:pic>
        <p:nvPicPr>
          <p:cNvPr id="3" name="그림 2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D34691-A299-E012-4368-FF5B39D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72" y="1909823"/>
            <a:ext cx="4350656" cy="393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57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62" grpId="0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오른쪽 화살표 4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MFC </a:t>
            </a:r>
            <a:r>
              <a:rPr lang="ko-KR" altLang="en-US"/>
              <a:t>프로젝트 설치하기</a:t>
            </a:r>
            <a:r>
              <a:rPr lang="en-US" altLang="ko-KR" sz="2000"/>
              <a:t>#MFC</a:t>
            </a:r>
            <a:r>
              <a:rPr lang="ko-KR" altLang="en-US" sz="2000"/>
              <a:t>설치하기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94384" y="6323451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</a:rPr>
              <a:t>사용 비중이 높음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0338" y="5123122"/>
            <a:ext cx="59153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1.</a:t>
            </a:r>
            <a:r>
              <a:rPr lang="ko-KR" altLang="en-US" sz="2000"/>
              <a:t>설치관리자 열기</a:t>
            </a:r>
            <a:r>
              <a:rPr lang="en-US" altLang="ko-KR" sz="2000"/>
              <a:t>.</a:t>
            </a:r>
          </a:p>
          <a:p>
            <a:r>
              <a:rPr lang="en-US" altLang="ko-KR" sz="2000"/>
              <a:t>2.</a:t>
            </a:r>
            <a:r>
              <a:rPr lang="ko-KR" altLang="en-US" sz="2000"/>
              <a:t>개별구성요소 선택</a:t>
            </a:r>
            <a:endParaRPr lang="en-US" altLang="ko-KR" sz="2000"/>
          </a:p>
          <a:p>
            <a:r>
              <a:rPr lang="en-US" altLang="ko-KR" sz="2000"/>
              <a:t>3.Visual C++ MFC </a:t>
            </a:r>
            <a:r>
              <a:rPr lang="ko-KR" altLang="en-US" sz="2000"/>
              <a:t>선택</a:t>
            </a:r>
            <a:endParaRPr lang="en-US" altLang="ko-KR" sz="2000"/>
          </a:p>
          <a:p>
            <a:r>
              <a:rPr lang="en-US" altLang="ko-KR" sz="2000"/>
              <a:t>4.</a:t>
            </a:r>
            <a:r>
              <a:rPr lang="ko-KR" altLang="en-US" sz="2000"/>
              <a:t>수정 및 설치</a:t>
            </a:r>
            <a:endParaRPr lang="en-US" altLang="ko-KR" sz="20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619" y="1670796"/>
            <a:ext cx="6024519" cy="3354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062" y="1800914"/>
            <a:ext cx="4670784" cy="3224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637564" y="4173523"/>
            <a:ext cx="1023457" cy="177566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1.</a:t>
            </a:r>
            <a:endParaRPr lang="ko-KR" altLang="en-US" sz="1000"/>
          </a:p>
        </p:txBody>
      </p:sp>
      <p:sp>
        <p:nvSpPr>
          <p:cNvPr id="26" name="직사각형 25"/>
          <p:cNvSpPr/>
          <p:nvPr/>
        </p:nvSpPr>
        <p:spPr>
          <a:xfrm>
            <a:off x="5479409" y="4208477"/>
            <a:ext cx="1055615" cy="14261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3.</a:t>
            </a:r>
            <a:endParaRPr lang="ko-KR" altLang="en-US" sz="1000"/>
          </a:p>
        </p:txBody>
      </p:sp>
      <p:sp>
        <p:nvSpPr>
          <p:cNvPr id="31" name="직사각형 30"/>
          <p:cNvSpPr/>
          <p:nvPr/>
        </p:nvSpPr>
        <p:spPr>
          <a:xfrm>
            <a:off x="5847127" y="2079072"/>
            <a:ext cx="687897" cy="14261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2.</a:t>
            </a:r>
            <a:endParaRPr lang="ko-KR" altLang="en-US" sz="1000"/>
          </a:p>
        </p:txBody>
      </p:sp>
      <p:sp>
        <p:nvSpPr>
          <p:cNvPr id="33" name="직사각형 32"/>
          <p:cNvSpPr/>
          <p:nvPr/>
        </p:nvSpPr>
        <p:spPr>
          <a:xfrm>
            <a:off x="10815330" y="4713215"/>
            <a:ext cx="417529" cy="14261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4.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64182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오른쪽 화살표 4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MFC </a:t>
            </a:r>
            <a:r>
              <a:rPr lang="ko-KR" altLang="en-US"/>
              <a:t>프로젝트 만들기 </a:t>
            </a:r>
            <a:r>
              <a:rPr lang="en-US" altLang="ko-KR" sz="2000"/>
              <a:t>#MFC</a:t>
            </a:r>
            <a:r>
              <a:rPr lang="ko-KR" altLang="en-US" sz="2000"/>
              <a:t>프로젝트 생성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94384" y="6323451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</a:rPr>
              <a:t>사용 비중이 높음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0338" y="5123122"/>
            <a:ext cx="591538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1.MFC</a:t>
            </a:r>
            <a:r>
              <a:rPr lang="ko-KR" altLang="en-US" sz="2000"/>
              <a:t>프로젝트 생성</a:t>
            </a:r>
            <a:endParaRPr lang="en-US" altLang="ko-KR" sz="2000"/>
          </a:p>
          <a:p>
            <a:r>
              <a:rPr lang="en-US" altLang="ko-KR" sz="2000"/>
              <a:t>2.</a:t>
            </a:r>
            <a:r>
              <a:rPr lang="ko-KR" altLang="en-US" sz="2000"/>
              <a:t>프로젝트 설정</a:t>
            </a:r>
            <a:endParaRPr lang="en-US" altLang="ko-KR" sz="2000"/>
          </a:p>
          <a:p>
            <a:r>
              <a:rPr lang="en-US" altLang="ko-KR" sz="2000"/>
              <a:t>3.</a:t>
            </a:r>
            <a:r>
              <a:rPr lang="ko-KR" altLang="en-US" sz="2000" err="1"/>
              <a:t>다이알로그편집기</a:t>
            </a:r>
            <a:r>
              <a:rPr lang="ko-KR" altLang="en-US" sz="2000"/>
              <a:t> 열기</a:t>
            </a:r>
            <a:endParaRPr lang="en-US" altLang="ko-KR" sz="2000"/>
          </a:p>
          <a:p>
            <a:r>
              <a:rPr lang="en-US" altLang="ko-KR" sz="2000"/>
              <a:t>4.</a:t>
            </a:r>
            <a:r>
              <a:rPr lang="ko-KR" altLang="en-US" sz="2000"/>
              <a:t> 위와 </a:t>
            </a:r>
            <a:r>
              <a:rPr lang="ko-KR" altLang="en-US" sz="2000" err="1"/>
              <a:t>같은항목이</a:t>
            </a:r>
            <a:r>
              <a:rPr lang="ko-KR" altLang="en-US" sz="2000"/>
              <a:t> 자주 사용됨</a:t>
            </a:r>
            <a:r>
              <a:rPr lang="en-US" altLang="ko-KR" sz="2000"/>
              <a:t>.</a:t>
            </a:r>
            <a:br>
              <a:rPr lang="en-US" altLang="ko-KR" sz="2000"/>
            </a:br>
            <a:r>
              <a:rPr lang="en-US" altLang="ko-KR" sz="2000"/>
              <a:t>  </a:t>
            </a:r>
            <a:r>
              <a:rPr lang="ko-KR" altLang="en-US" sz="2000"/>
              <a:t>필요에 따라 기능을 가져다 </a:t>
            </a:r>
            <a:r>
              <a:rPr lang="ko-KR" altLang="en-US" sz="2000" err="1"/>
              <a:t>쓰면된다</a:t>
            </a:r>
            <a:r>
              <a:rPr lang="en-US" altLang="ko-KR" sz="2000"/>
              <a:t>.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976" y="1913123"/>
            <a:ext cx="1500188" cy="165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976" y="3626074"/>
            <a:ext cx="1481926" cy="1663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458" y="2027775"/>
            <a:ext cx="5082889" cy="2652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그룹 6"/>
          <p:cNvGrpSpPr/>
          <p:nvPr/>
        </p:nvGrpSpPr>
        <p:grpSpPr>
          <a:xfrm>
            <a:off x="427041" y="2982316"/>
            <a:ext cx="2841779" cy="1978304"/>
            <a:chOff x="427041" y="2982316"/>
            <a:chExt cx="2841779" cy="1978304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041" y="2982316"/>
              <a:ext cx="2841779" cy="1978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1173480" y="3489960"/>
              <a:ext cx="1320904" cy="19578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00"/>
                <a:t>1</a:t>
              </a:r>
              <a:endParaRPr lang="ko-KR" altLang="en-US" sz="1000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2494382" y="1913123"/>
            <a:ext cx="2679409" cy="2049135"/>
            <a:chOff x="2494384" y="2408775"/>
            <a:chExt cx="2679409" cy="2049135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4384" y="2408775"/>
              <a:ext cx="2679409" cy="2049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1" name="직사각형 30"/>
            <p:cNvSpPr/>
            <p:nvPr/>
          </p:nvSpPr>
          <p:spPr>
            <a:xfrm>
              <a:off x="3173636" y="2786527"/>
              <a:ext cx="819244" cy="19578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000"/>
                <a:t>2</a:t>
              </a:r>
              <a:endParaRPr lang="ko-KR" altLang="en-US" sz="1000"/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5372100" y="2786527"/>
            <a:ext cx="1373064" cy="97894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3.1</a:t>
            </a:r>
            <a:endParaRPr lang="ko-KR" altLang="en-US" sz="1000"/>
          </a:p>
        </p:txBody>
      </p:sp>
      <p:sp>
        <p:nvSpPr>
          <p:cNvPr id="33" name="직사각형 32"/>
          <p:cNvSpPr/>
          <p:nvPr/>
        </p:nvSpPr>
        <p:spPr>
          <a:xfrm>
            <a:off x="5353838" y="4060352"/>
            <a:ext cx="1373064" cy="97894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3.2</a:t>
            </a:r>
            <a:endParaRPr lang="ko-KR" altLang="en-US" sz="1000"/>
          </a:p>
        </p:txBody>
      </p:sp>
      <p:sp>
        <p:nvSpPr>
          <p:cNvPr id="13" name="직사각형 12"/>
          <p:cNvSpPr/>
          <p:nvPr/>
        </p:nvSpPr>
        <p:spPr>
          <a:xfrm>
            <a:off x="10751819" y="2037530"/>
            <a:ext cx="1178527" cy="2642434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4</a:t>
            </a:r>
            <a:endParaRPr lang="ko-KR" altLang="en-US" sz="1000"/>
          </a:p>
        </p:txBody>
      </p:sp>
      <p:sp>
        <p:nvSpPr>
          <p:cNvPr id="14" name="오른쪽 화살표 13"/>
          <p:cNvSpPr/>
          <p:nvPr/>
        </p:nvSpPr>
        <p:spPr>
          <a:xfrm>
            <a:off x="6667500" y="3253740"/>
            <a:ext cx="731520" cy="548640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/>
          </a:p>
        </p:txBody>
      </p:sp>
      <p:sp>
        <p:nvSpPr>
          <p:cNvPr id="15" name="직사각형 14"/>
          <p:cNvSpPr/>
          <p:nvPr/>
        </p:nvSpPr>
        <p:spPr>
          <a:xfrm>
            <a:off x="4629150" y="3793170"/>
            <a:ext cx="266700" cy="169088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410744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오른쪽 화살표 4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MFC </a:t>
            </a:r>
            <a:r>
              <a:rPr lang="ko-KR" altLang="en-US"/>
              <a:t>프로젝트 만들기 </a:t>
            </a:r>
            <a:r>
              <a:rPr lang="en-US" altLang="ko-KR" sz="2000"/>
              <a:t>#</a:t>
            </a:r>
            <a:r>
              <a:rPr lang="ko-KR" altLang="en-US" sz="2000"/>
              <a:t>버튼 생성</a:t>
            </a:r>
            <a:r>
              <a:rPr lang="en-US" altLang="ko-KR" sz="2000"/>
              <a:t>/</a:t>
            </a:r>
            <a:r>
              <a:rPr lang="ko-KR" altLang="en-US" sz="2000"/>
              <a:t>변수추가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956" y="4623754"/>
            <a:ext cx="5577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1.</a:t>
            </a:r>
            <a:r>
              <a:rPr lang="ko-KR" altLang="en-US"/>
              <a:t>버튼을 선택하고 해당영역에 드래그하면</a:t>
            </a:r>
            <a:r>
              <a:rPr lang="en-US" altLang="ko-KR"/>
              <a:t>,</a:t>
            </a:r>
          </a:p>
          <a:p>
            <a:r>
              <a:rPr lang="en-US" altLang="ko-KR"/>
              <a:t>2.</a:t>
            </a:r>
            <a:r>
              <a:rPr lang="ko-KR" altLang="en-US"/>
              <a:t>그림과 같이 버튼이 만들어지고</a:t>
            </a:r>
            <a:r>
              <a:rPr lang="en-US" altLang="ko-KR"/>
              <a:t>, </a:t>
            </a:r>
            <a:r>
              <a:rPr lang="ko-KR" altLang="en-US">
                <a:solidFill>
                  <a:schemeClr val="accent5"/>
                </a:solidFill>
              </a:rPr>
              <a:t>변수</a:t>
            </a:r>
            <a:r>
              <a:rPr lang="ko-KR" altLang="en-US"/>
              <a:t>를 추가한다</a:t>
            </a:r>
            <a:r>
              <a:rPr lang="en-US" altLang="ko-KR"/>
              <a:t>.</a:t>
            </a:r>
          </a:p>
          <a:p>
            <a:r>
              <a:rPr lang="en-US" altLang="ko-KR"/>
              <a:t>3.</a:t>
            </a:r>
            <a:r>
              <a:rPr lang="ko-KR" altLang="en-US"/>
              <a:t>추가 마법사에서 이름</a:t>
            </a:r>
            <a:r>
              <a:rPr lang="en-US" altLang="ko-KR"/>
              <a:t>/</a:t>
            </a:r>
            <a:r>
              <a:rPr lang="ko-KR" altLang="en-US"/>
              <a:t>주석을 입력하면 다음과 </a:t>
            </a:r>
            <a:br>
              <a:rPr lang="en-US" altLang="ko-KR"/>
            </a:br>
            <a:r>
              <a:rPr lang="en-US" altLang="ko-KR"/>
              <a:t>  </a:t>
            </a:r>
            <a:r>
              <a:rPr lang="ko-KR" altLang="en-US"/>
              <a:t>같이 코드가 자동 생성된다</a:t>
            </a:r>
            <a:r>
              <a:rPr lang="en-US" altLang="ko-KR"/>
              <a:t>.</a:t>
            </a:r>
          </a:p>
        </p:txBody>
      </p:sp>
      <p:pic>
        <p:nvPicPr>
          <p:cNvPr id="5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91" y="1458822"/>
            <a:ext cx="4181471" cy="2991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007" y="1456595"/>
            <a:ext cx="4287329" cy="284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9315" y="5321058"/>
            <a:ext cx="2799493" cy="121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3" name="그룹 72"/>
          <p:cNvGrpSpPr/>
          <p:nvPr/>
        </p:nvGrpSpPr>
        <p:grpSpPr>
          <a:xfrm>
            <a:off x="5799399" y="4140163"/>
            <a:ext cx="2797859" cy="2498089"/>
            <a:chOff x="112584" y="1548484"/>
            <a:chExt cx="3585944" cy="3201736"/>
          </a:xfrm>
        </p:grpSpPr>
        <p:pic>
          <p:nvPicPr>
            <p:cNvPr id="75" name="Picture 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584" y="1548484"/>
              <a:ext cx="3585944" cy="32017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76" name="직선 연결선 75"/>
            <p:cNvCxnSpPr/>
            <p:nvPr/>
          </p:nvCxnSpPr>
          <p:spPr>
            <a:xfrm>
              <a:off x="251520" y="2909838"/>
              <a:ext cx="1008112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/>
            <p:cNvCxnSpPr/>
            <p:nvPr/>
          </p:nvCxnSpPr>
          <p:spPr>
            <a:xfrm>
              <a:off x="251520" y="3645024"/>
              <a:ext cx="57606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직사각형 25"/>
          <p:cNvSpPr/>
          <p:nvPr/>
        </p:nvSpPr>
        <p:spPr>
          <a:xfrm>
            <a:off x="838200" y="2014981"/>
            <a:ext cx="1809750" cy="17858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1.</a:t>
            </a:r>
            <a:r>
              <a:rPr lang="ko-KR" altLang="en-US" sz="1000"/>
              <a:t>선택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3916935" y="2152949"/>
            <a:ext cx="659828" cy="37557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800"/>
              <a:t>2. </a:t>
            </a:r>
            <a:r>
              <a:rPr lang="ko-KR" altLang="en-US" sz="800"/>
              <a:t>버튼을 </a:t>
            </a:r>
            <a:endParaRPr lang="en-US" altLang="ko-KR" sz="800"/>
          </a:p>
          <a:p>
            <a:r>
              <a:rPr lang="ko-KR" altLang="en-US" sz="800"/>
              <a:t>   </a:t>
            </a:r>
            <a:r>
              <a:rPr lang="ko-KR" altLang="en-US" sz="800" err="1"/>
              <a:t>그려넣음</a:t>
            </a:r>
            <a:endParaRPr lang="ko-KR" altLang="en-US" sz="800"/>
          </a:p>
        </p:txBody>
      </p:sp>
      <p:sp>
        <p:nvSpPr>
          <p:cNvPr id="33" name="직사각형 32"/>
          <p:cNvSpPr/>
          <p:nvPr/>
        </p:nvSpPr>
        <p:spPr>
          <a:xfrm>
            <a:off x="9019933" y="3171461"/>
            <a:ext cx="1009405" cy="17858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2.</a:t>
            </a:r>
            <a:endParaRPr lang="ko-KR" altLang="en-US" sz="1000"/>
          </a:p>
        </p:txBody>
      </p:sp>
      <p:sp>
        <p:nvSpPr>
          <p:cNvPr id="35" name="직사각형 34"/>
          <p:cNvSpPr/>
          <p:nvPr/>
        </p:nvSpPr>
        <p:spPr>
          <a:xfrm>
            <a:off x="9677706" y="5838323"/>
            <a:ext cx="1462734" cy="39088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3.</a:t>
            </a:r>
            <a:endParaRPr lang="ko-KR" altLang="en-US" sz="1000"/>
          </a:p>
        </p:txBody>
      </p:sp>
      <p:sp>
        <p:nvSpPr>
          <p:cNvPr id="37" name="직사각형 36"/>
          <p:cNvSpPr/>
          <p:nvPr/>
        </p:nvSpPr>
        <p:spPr>
          <a:xfrm>
            <a:off x="7802880" y="6400841"/>
            <a:ext cx="397233" cy="12311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3.</a:t>
            </a:r>
            <a:endParaRPr lang="ko-KR" altLang="en-US" sz="1000"/>
          </a:p>
        </p:txBody>
      </p:sp>
      <p:sp>
        <p:nvSpPr>
          <p:cNvPr id="38" name="오른쪽 화살표 37"/>
          <p:cNvSpPr/>
          <p:nvPr/>
        </p:nvSpPr>
        <p:spPr>
          <a:xfrm>
            <a:off x="8497646" y="5905126"/>
            <a:ext cx="303338" cy="257280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/>
          </a:p>
        </p:txBody>
      </p:sp>
      <p:sp>
        <p:nvSpPr>
          <p:cNvPr id="39" name="오른쪽 화살표 38"/>
          <p:cNvSpPr/>
          <p:nvPr/>
        </p:nvSpPr>
        <p:spPr>
          <a:xfrm>
            <a:off x="4791318" y="2425453"/>
            <a:ext cx="1008081" cy="746008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/>
              <a:t>2.</a:t>
            </a:r>
            <a:r>
              <a:rPr lang="ko-KR" altLang="en-US" sz="1000" err="1"/>
              <a:t>버튼그리기완료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36818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오른쪽 화살표 4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MFC </a:t>
            </a:r>
            <a:r>
              <a:rPr lang="ko-KR" altLang="en-US"/>
              <a:t>프로젝트 만들기 </a:t>
            </a:r>
            <a:r>
              <a:rPr lang="en-US" altLang="ko-KR" sz="2000"/>
              <a:t>#MFC</a:t>
            </a:r>
            <a:r>
              <a:rPr lang="ko-KR" altLang="en-US" sz="2000"/>
              <a:t>프로젝트 버튼 이벤트추가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94384" y="6323451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</a:rPr>
              <a:t>사용 비중이 높음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1155" y="4547554"/>
            <a:ext cx="4654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1.</a:t>
            </a:r>
            <a:r>
              <a:rPr lang="ko-KR" altLang="en-US"/>
              <a:t>다음과 같이 이벤트를 추가 한다</a:t>
            </a:r>
            <a:r>
              <a:rPr lang="en-US" altLang="ko-KR"/>
              <a:t>.</a:t>
            </a:r>
          </a:p>
          <a:p>
            <a:r>
              <a:rPr lang="en-US" altLang="ko-KR"/>
              <a:t>2.</a:t>
            </a:r>
            <a:r>
              <a:rPr lang="ko-KR" altLang="en-US"/>
              <a:t>클릭이벤트 </a:t>
            </a:r>
            <a:r>
              <a:rPr lang="ko-KR" altLang="en-US" err="1"/>
              <a:t>함수안에</a:t>
            </a:r>
            <a:r>
              <a:rPr lang="en-US" altLang="ko-KR"/>
              <a:t>,</a:t>
            </a:r>
            <a:r>
              <a:rPr lang="ko-KR" altLang="en-US"/>
              <a:t> </a:t>
            </a:r>
            <a:endParaRPr lang="en-US" altLang="ko-KR"/>
          </a:p>
          <a:p>
            <a:r>
              <a:rPr lang="en-US" altLang="ko-KR"/>
              <a:t>  </a:t>
            </a:r>
            <a:r>
              <a:rPr lang="ko-KR" altLang="en-US"/>
              <a:t>다음과 같은 코드를 추가</a:t>
            </a:r>
            <a:r>
              <a:rPr lang="en-US" altLang="ko-KR"/>
              <a:t>.</a:t>
            </a:r>
          </a:p>
        </p:txBody>
      </p:sp>
      <p:pic>
        <p:nvPicPr>
          <p:cNvPr id="2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32" y="1377315"/>
            <a:ext cx="4287330" cy="284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700" y="1360924"/>
            <a:ext cx="3314700" cy="297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1" y="4398398"/>
            <a:ext cx="5904656" cy="146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직사각형 35"/>
          <p:cNvSpPr/>
          <p:nvPr/>
        </p:nvSpPr>
        <p:spPr>
          <a:xfrm>
            <a:off x="241155" y="5470884"/>
            <a:ext cx="5146692" cy="57438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err="1"/>
              <a:t>m_btnButton.SetWindowTextW</a:t>
            </a:r>
            <a:r>
              <a:rPr lang="en-US" altLang="ko-KR"/>
              <a:t>(</a:t>
            </a:r>
            <a:r>
              <a:rPr lang="en-US" altLang="ko-KR" err="1"/>
              <a:t>L"test</a:t>
            </a:r>
            <a:r>
              <a:rPr lang="en-US" altLang="ko-KR"/>
              <a:t> button");</a:t>
            </a:r>
          </a:p>
        </p:txBody>
      </p:sp>
      <p:sp>
        <p:nvSpPr>
          <p:cNvPr id="18" name="오른쪽 화살표 17"/>
          <p:cNvSpPr/>
          <p:nvPr/>
        </p:nvSpPr>
        <p:spPr>
          <a:xfrm>
            <a:off x="5084509" y="2624700"/>
            <a:ext cx="303338" cy="257280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/>
          </a:p>
        </p:txBody>
      </p:sp>
      <p:sp>
        <p:nvSpPr>
          <p:cNvPr id="19" name="직사각형 18"/>
          <p:cNvSpPr/>
          <p:nvPr/>
        </p:nvSpPr>
        <p:spPr>
          <a:xfrm>
            <a:off x="4000257" y="2687484"/>
            <a:ext cx="1009405" cy="17858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1.</a:t>
            </a:r>
            <a:endParaRPr lang="ko-KR" altLang="en-US" sz="1000"/>
          </a:p>
        </p:txBody>
      </p:sp>
      <p:sp>
        <p:nvSpPr>
          <p:cNvPr id="20" name="직사각형 19"/>
          <p:cNvSpPr/>
          <p:nvPr/>
        </p:nvSpPr>
        <p:spPr>
          <a:xfrm>
            <a:off x="6778235" y="4041341"/>
            <a:ext cx="636025" cy="17858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2.</a:t>
            </a:r>
            <a:endParaRPr lang="ko-KR" altLang="en-US" sz="1000"/>
          </a:p>
        </p:txBody>
      </p:sp>
      <p:sp>
        <p:nvSpPr>
          <p:cNvPr id="21" name="직사각형 20"/>
          <p:cNvSpPr/>
          <p:nvPr/>
        </p:nvSpPr>
        <p:spPr>
          <a:xfrm>
            <a:off x="6709655" y="5184341"/>
            <a:ext cx="4659385" cy="28654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2.</a:t>
            </a:r>
            <a:endParaRPr lang="ko-KR" altLang="en-US" sz="1000"/>
          </a:p>
        </p:txBody>
      </p:sp>
      <p:sp>
        <p:nvSpPr>
          <p:cNvPr id="3" name="아래쪽 화살표 2"/>
          <p:cNvSpPr/>
          <p:nvPr/>
        </p:nvSpPr>
        <p:spPr>
          <a:xfrm>
            <a:off x="6875267" y="4325559"/>
            <a:ext cx="441960" cy="416923"/>
          </a:xfrm>
          <a:prstGeom prst="downArrow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93040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00"/>
                            </p:stCondLst>
                            <p:childTnLst>
                              <p:par>
                                <p:cTn id="5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62" grpId="0"/>
      <p:bldP spid="36" grpId="0" animBg="1"/>
      <p:bldP spid="18" grpId="0" animBg="1"/>
      <p:bldP spid="19" grpId="0" animBg="1"/>
      <p:bldP spid="20" grpId="0" animBg="1"/>
      <p:bldP spid="21" grpId="0" animBg="1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오른쪽 화살표 4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MFC </a:t>
            </a:r>
            <a:r>
              <a:rPr lang="ko-KR" altLang="en-US"/>
              <a:t>프로젝트 만들기 </a:t>
            </a:r>
            <a:r>
              <a:rPr lang="en-US" altLang="ko-KR" sz="2000"/>
              <a:t>#</a:t>
            </a:r>
            <a:r>
              <a:rPr lang="ko-KR" altLang="en-US" sz="2000"/>
              <a:t>실행결과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2033588"/>
            <a:ext cx="4505325" cy="3108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75" y="2033589"/>
            <a:ext cx="4562475" cy="3116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오른쪽 화살표 6"/>
          <p:cNvSpPr/>
          <p:nvPr/>
        </p:nvSpPr>
        <p:spPr>
          <a:xfrm>
            <a:off x="5473064" y="3348600"/>
            <a:ext cx="897255" cy="761018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/>
              <a:t>버튼 클릭</a:t>
            </a:r>
          </a:p>
        </p:txBody>
      </p:sp>
    </p:spTree>
    <p:extLst>
      <p:ext uri="{BB962C8B-B14F-4D97-AF65-F5344CB8AC3E}">
        <p14:creationId xmlns:p14="http://schemas.microsoft.com/office/powerpoint/2010/main" val="86578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오른쪽 화살표 4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MFC </a:t>
            </a:r>
            <a:r>
              <a:rPr lang="ko-KR" altLang="en-US"/>
              <a:t>프로젝트 구조 </a:t>
            </a:r>
            <a:r>
              <a:rPr lang="en-US" altLang="ko-KR" sz="2000"/>
              <a:t>#MFC</a:t>
            </a:r>
            <a:r>
              <a:rPr lang="ko-KR" altLang="en-US" sz="2000"/>
              <a:t>프로젝트</a:t>
            </a:r>
            <a:r>
              <a:rPr lang="en-US" altLang="ko-KR" sz="2000"/>
              <a:t> </a:t>
            </a:r>
            <a:r>
              <a:rPr lang="ko-KR" altLang="en-US" sz="2000"/>
              <a:t>구조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94384" y="6323451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</a:rPr>
              <a:t>사용 비중이 높음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92327" y="1713097"/>
            <a:ext cx="67614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1.MFCApplication5Dlg.h / </a:t>
            </a:r>
            <a:r>
              <a:rPr lang="en-US" altLang="ko-KR" sz="2400" b="1" err="1"/>
              <a:t>cpp</a:t>
            </a:r>
            <a:br>
              <a:rPr lang="en-US" altLang="ko-KR" sz="2400" b="1"/>
            </a:br>
            <a:r>
              <a:rPr lang="en-US" altLang="ko-KR" sz="2400"/>
              <a:t>-</a:t>
            </a:r>
            <a:r>
              <a:rPr lang="ko-KR" altLang="en-US" sz="2400"/>
              <a:t>변수나 이벤트 들이 추가되고 관리되는 곳</a:t>
            </a:r>
            <a:r>
              <a:rPr lang="en-US" altLang="ko-KR" sz="2400"/>
              <a:t>. </a:t>
            </a:r>
          </a:p>
          <a:p>
            <a:r>
              <a:rPr lang="en-US" altLang="ko-KR" sz="2400" b="1"/>
              <a:t>2.MFCApplication.h / </a:t>
            </a:r>
            <a:r>
              <a:rPr lang="en-US" altLang="ko-KR" sz="2400" b="1" err="1"/>
              <a:t>cpp</a:t>
            </a:r>
            <a:br>
              <a:rPr lang="en-US" altLang="ko-KR" sz="2400" b="1"/>
            </a:br>
            <a:r>
              <a:rPr lang="en-US" altLang="ko-KR" sz="2400"/>
              <a:t>-</a:t>
            </a:r>
            <a:r>
              <a:rPr lang="ko-KR" altLang="en-US" sz="2400"/>
              <a:t>다이얼로그가 관리되는 메인 클래스</a:t>
            </a:r>
            <a:endParaRPr lang="en-US" altLang="ko-KR" sz="2400"/>
          </a:p>
          <a:p>
            <a:r>
              <a:rPr lang="en-US" altLang="ko-KR" sz="2400" b="1"/>
              <a:t>3.MFCApplication.rc</a:t>
            </a:r>
            <a:br>
              <a:rPr lang="en-US" altLang="ko-KR" sz="2400" b="1"/>
            </a:br>
            <a:r>
              <a:rPr lang="en-US" altLang="ko-KR" sz="2400"/>
              <a:t>-</a:t>
            </a:r>
            <a:r>
              <a:rPr lang="ko-KR" altLang="en-US" sz="2400"/>
              <a:t>추가된 </a:t>
            </a:r>
            <a:r>
              <a:rPr lang="en-US" altLang="ko-KR" sz="2400"/>
              <a:t>GUI</a:t>
            </a:r>
            <a:r>
              <a:rPr lang="ko-KR" altLang="en-US" sz="2400"/>
              <a:t>를 추가하고 관리</a:t>
            </a:r>
            <a:r>
              <a:rPr lang="en-US" altLang="ko-KR" sz="2400"/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216" y="1643090"/>
            <a:ext cx="3184382" cy="3967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직사각형 12"/>
          <p:cNvSpPr/>
          <p:nvPr/>
        </p:nvSpPr>
        <p:spPr>
          <a:xfrm>
            <a:off x="1303824" y="4627876"/>
            <a:ext cx="2831492" cy="10159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1.</a:t>
            </a:r>
            <a:endParaRPr lang="ko-KR" altLang="en-US" sz="1000"/>
          </a:p>
        </p:txBody>
      </p:sp>
      <p:sp>
        <p:nvSpPr>
          <p:cNvPr id="14" name="직사각형 13"/>
          <p:cNvSpPr/>
          <p:nvPr/>
        </p:nvSpPr>
        <p:spPr>
          <a:xfrm>
            <a:off x="1303824" y="3990941"/>
            <a:ext cx="2831492" cy="11823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1.</a:t>
            </a:r>
            <a:endParaRPr lang="ko-KR" altLang="en-US" sz="1000"/>
          </a:p>
        </p:txBody>
      </p:sp>
      <p:sp>
        <p:nvSpPr>
          <p:cNvPr id="15" name="직사각형 14"/>
          <p:cNvSpPr/>
          <p:nvPr/>
        </p:nvSpPr>
        <p:spPr>
          <a:xfrm>
            <a:off x="1361106" y="3296379"/>
            <a:ext cx="2831492" cy="2031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3.</a:t>
            </a:r>
            <a:endParaRPr lang="ko-KR" altLang="en-US" sz="1000"/>
          </a:p>
        </p:txBody>
      </p:sp>
      <p:sp>
        <p:nvSpPr>
          <p:cNvPr id="16" name="직사각형 15"/>
          <p:cNvSpPr/>
          <p:nvPr/>
        </p:nvSpPr>
        <p:spPr>
          <a:xfrm>
            <a:off x="1303824" y="3819623"/>
            <a:ext cx="2831492" cy="10159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2.</a:t>
            </a:r>
            <a:endParaRPr lang="ko-KR" altLang="en-US" sz="1000"/>
          </a:p>
        </p:txBody>
      </p:sp>
      <p:sp>
        <p:nvSpPr>
          <p:cNvPr id="17" name="직사각형 16"/>
          <p:cNvSpPr/>
          <p:nvPr/>
        </p:nvSpPr>
        <p:spPr>
          <a:xfrm>
            <a:off x="1303824" y="4453770"/>
            <a:ext cx="2831492" cy="11823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/>
              <a:t>2.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81594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6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6000"/>
              <a:t>Q&amp;A</a:t>
            </a:r>
            <a:endParaRPr lang="ko-KR" altLang="en-US" sz="6000"/>
          </a:p>
        </p:txBody>
      </p:sp>
      <p:sp>
        <p:nvSpPr>
          <p:cNvPr id="5" name="오른쪽 화살표 4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838200" y="2843542"/>
            <a:ext cx="10515600" cy="10728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o-KR" altLang="en-US" sz="6000"/>
              <a:t>감사합니다</a:t>
            </a:r>
            <a:r>
              <a:rPr lang="en-US" altLang="ko-KR" sz="6000"/>
              <a:t>!</a:t>
            </a:r>
            <a:endParaRPr lang="ko-KR" altLang="en-US" sz="6000"/>
          </a:p>
        </p:txBody>
      </p:sp>
    </p:spTree>
    <p:extLst>
      <p:ext uri="{BB962C8B-B14F-4D97-AF65-F5344CB8AC3E}">
        <p14:creationId xmlns:p14="http://schemas.microsoft.com/office/powerpoint/2010/main" val="275356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4" grpId="0" build="p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alpha val="50000"/>
          </a:schemeClr>
        </a:solidFill>
        <a:ln w="9525">
          <a:solidFill>
            <a:schemeClr val="accent1">
              <a:lumMod val="50000"/>
            </a:schemeClr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테마</vt:lpstr>
      <vt:lpstr>Win API / MFC</vt:lpstr>
      <vt:lpstr>Window API의 개요</vt:lpstr>
      <vt:lpstr>MFC의 개요</vt:lpstr>
      <vt:lpstr>MFC의 사용목적</vt:lpstr>
      <vt:lpstr>MFC의 장점</vt:lpstr>
      <vt:lpstr>MFC의 현재</vt:lpstr>
      <vt:lpstr>MFC를 배우는 이유</vt:lpstr>
      <vt:lpstr>Win32 프로젝트 만들기 #버튼추가/메세지박스띄우기</vt:lpstr>
      <vt:lpstr>Win32 프로젝트 만들기 #실행결과</vt:lpstr>
      <vt:lpstr>Win32 프로젝트 구조</vt:lpstr>
      <vt:lpstr>Win32 구조 분석하기</vt:lpstr>
      <vt:lpstr>MFC 프로젝트 설치하기#MFC설치하기</vt:lpstr>
      <vt:lpstr>MFC 프로젝트 만들기 #MFC프로젝트 생성</vt:lpstr>
      <vt:lpstr>MFC 프로젝트 만들기 #버튼 생성/변수추가</vt:lpstr>
      <vt:lpstr>MFC 프로젝트 만들기 #MFC프로젝트 버튼 이벤트추가</vt:lpstr>
      <vt:lpstr>MFC 프로젝트 만들기 #실행결과</vt:lpstr>
      <vt:lpstr>MFC 프로젝트 구조 #MFC프로젝트 구조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MFC</dc:title>
  <dc:creator>khg</dc:creator>
  <cp:revision>1</cp:revision>
  <dcterms:created xsi:type="dcterms:W3CDTF">2017-05-06T16:20:53Z</dcterms:created>
  <dcterms:modified xsi:type="dcterms:W3CDTF">2025-06-12T02:58:22Z</dcterms:modified>
</cp:coreProperties>
</file>