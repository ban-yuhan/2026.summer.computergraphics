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9" r:id="rId4"/>
    <p:sldId id="282" r:id="rId5"/>
    <p:sldId id="278" r:id="rId6"/>
    <p:sldId id="280" r:id="rId7"/>
    <p:sldId id="270" r:id="rId8"/>
    <p:sldId id="276" r:id="rId9"/>
    <p:sldId id="283" r:id="rId10"/>
    <p:sldId id="271" r:id="rId11"/>
    <p:sldId id="272" r:id="rId12"/>
    <p:sldId id="273" r:id="rId13"/>
    <p:sldId id="284" r:id="rId14"/>
    <p:sldId id="274" r:id="rId15"/>
    <p:sldId id="281" r:id="rId16"/>
    <p:sldId id="279" r:id="rId17"/>
    <p:sldId id="265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07154D-5E5A-47BF-91F6-1E8CA7EC5752}" v="2" dt="2024-07-02T03:06:38.8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5" autoAdjust="0"/>
    <p:restoredTop sz="99770" autoAdjust="0"/>
  </p:normalViewPr>
  <p:slideViewPr>
    <p:cSldViewPr snapToGrid="0">
      <p:cViewPr varScale="1">
        <p:scale>
          <a:sx n="111" d="100"/>
          <a:sy n="111" d="100"/>
        </p:scale>
        <p:origin x="427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홍규" userId="6d16d8e1c579a2a2" providerId="LiveId" clId="{D12268AF-0089-4496-83B3-D3201AEFBECA}"/>
    <pc:docChg chg="undo custSel addSld delSld modSld">
      <pc:chgData name="김 홍규" userId="6d16d8e1c579a2a2" providerId="LiveId" clId="{D12268AF-0089-4496-83B3-D3201AEFBECA}" dt="2022-06-14T10:42:38.197" v="230"/>
      <pc:docMkLst>
        <pc:docMk/>
      </pc:docMkLst>
      <pc:sldChg chg="modSp">
        <pc:chgData name="김 홍규" userId="6d16d8e1c579a2a2" providerId="LiveId" clId="{D12268AF-0089-4496-83B3-D3201AEFBECA}" dt="2022-06-14T10:42:38.197" v="230"/>
        <pc:sldMkLst>
          <pc:docMk/>
          <pc:sldMk cId="915165853" sldId="279"/>
        </pc:sldMkLst>
        <pc:spChg chg="mod">
          <ac:chgData name="김 홍규" userId="6d16d8e1c579a2a2" providerId="LiveId" clId="{D12268AF-0089-4496-83B3-D3201AEFBECA}" dt="2022-06-14T10:42:38.197" v="230"/>
          <ac:spMkLst>
            <pc:docMk/>
            <pc:sldMk cId="915165853" sldId="279"/>
            <ac:spMk id="62" creationId="{00000000-0000-0000-0000-000000000000}"/>
          </ac:spMkLst>
        </pc:spChg>
      </pc:sldChg>
      <pc:sldChg chg="new del">
        <pc:chgData name="김 홍규" userId="6d16d8e1c579a2a2" providerId="LiveId" clId="{D12268AF-0089-4496-83B3-D3201AEFBECA}" dt="2022-06-14T08:32:38.083" v="1" actId="47"/>
        <pc:sldMkLst>
          <pc:docMk/>
          <pc:sldMk cId="1840370836" sldId="284"/>
        </pc:sldMkLst>
      </pc:sldChg>
      <pc:sldChg chg="addSp delSp modSp add mod delAnim modAnim">
        <pc:chgData name="김 홍규" userId="6d16d8e1c579a2a2" providerId="LiveId" clId="{D12268AF-0089-4496-83B3-D3201AEFBECA}" dt="2022-06-14T09:37:35.058" v="229" actId="1036"/>
        <pc:sldMkLst>
          <pc:docMk/>
          <pc:sldMk cId="2198543813" sldId="284"/>
        </pc:sldMkLst>
        <pc:spChg chg="mod">
          <ac:chgData name="김 홍규" userId="6d16d8e1c579a2a2" providerId="LiveId" clId="{D12268AF-0089-4496-83B3-D3201AEFBECA}" dt="2022-06-14T08:37:00.808" v="169" actId="20577"/>
          <ac:spMkLst>
            <pc:docMk/>
            <pc:sldMk cId="2198543813" sldId="284"/>
            <ac:spMk id="2" creationId="{00000000-0000-0000-0000-000000000000}"/>
          </ac:spMkLst>
        </pc:spChg>
        <pc:spChg chg="add mod">
          <ac:chgData name="김 홍규" userId="6d16d8e1c579a2a2" providerId="LiveId" clId="{D12268AF-0089-4496-83B3-D3201AEFBECA}" dt="2022-06-14T09:37:35.058" v="229" actId="1036"/>
          <ac:spMkLst>
            <pc:docMk/>
            <pc:sldMk cId="2198543813" sldId="284"/>
            <ac:spMk id="7" creationId="{2F4915F2-61E9-8FE7-4C6D-89B720835284}"/>
          </ac:spMkLst>
        </pc:spChg>
        <pc:spChg chg="add mod">
          <ac:chgData name="김 홍규" userId="6d16d8e1c579a2a2" providerId="LiveId" clId="{D12268AF-0089-4496-83B3-D3201AEFBECA}" dt="2022-06-14T09:37:35.058" v="229" actId="1036"/>
          <ac:spMkLst>
            <pc:docMk/>
            <pc:sldMk cId="2198543813" sldId="284"/>
            <ac:spMk id="8" creationId="{81537F62-4573-A9F5-0255-581E4B5BC98B}"/>
          </ac:spMkLst>
        </pc:spChg>
        <pc:spChg chg="del">
          <ac:chgData name="김 홍규" userId="6d16d8e1c579a2a2" providerId="LiveId" clId="{D12268AF-0089-4496-83B3-D3201AEFBECA}" dt="2022-06-14T08:33:02.749" v="41" actId="478"/>
          <ac:spMkLst>
            <pc:docMk/>
            <pc:sldMk cId="2198543813" sldId="284"/>
            <ac:spMk id="12" creationId="{00000000-0000-0000-0000-000000000000}"/>
          </ac:spMkLst>
        </pc:spChg>
        <pc:spChg chg="del mod">
          <ac:chgData name="김 홍규" userId="6d16d8e1c579a2a2" providerId="LiveId" clId="{D12268AF-0089-4496-83B3-D3201AEFBECA}" dt="2022-06-14T08:33:03.946" v="44" actId="478"/>
          <ac:spMkLst>
            <pc:docMk/>
            <pc:sldMk cId="2198543813" sldId="284"/>
            <ac:spMk id="19" creationId="{00000000-0000-0000-0000-000000000000}"/>
          </ac:spMkLst>
        </pc:spChg>
        <pc:spChg chg="del">
          <ac:chgData name="김 홍규" userId="6d16d8e1c579a2a2" providerId="LiveId" clId="{D12268AF-0089-4496-83B3-D3201AEFBECA}" dt="2022-06-14T08:32:57.365" v="39" actId="478"/>
          <ac:spMkLst>
            <pc:docMk/>
            <pc:sldMk cId="2198543813" sldId="284"/>
            <ac:spMk id="29" creationId="{00000000-0000-0000-0000-000000000000}"/>
          </ac:spMkLst>
        </pc:spChg>
        <pc:spChg chg="add mod">
          <ac:chgData name="김 홍규" userId="6d16d8e1c579a2a2" providerId="LiveId" clId="{D12268AF-0089-4496-83B3-D3201AEFBECA}" dt="2022-06-14T09:37:35.058" v="229" actId="1036"/>
          <ac:spMkLst>
            <pc:docMk/>
            <pc:sldMk cId="2198543813" sldId="284"/>
            <ac:spMk id="30" creationId="{E0ABD67F-89A2-D9F6-EADB-11F1564A93B3}"/>
          </ac:spMkLst>
        </pc:spChg>
        <pc:spChg chg="del">
          <ac:chgData name="김 홍규" userId="6d16d8e1c579a2a2" providerId="LiveId" clId="{D12268AF-0089-4496-83B3-D3201AEFBECA}" dt="2022-06-14T08:32:57.365" v="39" actId="478"/>
          <ac:spMkLst>
            <pc:docMk/>
            <pc:sldMk cId="2198543813" sldId="284"/>
            <ac:spMk id="33" creationId="{00000000-0000-0000-0000-000000000000}"/>
          </ac:spMkLst>
        </pc:spChg>
        <pc:spChg chg="del">
          <ac:chgData name="김 홍규" userId="6d16d8e1c579a2a2" providerId="LiveId" clId="{D12268AF-0089-4496-83B3-D3201AEFBECA}" dt="2022-06-14T08:32:57.365" v="39" actId="478"/>
          <ac:spMkLst>
            <pc:docMk/>
            <pc:sldMk cId="2198543813" sldId="284"/>
            <ac:spMk id="34" creationId="{00000000-0000-0000-0000-000000000000}"/>
          </ac:spMkLst>
        </pc:spChg>
        <pc:spChg chg="add mod">
          <ac:chgData name="김 홍규" userId="6d16d8e1c579a2a2" providerId="LiveId" clId="{D12268AF-0089-4496-83B3-D3201AEFBECA}" dt="2022-06-14T09:37:35.058" v="229" actId="1036"/>
          <ac:spMkLst>
            <pc:docMk/>
            <pc:sldMk cId="2198543813" sldId="284"/>
            <ac:spMk id="35" creationId="{945C3D9A-4149-AEA0-BAE5-72E8754AFD67}"/>
          </ac:spMkLst>
        </pc:spChg>
        <pc:spChg chg="add mod">
          <ac:chgData name="김 홍규" userId="6d16d8e1c579a2a2" providerId="LiveId" clId="{D12268AF-0089-4496-83B3-D3201AEFBECA}" dt="2022-06-14T09:37:35.058" v="229" actId="1036"/>
          <ac:spMkLst>
            <pc:docMk/>
            <pc:sldMk cId="2198543813" sldId="284"/>
            <ac:spMk id="36" creationId="{AA0F7F3D-9B64-B105-A986-0D14B912DC52}"/>
          </ac:spMkLst>
        </pc:spChg>
        <pc:grpChg chg="del">
          <ac:chgData name="김 홍규" userId="6d16d8e1c579a2a2" providerId="LiveId" clId="{D12268AF-0089-4496-83B3-D3201AEFBECA}" dt="2022-06-14T08:33:03.426" v="42" actId="478"/>
          <ac:grpSpMkLst>
            <pc:docMk/>
            <pc:sldMk cId="2198543813" sldId="284"/>
            <ac:grpSpMk id="4" creationId="{00000000-0000-0000-0000-000000000000}"/>
          </ac:grpSpMkLst>
        </pc:grpChg>
        <pc:grpChg chg="del">
          <ac:chgData name="김 홍규" userId="6d16d8e1c579a2a2" providerId="LiveId" clId="{D12268AF-0089-4496-83B3-D3201AEFBECA}" dt="2022-06-14T08:33:05.937" v="45" actId="478"/>
          <ac:grpSpMkLst>
            <pc:docMk/>
            <pc:sldMk cId="2198543813" sldId="284"/>
            <ac:grpSpMk id="24" creationId="{00000000-0000-0000-0000-000000000000}"/>
          </ac:grpSpMkLst>
        </pc:grpChg>
        <pc:grpChg chg="del">
          <ac:chgData name="김 홍규" userId="6d16d8e1c579a2a2" providerId="LiveId" clId="{D12268AF-0089-4496-83B3-D3201AEFBECA}" dt="2022-06-14T08:33:00.264" v="40" actId="478"/>
          <ac:grpSpMkLst>
            <pc:docMk/>
            <pc:sldMk cId="2198543813" sldId="284"/>
            <ac:grpSpMk id="32" creationId="{00000000-0000-0000-0000-000000000000}"/>
          </ac:grpSpMkLst>
        </pc:grpChg>
      </pc:sldChg>
    </pc:docChg>
  </pc:docChgLst>
  <pc:docChgLst>
    <pc:chgData name="김 홍규" userId="6d16d8e1c579a2a2" providerId="Windows Live" clId="Web-{7D07154D-5E5A-47BF-91F6-1E8CA7EC5752}"/>
    <pc:docChg chg="addSld delSld">
      <pc:chgData name="김 홍규" userId="6d16d8e1c579a2a2" providerId="Windows Live" clId="Web-{7D07154D-5E5A-47BF-91F6-1E8CA7EC5752}" dt="2024-07-02T03:06:38.862" v="1"/>
      <pc:docMkLst>
        <pc:docMk/>
      </pc:docMkLst>
      <pc:sldChg chg="new del">
        <pc:chgData name="김 홍규" userId="6d16d8e1c579a2a2" providerId="Windows Live" clId="Web-{7D07154D-5E5A-47BF-91F6-1E8CA7EC5752}" dt="2024-07-02T03:06:38.862" v="1"/>
        <pc:sldMkLst>
          <pc:docMk/>
          <pc:sldMk cId="73738377" sldId="28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788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302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35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602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402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2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1356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011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295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78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223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50C75-4975-413F-8D88-25CA53818A10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1410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youtube.com/watch?v=M1e9nmmD3II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1drv.ms/u/s!AqKiecXh2BZti7p0TES8EgpPB9AxVQ?e=21EgRf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msdn.microsoft.com/ko-kr/library/windows/desktop/ms686908(v=vs.85).aspx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msdn.microsoft.com/en-us/library/windows/desktop/ms686927(v=vs.85).aspx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msdn.microsoft.com/en-us/library/windows/desktop/ms686946(v=vs.85).aspx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msdn.microsoft.com/en-us/library/windows/desktop/ms686946(v=vs.85).aspx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1drv.ms/u/s!AqKiecXh2BZti7pzYmcjhOvoXoUhfw?e=jyQ599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17600" y="11223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ko-KR" altLang="en-US" sz="9600" dirty="0" err="1"/>
              <a:t>스레드와</a:t>
            </a:r>
            <a:r>
              <a:rPr lang="ko-KR" altLang="en-US" sz="9600" dirty="0"/>
              <a:t> 동기화</a:t>
            </a:r>
          </a:p>
        </p:txBody>
      </p:sp>
      <p:sp>
        <p:nvSpPr>
          <p:cNvPr id="4" name="오른쪽 화살표 3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226550" y="5989419"/>
            <a:ext cx="2965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Ver. 3.0</a:t>
            </a:r>
          </a:p>
          <a:p>
            <a:pPr algn="r"/>
            <a:r>
              <a:rPr lang="en-US" altLang="ko-KR" dirty="0"/>
              <a:t>downkhg@gmail.com</a:t>
            </a:r>
          </a:p>
          <a:p>
            <a:pPr algn="r"/>
            <a:r>
              <a:rPr lang="ko-KR" altLang="en-US" dirty="0"/>
              <a:t>김홍규</a:t>
            </a:r>
          </a:p>
        </p:txBody>
      </p:sp>
    </p:spTree>
    <p:extLst>
      <p:ext uri="{BB962C8B-B14F-4D97-AF65-F5344CB8AC3E}">
        <p14:creationId xmlns:p14="http://schemas.microsoft.com/office/powerpoint/2010/main" val="234276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프로세스와 </a:t>
            </a:r>
            <a:r>
              <a:rPr lang="ko-KR" altLang="en-US" dirty="0" err="1"/>
              <a:t>스레드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프로세스</a:t>
            </a:r>
            <a:r>
              <a:rPr lang="en-US" altLang="ko-KR" b="1" dirty="0"/>
              <a:t>(Process)</a:t>
            </a:r>
            <a:br>
              <a:rPr lang="en-US" altLang="ko-KR" dirty="0"/>
            </a:br>
            <a:r>
              <a:rPr lang="ko-KR" altLang="en-US" dirty="0"/>
              <a:t>컴퓨터에서 반복적으로 실행되고 있는 컴퓨터 프로그램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프로그램 내에서 처리되고 있는 모든 행위다</a:t>
            </a:r>
            <a:r>
              <a:rPr lang="en-US" altLang="ko-KR" dirty="0"/>
              <a:t>.</a:t>
            </a:r>
          </a:p>
          <a:p>
            <a:r>
              <a:rPr lang="ko-KR" altLang="en-US" b="1" dirty="0" err="1"/>
              <a:t>스레드</a:t>
            </a:r>
            <a:r>
              <a:rPr lang="en-US" altLang="ko-KR" b="1" dirty="0"/>
              <a:t>(Thread)</a:t>
            </a:r>
            <a:br>
              <a:rPr lang="en-US" altLang="ko-KR" dirty="0"/>
            </a:br>
            <a:r>
              <a:rPr lang="ko-KR" altLang="en-US" dirty="0"/>
              <a:t>프로세스 안에서 실행되는 흐름의 단위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일반적인 프로그램은 한번에 반복만 수행할 수 있다</a:t>
            </a:r>
            <a:br>
              <a:rPr lang="en-US" altLang="ko-KR" dirty="0"/>
            </a:br>
            <a:r>
              <a:rPr lang="ko-KR" altLang="en-US" dirty="0" err="1"/>
              <a:t>스레드를</a:t>
            </a:r>
            <a:r>
              <a:rPr lang="ko-KR" altLang="en-US" dirty="0"/>
              <a:t> 이용하면 </a:t>
            </a:r>
            <a:r>
              <a:rPr lang="ko-KR" altLang="en-US" dirty="0" err="1"/>
              <a:t>반복문을</a:t>
            </a:r>
            <a:r>
              <a:rPr lang="ko-KR" altLang="en-US" dirty="0"/>
              <a:t> </a:t>
            </a:r>
            <a:r>
              <a:rPr lang="ko-KR" altLang="en-US" dirty="0" err="1"/>
              <a:t>스래드당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개씩 수행이 가능하다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419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/>
          <p:cNvGrpSpPr/>
          <p:nvPr/>
        </p:nvGrpSpPr>
        <p:grpSpPr>
          <a:xfrm>
            <a:off x="7953828" y="1759940"/>
            <a:ext cx="2634343" cy="4531220"/>
            <a:chOff x="7946571" y="1753466"/>
            <a:chExt cx="2634343" cy="4531220"/>
          </a:xfrm>
        </p:grpSpPr>
        <p:sp>
          <p:nvSpPr>
            <p:cNvPr id="21" name="직사각형 20"/>
            <p:cNvSpPr/>
            <p:nvPr/>
          </p:nvSpPr>
          <p:spPr>
            <a:xfrm>
              <a:off x="8483599" y="1753466"/>
              <a:ext cx="2097315" cy="453122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3" name="왼쪽 화살표 22"/>
            <p:cNvSpPr/>
            <p:nvPr/>
          </p:nvSpPr>
          <p:spPr>
            <a:xfrm>
              <a:off x="7946571" y="5313786"/>
              <a:ext cx="537028" cy="796906"/>
            </a:xfrm>
            <a:prstGeom prst="leftArrow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프로세스와 </a:t>
            </a:r>
            <a:r>
              <a:rPr lang="ko-KR" altLang="en-US" dirty="0" err="1"/>
              <a:t>스레드</a:t>
            </a:r>
            <a:endParaRPr lang="ko-KR" altLang="en-US" dirty="0"/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943429" y="1753466"/>
            <a:ext cx="3933372" cy="453122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3200" b="1" dirty="0"/>
              <a:t>프로세스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943429" y="2457409"/>
            <a:ext cx="3933372" cy="156166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1.</a:t>
            </a:r>
            <a:r>
              <a:rPr lang="ko-KR" altLang="en-US" b="1" dirty="0" err="1"/>
              <a:t>반복문</a:t>
            </a:r>
            <a:endParaRPr lang="ko-KR" altLang="en-US" b="1" dirty="0"/>
          </a:p>
        </p:txBody>
      </p:sp>
      <p:sp>
        <p:nvSpPr>
          <p:cNvPr id="9" name="직사각형 8"/>
          <p:cNvSpPr/>
          <p:nvPr/>
        </p:nvSpPr>
        <p:spPr>
          <a:xfrm>
            <a:off x="943429" y="4387631"/>
            <a:ext cx="3933372" cy="156166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2.</a:t>
            </a:r>
            <a:r>
              <a:rPr lang="ko-KR" altLang="en-US" b="1" dirty="0" err="1"/>
              <a:t>반복문</a:t>
            </a:r>
            <a:endParaRPr lang="ko-KR" altLang="en-US" b="1" dirty="0"/>
          </a:p>
        </p:txBody>
      </p:sp>
      <p:sp>
        <p:nvSpPr>
          <p:cNvPr id="15" name="아래쪽 화살표 14"/>
          <p:cNvSpPr/>
          <p:nvPr/>
        </p:nvSpPr>
        <p:spPr>
          <a:xfrm>
            <a:off x="2554517" y="3946506"/>
            <a:ext cx="682171" cy="523895"/>
          </a:xfrm>
          <a:prstGeom prst="down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6295571" y="1753466"/>
            <a:ext cx="2039257" cy="453122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3200" b="1" dirty="0"/>
              <a:t>프로세스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8654144" y="1913120"/>
            <a:ext cx="1781628" cy="419583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3200" b="1" dirty="0" err="1"/>
              <a:t>스레드</a:t>
            </a:r>
            <a:endParaRPr lang="ko-KR" altLang="en-US" sz="3200" b="1" dirty="0"/>
          </a:p>
        </p:txBody>
      </p:sp>
      <p:sp>
        <p:nvSpPr>
          <p:cNvPr id="19" name="직사각형 18"/>
          <p:cNvSpPr/>
          <p:nvPr/>
        </p:nvSpPr>
        <p:spPr>
          <a:xfrm>
            <a:off x="6295571" y="2457409"/>
            <a:ext cx="2039257" cy="156166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1.</a:t>
            </a:r>
            <a:r>
              <a:rPr lang="ko-KR" altLang="en-US" b="1" dirty="0" err="1"/>
              <a:t>반복문</a:t>
            </a:r>
            <a:endParaRPr lang="ko-KR" altLang="en-US" b="1" dirty="0"/>
          </a:p>
        </p:txBody>
      </p:sp>
      <p:sp>
        <p:nvSpPr>
          <p:cNvPr id="20" name="직사각형 19"/>
          <p:cNvSpPr/>
          <p:nvPr/>
        </p:nvSpPr>
        <p:spPr>
          <a:xfrm>
            <a:off x="8654143" y="2473481"/>
            <a:ext cx="1781630" cy="156166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2.</a:t>
            </a:r>
            <a:r>
              <a:rPr lang="ko-KR" altLang="en-US" b="1" dirty="0" err="1"/>
              <a:t>반복문</a:t>
            </a:r>
            <a:endParaRPr lang="ko-KR" alt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384631" y="6133282"/>
            <a:ext cx="52686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/>
              <a:t>반복문</a:t>
            </a:r>
            <a:r>
              <a:rPr lang="en-US" altLang="ko-KR" sz="2000" b="1" dirty="0"/>
              <a:t>1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실행후에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반복문</a:t>
            </a:r>
            <a:r>
              <a:rPr lang="en-US" altLang="ko-KR" sz="2000" b="1" dirty="0"/>
              <a:t>2 </a:t>
            </a:r>
            <a:r>
              <a:rPr lang="ko-KR" altLang="en-US" sz="2000" b="1" dirty="0"/>
              <a:t>를 </a:t>
            </a:r>
            <a:r>
              <a:rPr lang="ko-KR" altLang="en-US" sz="2000" b="1" dirty="0" err="1"/>
              <a:t>실행할수있다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5874661" y="6128173"/>
            <a:ext cx="52686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/>
              <a:t>반복문</a:t>
            </a:r>
            <a:r>
              <a:rPr lang="en-US" altLang="ko-KR" sz="2000" b="1" dirty="0"/>
              <a:t>1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실행중에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반복문</a:t>
            </a:r>
            <a:r>
              <a:rPr lang="en-US" altLang="ko-KR" sz="2000" b="1" dirty="0"/>
              <a:t>2 </a:t>
            </a:r>
            <a:r>
              <a:rPr lang="ko-KR" altLang="en-US" sz="2000" b="1" dirty="0"/>
              <a:t>를 </a:t>
            </a:r>
            <a:r>
              <a:rPr lang="ko-KR" altLang="en-US" sz="2000" b="1" dirty="0" err="1"/>
              <a:t>실행할수있다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27" name="제목 1"/>
          <p:cNvSpPr txBox="1">
            <a:spLocks/>
          </p:cNvSpPr>
          <p:nvPr/>
        </p:nvSpPr>
        <p:spPr>
          <a:xfrm>
            <a:off x="838200" y="324776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/>
              <a:t>스레드를</a:t>
            </a:r>
            <a:r>
              <a:rPr lang="ko-KR" altLang="en-US" dirty="0"/>
              <a:t> 이용하면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동시에 데이터를 처리할 수 </a:t>
            </a:r>
            <a:r>
              <a:rPr lang="ko-KR" altLang="en-US" dirty="0" err="1"/>
              <a:t>있게된다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606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0"/>
                            </p:stCondLst>
                            <p:childTnLst>
                              <p:par>
                                <p:cTn id="6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3" grpId="0" animBg="1"/>
      <p:bldP spid="7" grpId="0" animBg="1"/>
      <p:bldP spid="9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5" grpId="0"/>
      <p:bldP spid="2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운영체제와 어플리케이션</a:t>
            </a:r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E335545-7E03-4609-9B2E-DB546820239C}"/>
              </a:ext>
            </a:extLst>
          </p:cNvPr>
          <p:cNvSpPr/>
          <p:nvPr/>
        </p:nvSpPr>
        <p:spPr>
          <a:xfrm>
            <a:off x="1583871" y="5157106"/>
            <a:ext cx="8727621" cy="914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운영체제</a:t>
            </a:r>
            <a:r>
              <a:rPr lang="en-US" altLang="ko-KR" dirty="0"/>
              <a:t>(</a:t>
            </a:r>
            <a:r>
              <a:rPr lang="ko-KR" altLang="en-US" dirty="0"/>
              <a:t>프로세스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7E43BA-5F5F-4F42-B9D9-5B7E22103D1B}"/>
              </a:ext>
            </a:extLst>
          </p:cNvPr>
          <p:cNvSpPr/>
          <p:nvPr/>
        </p:nvSpPr>
        <p:spPr>
          <a:xfrm>
            <a:off x="1583870" y="4109356"/>
            <a:ext cx="2826205" cy="914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문서 앱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스레드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2E11B4C-A4D5-4965-B21B-A92B57CED13B}"/>
              </a:ext>
            </a:extLst>
          </p:cNvPr>
          <p:cNvSpPr/>
          <p:nvPr/>
        </p:nvSpPr>
        <p:spPr>
          <a:xfrm>
            <a:off x="4534578" y="4109356"/>
            <a:ext cx="2826205" cy="914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브라우저 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6E29913-B2CA-4ED1-B42C-9032A3CB15B6}"/>
              </a:ext>
            </a:extLst>
          </p:cNvPr>
          <p:cNvSpPr/>
          <p:nvPr/>
        </p:nvSpPr>
        <p:spPr>
          <a:xfrm>
            <a:off x="7485286" y="4109356"/>
            <a:ext cx="2826205" cy="914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메신저 앱</a:t>
            </a: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873EDF64-6709-4391-A7C6-BA0E75A14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23020"/>
          </a:xfrm>
        </p:spPr>
        <p:txBody>
          <a:bodyPr/>
          <a:lstStyle/>
          <a:p>
            <a:r>
              <a:rPr lang="ko-KR" altLang="en-US" b="1" dirty="0" err="1"/>
              <a:t>멀티테스킹</a:t>
            </a:r>
            <a:r>
              <a:rPr lang="en-US" altLang="ko-KR" b="1" dirty="0"/>
              <a:t>(Multi-tasking)</a:t>
            </a:r>
            <a:br>
              <a:rPr lang="en-US" altLang="ko-KR" dirty="0"/>
            </a:br>
            <a:r>
              <a:rPr lang="ko-KR" altLang="en-US" dirty="0" err="1"/>
              <a:t>여러가지작업</a:t>
            </a:r>
            <a:r>
              <a:rPr lang="en-US" altLang="ko-KR" dirty="0"/>
              <a:t>(</a:t>
            </a:r>
            <a:r>
              <a:rPr lang="ko-KR" altLang="en-US" dirty="0"/>
              <a:t>앱</a:t>
            </a:r>
            <a:r>
              <a:rPr lang="en-US" altLang="ko-KR" dirty="0"/>
              <a:t>)</a:t>
            </a:r>
            <a:r>
              <a:rPr lang="ko-KR" altLang="en-US" dirty="0"/>
              <a:t>을 동시에 수행하여 처리하는 것</a:t>
            </a:r>
            <a:r>
              <a:rPr lang="en-US" altLang="ko-KR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4061ED-FB0B-4A94-9FB4-E4F1DC158654}"/>
              </a:ext>
            </a:extLst>
          </p:cNvPr>
          <p:cNvSpPr txBox="1"/>
          <p:nvPr/>
        </p:nvSpPr>
        <p:spPr>
          <a:xfrm>
            <a:off x="5947680" y="2748644"/>
            <a:ext cx="474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※ ex) </a:t>
            </a:r>
            <a:r>
              <a:rPr lang="ko-KR" altLang="en-US" dirty="0">
                <a:solidFill>
                  <a:srgbClr val="FF0000"/>
                </a:solidFill>
              </a:rPr>
              <a:t>유튜브를 시청하면서 게임을 한다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06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19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스레드를</a:t>
            </a:r>
            <a:r>
              <a:rPr lang="ko-KR" altLang="en-US" dirty="0"/>
              <a:t> 이용한 </a:t>
            </a:r>
            <a:r>
              <a:rPr lang="en-US" altLang="ko-KR" dirty="0" err="1"/>
              <a:t>WinAPI</a:t>
            </a:r>
            <a:r>
              <a:rPr lang="ko-KR" altLang="en-US" dirty="0"/>
              <a:t>데모 만들기</a:t>
            </a:r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10873"/>
          </a:xfrm>
        </p:spPr>
        <p:txBody>
          <a:bodyPr/>
          <a:lstStyle/>
          <a:p>
            <a:r>
              <a:rPr lang="ko-KR" altLang="en-US" dirty="0"/>
              <a:t>입력을 순서대로 저장하는 </a:t>
            </a:r>
            <a:r>
              <a:rPr lang="ko-KR" altLang="en-US" dirty="0" err="1"/>
              <a:t>메세지큐</a:t>
            </a:r>
            <a:r>
              <a:rPr lang="ko-KR" altLang="en-US" dirty="0"/>
              <a:t> 만들기</a:t>
            </a:r>
            <a:endParaRPr lang="en-US" altLang="ko-KR" dirty="0"/>
          </a:p>
          <a:p>
            <a:r>
              <a:rPr lang="ko-KR" altLang="en-US" dirty="0" err="1"/>
              <a:t>스레드에서</a:t>
            </a:r>
            <a:r>
              <a:rPr lang="ko-KR" altLang="en-US" dirty="0"/>
              <a:t> </a:t>
            </a:r>
            <a:r>
              <a:rPr lang="ko-KR" altLang="en-US" dirty="0" err="1"/>
              <a:t>메세지큐에서</a:t>
            </a:r>
            <a:r>
              <a:rPr lang="ko-KR" altLang="en-US" dirty="0"/>
              <a:t> 메시지를 </a:t>
            </a:r>
            <a:r>
              <a:rPr lang="en-US" altLang="ko-KR" dirty="0"/>
              <a:t>1</a:t>
            </a:r>
            <a:r>
              <a:rPr lang="ko-KR" altLang="en-US" dirty="0"/>
              <a:t>개씩 출력하기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400961" y="3238150"/>
            <a:ext cx="4655891" cy="130029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dirty="0"/>
              <a:t>프로세스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552755" y="3917659"/>
            <a:ext cx="4399471" cy="53689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데이터 입력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400961" y="4840447"/>
            <a:ext cx="4655891" cy="11492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dirty="0" err="1"/>
              <a:t>스레드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529170" y="5250796"/>
            <a:ext cx="4399471" cy="62149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메시지 처리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552755" y="3586293"/>
            <a:ext cx="4399471" cy="26844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 err="1"/>
              <a:t>메세지큐</a:t>
            </a:r>
            <a:endParaRPr lang="ko-KR" altLang="en-US" dirty="0"/>
          </a:p>
        </p:txBody>
      </p:sp>
      <p:sp>
        <p:nvSpPr>
          <p:cNvPr id="10" name="위쪽 화살표 9"/>
          <p:cNvSpPr/>
          <p:nvPr/>
        </p:nvSpPr>
        <p:spPr>
          <a:xfrm>
            <a:off x="4773335" y="3697447"/>
            <a:ext cx="293615" cy="314588"/>
          </a:xfrm>
          <a:prstGeom prst="up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" name="아래쪽 화살표 11"/>
          <p:cNvSpPr/>
          <p:nvPr/>
        </p:nvSpPr>
        <p:spPr>
          <a:xfrm>
            <a:off x="2432807" y="3760365"/>
            <a:ext cx="251670" cy="1801179"/>
          </a:xfrm>
          <a:prstGeom prst="down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3" name="Picture 5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9969" y="5935523"/>
            <a:ext cx="702128" cy="70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9062098" y="5958662"/>
            <a:ext cx="2950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바람직한 </a:t>
            </a:r>
            <a:r>
              <a:rPr lang="ko-KR" altLang="en-US" b="1" dirty="0" err="1">
                <a:solidFill>
                  <a:srgbClr val="FF0000"/>
                </a:solidFill>
              </a:rPr>
              <a:t>멀티스레딩</a:t>
            </a:r>
            <a:r>
              <a:rPr lang="ko-KR" altLang="en-US" b="1" dirty="0">
                <a:solidFill>
                  <a:srgbClr val="FF0000"/>
                </a:solidFill>
              </a:rPr>
              <a:t> 구조</a:t>
            </a:r>
            <a:endParaRPr lang="en-US" altLang="ko-KR" b="1" dirty="0">
              <a:solidFill>
                <a:srgbClr val="FF0000"/>
              </a:solidFill>
            </a:endParaRPr>
          </a:p>
          <a:p>
            <a:r>
              <a:rPr lang="ko-KR" altLang="en-US" b="1" dirty="0" err="1">
                <a:solidFill>
                  <a:srgbClr val="FF0000"/>
                </a:solidFill>
              </a:rPr>
              <a:t>유튜브링크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– </a:t>
            </a:r>
            <a:r>
              <a:rPr lang="ko-KR" altLang="en-US" b="1" dirty="0" err="1">
                <a:solidFill>
                  <a:srgbClr val="FF0000"/>
                </a:solidFill>
              </a:rPr>
              <a:t>포프</a:t>
            </a:r>
            <a:r>
              <a:rPr lang="en-US" altLang="ko-KR" b="1" dirty="0">
                <a:solidFill>
                  <a:srgbClr val="FF0000"/>
                </a:solidFill>
              </a:rPr>
              <a:t>TV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10195155" y="1398217"/>
            <a:ext cx="1217912" cy="1152658"/>
            <a:chOff x="6685716" y="3420533"/>
            <a:chExt cx="1674253" cy="1584549"/>
          </a:xfrm>
        </p:grpSpPr>
        <p:sp>
          <p:nvSpPr>
            <p:cNvPr id="11" name="아래쪽 화살표 10">
              <a:hlinkClick r:id="rId4"/>
            </p:cNvPr>
            <p:cNvSpPr/>
            <p:nvPr/>
          </p:nvSpPr>
          <p:spPr>
            <a:xfrm>
              <a:off x="6685716" y="3420533"/>
              <a:ext cx="1674253" cy="1185988"/>
            </a:xfrm>
            <a:prstGeom prst="downArrow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6801344" y="4747305"/>
              <a:ext cx="1558625" cy="257777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0127422" y="2550875"/>
            <a:ext cx="1471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WinAPI</a:t>
            </a:r>
            <a:r>
              <a:rPr lang="ko-KR" altLang="en-US" dirty="0"/>
              <a:t>데모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F314777-1232-460A-BE94-BFA23841A701}"/>
              </a:ext>
            </a:extLst>
          </p:cNvPr>
          <p:cNvGrpSpPr/>
          <p:nvPr/>
        </p:nvGrpSpPr>
        <p:grpSpPr>
          <a:xfrm>
            <a:off x="7278691" y="3076225"/>
            <a:ext cx="2751134" cy="2029029"/>
            <a:chOff x="8897356" y="3275674"/>
            <a:chExt cx="2751134" cy="2029029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FAD76D1D-66DB-402D-915C-38B40BFB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17192" y="3294928"/>
              <a:ext cx="2724150" cy="2009775"/>
            </a:xfrm>
            <a:prstGeom prst="rect">
              <a:avLst/>
            </a:prstGeom>
          </p:spPr>
        </p:pic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33FFD10B-3D6B-4C9B-AC45-713AF75145BA}"/>
                </a:ext>
              </a:extLst>
            </p:cNvPr>
            <p:cNvSpPr/>
            <p:nvPr/>
          </p:nvSpPr>
          <p:spPr>
            <a:xfrm>
              <a:off x="8917192" y="3760365"/>
              <a:ext cx="2731298" cy="279553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000" dirty="0"/>
                <a:t>입력</a:t>
              </a:r>
              <a:r>
                <a:rPr lang="en-US" altLang="ko-KR" sz="1000" dirty="0"/>
                <a:t>-</a:t>
              </a:r>
              <a:r>
                <a:rPr lang="ko-KR" altLang="en-US" sz="1000" dirty="0"/>
                <a:t>처리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DD07E342-BB1E-4B3E-A23E-E0ED490F31EE}"/>
                </a:ext>
              </a:extLst>
            </p:cNvPr>
            <p:cNvSpPr/>
            <p:nvPr/>
          </p:nvSpPr>
          <p:spPr>
            <a:xfrm>
              <a:off x="8917192" y="3275674"/>
              <a:ext cx="2727744" cy="310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000" dirty="0"/>
                <a:t>입력</a:t>
              </a:r>
              <a:r>
                <a:rPr lang="en-US" altLang="ko-KR" sz="1000" dirty="0"/>
                <a:t>-</a:t>
              </a:r>
              <a:r>
                <a:rPr lang="ko-KR" altLang="en-US" sz="1000" dirty="0"/>
                <a:t>처리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3F92B4E4-6B9E-4D37-A4CB-7AAB8501CF8D}"/>
                </a:ext>
              </a:extLst>
            </p:cNvPr>
            <p:cNvSpPr/>
            <p:nvPr/>
          </p:nvSpPr>
          <p:spPr>
            <a:xfrm>
              <a:off x="8897356" y="4349220"/>
              <a:ext cx="2724150" cy="344657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/>
                <a:t>입력</a:t>
              </a:r>
              <a:r>
                <a:rPr lang="en-US" altLang="ko-KR" dirty="0"/>
                <a:t>-</a:t>
              </a:r>
              <a:r>
                <a:rPr lang="ko-KR" altLang="en-US" dirty="0"/>
                <a:t>처리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21EA5A1-8B6F-4869-98E0-F4B943146D05}"/>
                </a:ext>
              </a:extLst>
            </p:cNvPr>
            <p:cNvSpPr/>
            <p:nvPr/>
          </p:nvSpPr>
          <p:spPr>
            <a:xfrm>
              <a:off x="8913598" y="4980040"/>
              <a:ext cx="2724150" cy="30828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/>
                <a:t>입력</a:t>
              </a:r>
              <a:r>
                <a:rPr lang="en-US" altLang="ko-KR" dirty="0"/>
                <a:t>-</a:t>
              </a:r>
              <a:r>
                <a:rPr lang="ko-KR" altLang="en-US" dirty="0"/>
                <a:t>처리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BBA6A910-E579-422C-A59F-93B9D78490CA}"/>
                </a:ext>
              </a:extLst>
            </p:cNvPr>
            <p:cNvSpPr/>
            <p:nvPr/>
          </p:nvSpPr>
          <p:spPr>
            <a:xfrm>
              <a:off x="8897356" y="4160467"/>
              <a:ext cx="2724150" cy="188753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000" dirty="0"/>
                <a:t>입력</a:t>
              </a:r>
              <a:r>
                <a:rPr lang="en-US" altLang="ko-KR" sz="1000" dirty="0"/>
                <a:t>-</a:t>
              </a:r>
              <a:r>
                <a:rPr lang="ko-KR" altLang="en-US" sz="1000" dirty="0"/>
                <a:t>처리불가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232DDC9B-9077-4C0E-BFC6-09A9CECCCF0D}"/>
                </a:ext>
              </a:extLst>
            </p:cNvPr>
            <p:cNvSpPr/>
            <p:nvPr/>
          </p:nvSpPr>
          <p:spPr>
            <a:xfrm>
              <a:off x="8897356" y="4791287"/>
              <a:ext cx="2743986" cy="188753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000" dirty="0"/>
                <a:t>입력</a:t>
              </a:r>
              <a:r>
                <a:rPr lang="en-US" altLang="ko-KR" sz="1000" dirty="0"/>
                <a:t>-</a:t>
              </a:r>
              <a:r>
                <a:rPr lang="ko-KR" altLang="en-US" sz="1000" dirty="0"/>
                <a:t>처리불가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F98AE44F-9CF9-4B85-965D-2944DEFBE08C}"/>
              </a:ext>
            </a:extLst>
          </p:cNvPr>
          <p:cNvGrpSpPr/>
          <p:nvPr/>
        </p:nvGrpSpPr>
        <p:grpSpPr>
          <a:xfrm>
            <a:off x="7147844" y="5104239"/>
            <a:ext cx="3110583" cy="646331"/>
            <a:chOff x="5999703" y="5339914"/>
            <a:chExt cx="3110583" cy="646331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D6A9A78D-69C1-41DD-A5B7-18B80C3C890B}"/>
                </a:ext>
              </a:extLst>
            </p:cNvPr>
            <p:cNvGrpSpPr/>
            <p:nvPr/>
          </p:nvGrpSpPr>
          <p:grpSpPr>
            <a:xfrm>
              <a:off x="5999703" y="5339914"/>
              <a:ext cx="3110583" cy="646331"/>
              <a:chOff x="6333074" y="5339914"/>
              <a:chExt cx="3803668" cy="646331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8659C81-5D34-46E5-83CE-9C48DE2186C8}"/>
                  </a:ext>
                </a:extLst>
              </p:cNvPr>
              <p:cNvSpPr txBox="1"/>
              <p:nvPr/>
            </p:nvSpPr>
            <p:spPr>
              <a:xfrm>
                <a:off x="6333074" y="5339914"/>
                <a:ext cx="380366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 </a:t>
                </a:r>
                <a:r>
                  <a:rPr lang="ko-KR" altLang="en-US" dirty="0"/>
                  <a:t>메시지는 처리되지만</a:t>
                </a:r>
                <a:r>
                  <a:rPr lang="en-US" altLang="ko-KR" dirty="0"/>
                  <a:t>, </a:t>
                </a:r>
                <a:br>
                  <a:rPr lang="en-US" altLang="ko-KR" dirty="0"/>
                </a:br>
                <a:r>
                  <a:rPr lang="en-US" altLang="ko-KR" dirty="0"/>
                  <a:t> </a:t>
                </a:r>
                <a:r>
                  <a:rPr lang="ko-KR" altLang="en-US" dirty="0"/>
                  <a:t>메시지는 처리되지 않는다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BE378D50-AEC1-41F7-83F3-3552D5135791}"/>
                  </a:ext>
                </a:extLst>
              </p:cNvPr>
              <p:cNvSpPr/>
              <p:nvPr/>
            </p:nvSpPr>
            <p:spPr>
              <a:xfrm>
                <a:off x="6511969" y="5658405"/>
                <a:ext cx="911057" cy="250053"/>
              </a:xfrm>
              <a:prstGeom prst="rect">
                <a:avLst/>
              </a:prstGeom>
              <a:solidFill>
                <a:srgbClr val="FF0000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3F9AAA73-254C-448E-B216-48D23AD49F30}"/>
                </a:ext>
              </a:extLst>
            </p:cNvPr>
            <p:cNvSpPr/>
            <p:nvPr/>
          </p:nvSpPr>
          <p:spPr>
            <a:xfrm>
              <a:off x="6145998" y="5398970"/>
              <a:ext cx="702128" cy="230548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2207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메시지 큐의 장점</a:t>
            </a:r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6697909" y="2429294"/>
            <a:ext cx="4655891" cy="130029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dirty="0"/>
              <a:t>프로세스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6849703" y="3108803"/>
            <a:ext cx="4399471" cy="53689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데이터 입력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6697909" y="4031591"/>
            <a:ext cx="4655891" cy="11492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dirty="0" err="1"/>
              <a:t>스레드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826118" y="4441940"/>
            <a:ext cx="4399471" cy="62149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메시지 처리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849703" y="2777437"/>
            <a:ext cx="4399471" cy="268448"/>
          </a:xfrm>
          <a:prstGeom prst="rect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dirty="0"/>
              <a:t>큐</a:t>
            </a:r>
          </a:p>
        </p:txBody>
      </p:sp>
      <p:sp>
        <p:nvSpPr>
          <p:cNvPr id="12" name="아래쪽 화살표 11"/>
          <p:cNvSpPr/>
          <p:nvPr/>
        </p:nvSpPr>
        <p:spPr>
          <a:xfrm>
            <a:off x="7543716" y="3033074"/>
            <a:ext cx="251670" cy="1801179"/>
          </a:xfrm>
          <a:prstGeom prst="downArrow">
            <a:avLst/>
          </a:prstGeom>
          <a:solidFill>
            <a:srgbClr val="00B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1" name="그룹 30"/>
          <p:cNvGrpSpPr/>
          <p:nvPr/>
        </p:nvGrpSpPr>
        <p:grpSpPr>
          <a:xfrm>
            <a:off x="587440" y="2447081"/>
            <a:ext cx="1630850" cy="2751589"/>
            <a:chOff x="6107170" y="2454712"/>
            <a:chExt cx="4655891" cy="2751589"/>
          </a:xfrm>
        </p:grpSpPr>
        <p:sp>
          <p:nvSpPr>
            <p:cNvPr id="19" name="직사각형 18"/>
            <p:cNvSpPr/>
            <p:nvPr/>
          </p:nvSpPr>
          <p:spPr>
            <a:xfrm>
              <a:off x="6107170" y="2454712"/>
              <a:ext cx="4655891" cy="130029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dirty="0"/>
                <a:t>프로세스</a:t>
              </a: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6258964" y="3134221"/>
              <a:ext cx="4399471" cy="53689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/>
                <a:t>데이터 입력</a:t>
              </a:r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6107170" y="4057009"/>
              <a:ext cx="4655891" cy="114929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dirty="0" err="1"/>
                <a:t>스레드</a:t>
              </a:r>
              <a:endParaRPr lang="ko-KR" altLang="en-US" dirty="0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6235379" y="4467358"/>
              <a:ext cx="4399471" cy="621497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/>
                <a:t>메시지 처리</a:t>
              </a: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6269043" y="2802855"/>
              <a:ext cx="4389392" cy="268448"/>
            </a:xfrm>
            <a:prstGeom prst="rect">
              <a:avLst/>
            </a:prstGeom>
            <a:solidFill>
              <a:srgbClr val="92D05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/>
                <a:t>메시지</a:t>
              </a:r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24" name="위쪽 화살표 23"/>
            <p:cNvSpPr/>
            <p:nvPr/>
          </p:nvSpPr>
          <p:spPr>
            <a:xfrm>
              <a:off x="10253761" y="2971884"/>
              <a:ext cx="293614" cy="314588"/>
            </a:xfrm>
            <a:prstGeom prst="upArrow">
              <a:avLst/>
            </a:prstGeom>
            <a:solidFill>
              <a:srgbClr val="FF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5" name="아래쪽 화살표 24"/>
            <p:cNvSpPr/>
            <p:nvPr/>
          </p:nvSpPr>
          <p:spPr>
            <a:xfrm>
              <a:off x="6353912" y="2976927"/>
              <a:ext cx="251670" cy="1801179"/>
            </a:xfrm>
            <a:prstGeom prst="downArrow">
              <a:avLst/>
            </a:prstGeom>
            <a:solidFill>
              <a:srgbClr val="00B05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26" name="직사각형 25"/>
          <p:cNvSpPr/>
          <p:nvPr/>
        </p:nvSpPr>
        <p:spPr>
          <a:xfrm>
            <a:off x="7220220" y="2779133"/>
            <a:ext cx="957351" cy="268448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dirty="0"/>
              <a:t>메시지</a:t>
            </a:r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8" name="직사각형 27"/>
          <p:cNvSpPr/>
          <p:nvPr/>
        </p:nvSpPr>
        <p:spPr>
          <a:xfrm>
            <a:off x="8207345" y="2776410"/>
            <a:ext cx="959521" cy="268448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dirty="0"/>
              <a:t>메시지</a:t>
            </a:r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9" name="직사각형 28"/>
          <p:cNvSpPr/>
          <p:nvPr/>
        </p:nvSpPr>
        <p:spPr>
          <a:xfrm>
            <a:off x="9208811" y="2769405"/>
            <a:ext cx="967440" cy="268448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dirty="0"/>
              <a:t>메시지</a:t>
            </a:r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30" name="직사각형 29"/>
          <p:cNvSpPr/>
          <p:nvPr/>
        </p:nvSpPr>
        <p:spPr>
          <a:xfrm>
            <a:off x="10227742" y="2764626"/>
            <a:ext cx="933154" cy="268448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dirty="0"/>
              <a:t>메시지</a:t>
            </a:r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10" name="위쪽 화살표 9"/>
          <p:cNvSpPr/>
          <p:nvPr/>
        </p:nvSpPr>
        <p:spPr>
          <a:xfrm>
            <a:off x="10634488" y="2888591"/>
            <a:ext cx="293615" cy="314588"/>
          </a:xfrm>
          <a:prstGeom prst="upArrow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2" name="그룹 31"/>
          <p:cNvGrpSpPr/>
          <p:nvPr/>
        </p:nvGrpSpPr>
        <p:grpSpPr>
          <a:xfrm>
            <a:off x="2384630" y="2429294"/>
            <a:ext cx="1689759" cy="2751589"/>
            <a:chOff x="6107170" y="2454712"/>
            <a:chExt cx="4655891" cy="2751589"/>
          </a:xfrm>
        </p:grpSpPr>
        <p:sp>
          <p:nvSpPr>
            <p:cNvPr id="33" name="직사각형 32"/>
            <p:cNvSpPr/>
            <p:nvPr/>
          </p:nvSpPr>
          <p:spPr>
            <a:xfrm>
              <a:off x="6107170" y="2454712"/>
              <a:ext cx="4655891" cy="130029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dirty="0"/>
                <a:t>프로세스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6258964" y="3134221"/>
              <a:ext cx="4399471" cy="53689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/>
                <a:t>데이터 입력</a:t>
              </a:r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6107170" y="4057009"/>
              <a:ext cx="4655891" cy="1149292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dirty="0" err="1"/>
                <a:t>스레드</a:t>
              </a:r>
              <a:endParaRPr lang="ko-KR" altLang="en-US" dirty="0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6235379" y="4467358"/>
              <a:ext cx="4399471" cy="621497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dirty="0"/>
                <a:t>Sleep</a:t>
              </a:r>
              <a:endParaRPr lang="ko-KR" altLang="en-US" dirty="0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6269043" y="2802855"/>
              <a:ext cx="4389392" cy="268448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/>
                <a:t>메시지</a:t>
              </a:r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38" name="위쪽 화살표 37"/>
            <p:cNvSpPr/>
            <p:nvPr/>
          </p:nvSpPr>
          <p:spPr>
            <a:xfrm>
              <a:off x="10055488" y="2914009"/>
              <a:ext cx="293614" cy="314588"/>
            </a:xfrm>
            <a:prstGeom prst="upArrow">
              <a:avLst/>
            </a:prstGeom>
            <a:solidFill>
              <a:srgbClr val="FF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4158833" y="2440410"/>
            <a:ext cx="1630850" cy="2751589"/>
            <a:chOff x="6107170" y="2454712"/>
            <a:chExt cx="4655891" cy="2751589"/>
          </a:xfrm>
        </p:grpSpPr>
        <p:sp>
          <p:nvSpPr>
            <p:cNvPr id="41" name="직사각형 40"/>
            <p:cNvSpPr/>
            <p:nvPr/>
          </p:nvSpPr>
          <p:spPr>
            <a:xfrm>
              <a:off x="6107170" y="2454712"/>
              <a:ext cx="4655891" cy="130029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dirty="0"/>
                <a:t>프로세스</a:t>
              </a: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6258964" y="3134221"/>
              <a:ext cx="4399471" cy="53689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/>
                <a:t>데이터 입력</a:t>
              </a:r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6107170" y="4057009"/>
              <a:ext cx="4655891" cy="114929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dirty="0" err="1"/>
                <a:t>스레드</a:t>
              </a:r>
              <a:endParaRPr lang="ko-KR" altLang="en-US" dirty="0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6235379" y="4467358"/>
              <a:ext cx="4399471" cy="621497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/>
                <a:t>메시지 처리</a:t>
              </a: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6269043" y="2802855"/>
              <a:ext cx="4389392" cy="268448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/>
                <a:t>메시지</a:t>
              </a:r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46" name="위쪽 화살표 45"/>
            <p:cNvSpPr/>
            <p:nvPr/>
          </p:nvSpPr>
          <p:spPr>
            <a:xfrm>
              <a:off x="10253761" y="2971884"/>
              <a:ext cx="293614" cy="314588"/>
            </a:xfrm>
            <a:prstGeom prst="upArrow">
              <a:avLst/>
            </a:prstGeom>
            <a:solidFill>
              <a:srgbClr val="FF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7" name="아래쪽 화살표 46"/>
            <p:cNvSpPr/>
            <p:nvPr/>
          </p:nvSpPr>
          <p:spPr>
            <a:xfrm>
              <a:off x="6353912" y="2976927"/>
              <a:ext cx="251670" cy="1801179"/>
            </a:xfrm>
            <a:prstGeom prst="downArrow">
              <a:avLst/>
            </a:prstGeom>
            <a:solidFill>
              <a:srgbClr val="00B05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32349" y="5351447"/>
            <a:ext cx="55499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#</a:t>
            </a:r>
            <a:r>
              <a:rPr lang="ko-KR" altLang="en-US" b="1" dirty="0" err="1"/>
              <a:t>큐잉없이</a:t>
            </a:r>
            <a:r>
              <a:rPr lang="ko-KR" altLang="en-US" b="1" dirty="0"/>
              <a:t> 처리</a:t>
            </a:r>
            <a:br>
              <a:rPr lang="en-US" altLang="ko-KR" b="1" dirty="0"/>
            </a:br>
            <a:r>
              <a:rPr lang="ko-KR" altLang="en-US" dirty="0"/>
              <a:t>메시지 처리하기 전에 새로운 메시지 입력이   </a:t>
            </a:r>
            <a:br>
              <a:rPr lang="en-US" altLang="ko-KR" dirty="0"/>
            </a:br>
            <a:r>
              <a:rPr lang="ko-KR" altLang="en-US" dirty="0"/>
              <a:t>발생하면 메시지가 처리되지않는 현상이 발생함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6697909" y="5338627"/>
            <a:ext cx="51573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#</a:t>
            </a:r>
            <a:r>
              <a:rPr lang="ko-KR" altLang="en-US" b="1" dirty="0" err="1"/>
              <a:t>큐잉</a:t>
            </a:r>
            <a:br>
              <a:rPr lang="en-US" altLang="ko-KR" dirty="0"/>
            </a:br>
            <a:r>
              <a:rPr lang="ko-KR" altLang="en-US" dirty="0"/>
              <a:t>메시지를 </a:t>
            </a:r>
            <a:r>
              <a:rPr lang="ko-KR" altLang="en-US" dirty="0" err="1"/>
              <a:t>입력받아</a:t>
            </a:r>
            <a:r>
              <a:rPr lang="ko-KR" altLang="en-US" dirty="0"/>
              <a:t> 큐에 쌓아서 처리하므로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처리속도가 느리더라도 모든 메시지 </a:t>
            </a:r>
            <a:r>
              <a:rPr lang="ko-KR" altLang="en-US" dirty="0" err="1"/>
              <a:t>처리가능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11" name="오른쪽 화살표 10"/>
          <p:cNvSpPr/>
          <p:nvPr/>
        </p:nvSpPr>
        <p:spPr>
          <a:xfrm>
            <a:off x="587440" y="2002422"/>
            <a:ext cx="5202243" cy="289367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599015" y="2013991"/>
            <a:ext cx="4829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시간의 흐름</a:t>
            </a:r>
          </a:p>
        </p:txBody>
      </p:sp>
    </p:spTree>
    <p:extLst>
      <p:ext uri="{BB962C8B-B14F-4D97-AF65-F5344CB8AC3E}">
        <p14:creationId xmlns:p14="http://schemas.microsoft.com/office/powerpoint/2010/main" val="289949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스레드의</a:t>
            </a:r>
            <a:r>
              <a:rPr lang="ko-KR" altLang="en-US" dirty="0"/>
              <a:t> 장점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17461"/>
          </a:xfrm>
        </p:spPr>
        <p:txBody>
          <a:bodyPr/>
          <a:lstStyle/>
          <a:p>
            <a:r>
              <a:rPr lang="ko-KR" altLang="en-US" dirty="0" err="1"/>
              <a:t>스레드를</a:t>
            </a:r>
            <a:r>
              <a:rPr lang="ko-KR" altLang="en-US" dirty="0"/>
              <a:t> 이용하여 데이터를 처리하면</a:t>
            </a:r>
            <a:r>
              <a:rPr lang="en-US" altLang="ko-KR" dirty="0"/>
              <a:t>, </a:t>
            </a:r>
            <a:r>
              <a:rPr lang="ko-KR" altLang="en-US" dirty="0"/>
              <a:t>더 빠르게 결과물을 도출 할 수 있게 된다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스레드는</a:t>
            </a:r>
            <a:r>
              <a:rPr lang="ko-KR" altLang="en-US" dirty="0"/>
              <a:t> 프로세스 종속되어있으므로</a:t>
            </a:r>
            <a:r>
              <a:rPr lang="en-US" altLang="ko-KR" dirty="0"/>
              <a:t>, </a:t>
            </a:r>
            <a:r>
              <a:rPr lang="ko-KR" altLang="en-US" dirty="0"/>
              <a:t>데이터를 주고 받을 </a:t>
            </a:r>
            <a:r>
              <a:rPr lang="ko-KR" altLang="en-US" dirty="0" err="1"/>
              <a:t>필요없이</a:t>
            </a:r>
            <a:r>
              <a:rPr lang="ko-KR" altLang="en-US" dirty="0"/>
              <a:t> 서로 </a:t>
            </a:r>
            <a:r>
              <a:rPr lang="ko-KR" altLang="en-US" dirty="0" err="1"/>
              <a:t>접근가능하다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845459" y="39719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/>
              <a:t>스레드의</a:t>
            </a:r>
            <a:r>
              <a:rPr lang="ko-KR" altLang="en-US" dirty="0"/>
              <a:t> 단점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845459" y="5432416"/>
            <a:ext cx="10515600" cy="1817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스레드가</a:t>
            </a:r>
            <a:r>
              <a:rPr lang="ko-KR" altLang="en-US" dirty="0"/>
              <a:t> 같은 데이터를 동시에 처리</a:t>
            </a:r>
            <a:r>
              <a:rPr lang="en-US" altLang="ko-KR" dirty="0"/>
              <a:t>(</a:t>
            </a:r>
            <a:r>
              <a:rPr lang="ko-KR" altLang="en-US" dirty="0"/>
              <a:t>경쟁상태</a:t>
            </a:r>
            <a:r>
              <a:rPr lang="en-US" altLang="ko-KR" dirty="0"/>
              <a:t>)</a:t>
            </a:r>
            <a:r>
              <a:rPr lang="ko-KR" altLang="en-US" dirty="0"/>
              <a:t>되며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예기치않은</a:t>
            </a:r>
            <a:r>
              <a:rPr lang="ko-KR" altLang="en-US" dirty="0"/>
              <a:t> 문제를 발생된다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9" name="오른쪽 화살표 8"/>
          <p:cNvSpPr/>
          <p:nvPr/>
        </p:nvSpPr>
        <p:spPr>
          <a:xfrm>
            <a:off x="-11119562" y="3749480"/>
            <a:ext cx="11965021" cy="1770434"/>
          </a:xfrm>
          <a:prstGeom prst="rightArrow">
            <a:avLst/>
          </a:prstGeom>
          <a:solidFill>
            <a:srgbClr val="FF0000">
              <a:alpha val="50000"/>
            </a:srgb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675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 animBg="1"/>
      <p:bldP spid="7" grpId="0"/>
      <p:bldP spid="8" grpId="0" build="p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경쟁상태</a:t>
            </a:r>
            <a:r>
              <a:rPr lang="en-US" altLang="ko-KR" dirty="0"/>
              <a:t>(Race Condition)</a:t>
            </a:r>
            <a:endParaRPr lang="ko-KR" altLang="en-US" dirty="0"/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2924628" y="1776013"/>
            <a:ext cx="2634343" cy="4531220"/>
            <a:chOff x="7946571" y="1753466"/>
            <a:chExt cx="2634343" cy="4531220"/>
          </a:xfrm>
        </p:grpSpPr>
        <p:sp>
          <p:nvSpPr>
            <p:cNvPr id="8" name="직사각형 7"/>
            <p:cNvSpPr/>
            <p:nvPr/>
          </p:nvSpPr>
          <p:spPr>
            <a:xfrm>
              <a:off x="8483599" y="1753466"/>
              <a:ext cx="2097315" cy="453122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9" name="왼쪽 화살표 8"/>
            <p:cNvSpPr/>
            <p:nvPr/>
          </p:nvSpPr>
          <p:spPr>
            <a:xfrm>
              <a:off x="7946571" y="5313786"/>
              <a:ext cx="537028" cy="796906"/>
            </a:xfrm>
            <a:prstGeom prst="leftArrow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0" name="직사각형 9"/>
          <p:cNvSpPr/>
          <p:nvPr/>
        </p:nvSpPr>
        <p:spPr>
          <a:xfrm>
            <a:off x="1266371" y="1769539"/>
            <a:ext cx="2039257" cy="453122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3200" b="1" dirty="0"/>
              <a:t>프로세스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266371" y="2906174"/>
            <a:ext cx="2039257" cy="156166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1.</a:t>
            </a:r>
            <a:r>
              <a:rPr lang="ko-KR" altLang="en-US" b="1" dirty="0" err="1"/>
              <a:t>반복문</a:t>
            </a:r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r>
              <a:rPr lang="en-US" altLang="ko-KR" b="1" dirty="0" err="1"/>
              <a:t>nData</a:t>
            </a:r>
            <a:r>
              <a:rPr lang="en-US" altLang="ko-KR" b="1" dirty="0"/>
              <a:t>++</a:t>
            </a:r>
            <a:endParaRPr lang="ko-KR" altLang="en-US" b="1" dirty="0"/>
          </a:p>
        </p:txBody>
      </p:sp>
      <p:sp>
        <p:nvSpPr>
          <p:cNvPr id="12" name="직사각형 11"/>
          <p:cNvSpPr/>
          <p:nvPr/>
        </p:nvSpPr>
        <p:spPr>
          <a:xfrm>
            <a:off x="3461656" y="2922246"/>
            <a:ext cx="2097313" cy="156166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2.</a:t>
            </a:r>
            <a:r>
              <a:rPr lang="ko-KR" altLang="en-US" b="1" dirty="0" err="1"/>
              <a:t>반복문</a:t>
            </a:r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r>
              <a:rPr lang="en-US" altLang="ko-KR" b="1" dirty="0" err="1"/>
              <a:t>nData</a:t>
            </a:r>
            <a:r>
              <a:rPr lang="en-US" altLang="ko-KR" b="1" dirty="0"/>
              <a:t>++</a:t>
            </a:r>
            <a:endParaRPr lang="ko-KR" altLang="en-US" b="1" dirty="0"/>
          </a:p>
        </p:txBody>
      </p:sp>
      <p:sp>
        <p:nvSpPr>
          <p:cNvPr id="13" name="직사각형 12"/>
          <p:cNvSpPr/>
          <p:nvPr/>
        </p:nvSpPr>
        <p:spPr>
          <a:xfrm>
            <a:off x="1266371" y="2392136"/>
            <a:ext cx="2039257" cy="39188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nData</a:t>
            </a:r>
            <a:r>
              <a:rPr lang="en-US" altLang="ko-KR" dirty="0"/>
              <a:t> = 0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1266371" y="3498255"/>
            <a:ext cx="642889" cy="37750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1266371" y="4090337"/>
            <a:ext cx="642889" cy="37750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3475647" y="3514327"/>
            <a:ext cx="642889" cy="37750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3475646" y="4090337"/>
            <a:ext cx="642889" cy="37750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2662739" y="3514327"/>
            <a:ext cx="642889" cy="377505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23" name="직사각형 22"/>
          <p:cNvSpPr/>
          <p:nvPr/>
        </p:nvSpPr>
        <p:spPr>
          <a:xfrm>
            <a:off x="4916082" y="3514327"/>
            <a:ext cx="642889" cy="377505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2662739" y="4106409"/>
            <a:ext cx="642889" cy="377505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5" name="직사각형 24"/>
          <p:cNvSpPr/>
          <p:nvPr/>
        </p:nvSpPr>
        <p:spPr>
          <a:xfrm>
            <a:off x="4916081" y="4090337"/>
            <a:ext cx="642889" cy="377505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7" name="내용 개체 틀 2"/>
          <p:cNvSpPr>
            <a:spLocks noGrp="1"/>
          </p:cNvSpPr>
          <p:nvPr>
            <p:ph idx="1"/>
          </p:nvPr>
        </p:nvSpPr>
        <p:spPr>
          <a:xfrm>
            <a:off x="6035352" y="1776013"/>
            <a:ext cx="5842518" cy="11462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각각 </a:t>
            </a:r>
            <a:r>
              <a:rPr lang="en-US" altLang="ko-KR" dirty="0"/>
              <a:t>1</a:t>
            </a:r>
            <a:r>
              <a:rPr lang="ko-KR" altLang="en-US" dirty="0"/>
              <a:t>씩 증가</a:t>
            </a:r>
            <a:r>
              <a:rPr lang="en-US" altLang="ko-KR" dirty="0"/>
              <a:t> </a:t>
            </a:r>
            <a:r>
              <a:rPr lang="ko-KR" altLang="en-US" dirty="0"/>
              <a:t>합은 </a:t>
            </a:r>
            <a:r>
              <a:rPr lang="en-US" altLang="ko-KR" dirty="0"/>
              <a:t>2</a:t>
            </a:r>
            <a:r>
              <a:rPr lang="ko-KR" altLang="en-US" dirty="0"/>
              <a:t>가 증가</a:t>
            </a:r>
            <a:r>
              <a:rPr lang="en-US" altLang="ko-KR" dirty="0"/>
              <a:t>.</a:t>
            </a:r>
          </a:p>
        </p:txBody>
      </p:sp>
      <p:sp>
        <p:nvSpPr>
          <p:cNvPr id="29" name="내용 개체 틀 2"/>
          <p:cNvSpPr txBox="1">
            <a:spLocks/>
          </p:cNvSpPr>
          <p:nvPr/>
        </p:nvSpPr>
        <p:spPr>
          <a:xfrm>
            <a:off x="6075784" y="2973494"/>
            <a:ext cx="5842518" cy="10495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동시 데이터 접근</a:t>
            </a:r>
            <a:r>
              <a:rPr lang="en-US" altLang="ko-KR" dirty="0"/>
              <a:t>,</a:t>
            </a:r>
            <a:r>
              <a:rPr lang="ko-KR" altLang="en-US" dirty="0"/>
              <a:t> 값을 증가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 </a:t>
            </a:r>
            <a:r>
              <a:rPr lang="ko-KR" altLang="en-US" dirty="0"/>
              <a:t>즉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만 증가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54023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000"/>
                            </p:stCondLst>
                            <p:childTnLst>
                              <p:par>
                                <p:cTn id="8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2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5" grpId="0" animBg="1"/>
      <p:bldP spid="27" grpId="0" build="p"/>
      <p:bldP spid="29" grpId="0" build="p"/>
      <p:bldP spid="29" grpId="1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경쟁상태 사례</a:t>
            </a:r>
            <a:r>
              <a:rPr lang="en-US" altLang="ko-KR" dirty="0"/>
              <a:t>(Race Condition)</a:t>
            </a:r>
            <a:endParaRPr lang="ko-KR" altLang="en-US" dirty="0"/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6D16B8A-D047-4585-B9BA-8DB9967FC26D}"/>
              </a:ext>
            </a:extLst>
          </p:cNvPr>
          <p:cNvSpPr/>
          <p:nvPr/>
        </p:nvSpPr>
        <p:spPr>
          <a:xfrm>
            <a:off x="1338943" y="1831480"/>
            <a:ext cx="1779814" cy="13960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서버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4C39DC3-EE57-4645-A8A4-084C2A360629}"/>
              </a:ext>
            </a:extLst>
          </p:cNvPr>
          <p:cNvSpPr/>
          <p:nvPr/>
        </p:nvSpPr>
        <p:spPr>
          <a:xfrm>
            <a:off x="1583871" y="2392136"/>
            <a:ext cx="1281793" cy="69396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보스</a:t>
            </a:r>
            <a:r>
              <a:rPr lang="en-US" altLang="ko-KR" dirty="0"/>
              <a:t>HP</a:t>
            </a:r>
            <a:br>
              <a:rPr lang="en-US" altLang="ko-KR" dirty="0"/>
            </a:br>
            <a:r>
              <a:rPr lang="en-US" altLang="ko-KR" dirty="0"/>
              <a:t>100</a:t>
            </a:r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01EE964-BFDD-4B48-A0AB-823F9EA9C780}"/>
              </a:ext>
            </a:extLst>
          </p:cNvPr>
          <p:cNvSpPr/>
          <p:nvPr/>
        </p:nvSpPr>
        <p:spPr>
          <a:xfrm>
            <a:off x="355147" y="4212730"/>
            <a:ext cx="1779814" cy="13960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클라이언트</a:t>
            </a:r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7993583-3BEA-4FC9-BC02-15A305CA98C1}"/>
              </a:ext>
            </a:extLst>
          </p:cNvPr>
          <p:cNvSpPr/>
          <p:nvPr/>
        </p:nvSpPr>
        <p:spPr>
          <a:xfrm>
            <a:off x="2450645" y="4212730"/>
            <a:ext cx="1779814" cy="13960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클라이언트</a:t>
            </a:r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20" name="화살표: 위쪽 19">
            <a:extLst>
              <a:ext uri="{FF2B5EF4-FFF2-40B4-BE49-F238E27FC236}">
                <a16:creationId xmlns:a16="http://schemas.microsoft.com/office/drawing/2014/main" id="{1B9E864D-B990-4C70-81FE-6590238F3377}"/>
              </a:ext>
            </a:extLst>
          </p:cNvPr>
          <p:cNvSpPr/>
          <p:nvPr/>
        </p:nvSpPr>
        <p:spPr>
          <a:xfrm>
            <a:off x="1489981" y="3399022"/>
            <a:ext cx="473529" cy="642258"/>
          </a:xfrm>
          <a:prstGeom prst="up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화살표: 위쪽 33">
            <a:extLst>
              <a:ext uri="{FF2B5EF4-FFF2-40B4-BE49-F238E27FC236}">
                <a16:creationId xmlns:a16="http://schemas.microsoft.com/office/drawing/2014/main" id="{3567B853-59C0-4E9C-88B7-B6C478D4F4E7}"/>
              </a:ext>
            </a:extLst>
          </p:cNvPr>
          <p:cNvSpPr/>
          <p:nvPr/>
        </p:nvSpPr>
        <p:spPr>
          <a:xfrm>
            <a:off x="2539092" y="3399022"/>
            <a:ext cx="473529" cy="642258"/>
          </a:xfrm>
          <a:prstGeom prst="up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FCBFC14-4B7C-400B-A73F-CAB86B9F6885}"/>
              </a:ext>
            </a:extLst>
          </p:cNvPr>
          <p:cNvSpPr/>
          <p:nvPr/>
        </p:nvSpPr>
        <p:spPr>
          <a:xfrm>
            <a:off x="5614308" y="1831480"/>
            <a:ext cx="1779814" cy="13960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서버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C393242-2F5E-41A9-9386-A9269BD311DE}"/>
              </a:ext>
            </a:extLst>
          </p:cNvPr>
          <p:cNvSpPr/>
          <p:nvPr/>
        </p:nvSpPr>
        <p:spPr>
          <a:xfrm>
            <a:off x="5859236" y="2392136"/>
            <a:ext cx="1281793" cy="69396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보스</a:t>
            </a:r>
            <a:r>
              <a:rPr lang="en-US" altLang="ko-KR" dirty="0"/>
              <a:t>HP</a:t>
            </a:r>
            <a:br>
              <a:rPr lang="en-US" altLang="ko-KR" dirty="0"/>
            </a:br>
            <a:r>
              <a:rPr lang="en-US" altLang="ko-KR" dirty="0"/>
              <a:t>99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B925F6E-9204-4375-AD2E-3D7721BE0333}"/>
              </a:ext>
            </a:extLst>
          </p:cNvPr>
          <p:cNvSpPr txBox="1"/>
          <p:nvPr/>
        </p:nvSpPr>
        <p:spPr>
          <a:xfrm>
            <a:off x="4955721" y="1391752"/>
            <a:ext cx="7160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실제로는 데미지가 </a:t>
            </a:r>
            <a:r>
              <a:rPr lang="en-US" altLang="ko-KR" dirty="0"/>
              <a:t>2</a:t>
            </a:r>
            <a:r>
              <a:rPr lang="ko-KR" altLang="en-US" dirty="0"/>
              <a:t>가 들어가야 하지만 </a:t>
            </a:r>
            <a:r>
              <a:rPr lang="en-US" altLang="ko-KR" dirty="0"/>
              <a:t>1</a:t>
            </a:r>
            <a:r>
              <a:rPr lang="ko-KR" altLang="en-US" dirty="0"/>
              <a:t>만 들어가는 상태가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AC1F773-A4C6-4C76-955A-D87DF03BA2FF}"/>
              </a:ext>
            </a:extLst>
          </p:cNvPr>
          <p:cNvSpPr/>
          <p:nvPr/>
        </p:nvSpPr>
        <p:spPr>
          <a:xfrm>
            <a:off x="4630512" y="4212730"/>
            <a:ext cx="1779814" cy="13960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클라이언트</a:t>
            </a:r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3E81616-9559-4C2A-9821-334549F623E9}"/>
              </a:ext>
            </a:extLst>
          </p:cNvPr>
          <p:cNvSpPr/>
          <p:nvPr/>
        </p:nvSpPr>
        <p:spPr>
          <a:xfrm>
            <a:off x="6726010" y="4212730"/>
            <a:ext cx="1779814" cy="13960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클라이언트</a:t>
            </a:r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969246A-AEE2-401A-AFF7-174B8344EBB3}"/>
              </a:ext>
            </a:extLst>
          </p:cNvPr>
          <p:cNvSpPr/>
          <p:nvPr/>
        </p:nvSpPr>
        <p:spPr>
          <a:xfrm>
            <a:off x="604157" y="4765222"/>
            <a:ext cx="1281793" cy="69396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보스</a:t>
            </a:r>
            <a:r>
              <a:rPr lang="en-US" altLang="ko-KR" dirty="0"/>
              <a:t>HP</a:t>
            </a:r>
            <a:br>
              <a:rPr lang="en-US" altLang="ko-KR" dirty="0"/>
            </a:br>
            <a:r>
              <a:rPr lang="en-US" altLang="ko-KR" dirty="0"/>
              <a:t>100</a:t>
            </a:r>
            <a:endParaRPr lang="ko-KR" altLang="en-US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9A488D0-D422-4672-80E7-6EC6779BCFCE}"/>
              </a:ext>
            </a:extLst>
          </p:cNvPr>
          <p:cNvSpPr/>
          <p:nvPr/>
        </p:nvSpPr>
        <p:spPr>
          <a:xfrm>
            <a:off x="2699655" y="4765222"/>
            <a:ext cx="1281793" cy="69396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보스</a:t>
            </a:r>
            <a:r>
              <a:rPr lang="en-US" altLang="ko-KR" dirty="0"/>
              <a:t>HP</a:t>
            </a:r>
            <a:br>
              <a:rPr lang="en-US" altLang="ko-KR" dirty="0"/>
            </a:br>
            <a:r>
              <a:rPr lang="en-US" altLang="ko-KR" dirty="0"/>
              <a:t>100</a:t>
            </a:r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CB1B070-9BFB-4A0B-A9F2-4CAEE5FE00E9}"/>
              </a:ext>
            </a:extLst>
          </p:cNvPr>
          <p:cNvSpPr/>
          <p:nvPr/>
        </p:nvSpPr>
        <p:spPr>
          <a:xfrm>
            <a:off x="4879522" y="4743408"/>
            <a:ext cx="1281793" cy="69396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보스</a:t>
            </a:r>
            <a:r>
              <a:rPr lang="en-US" altLang="ko-KR" dirty="0"/>
              <a:t>HP</a:t>
            </a:r>
            <a:br>
              <a:rPr lang="en-US" altLang="ko-KR" dirty="0"/>
            </a:br>
            <a:r>
              <a:rPr lang="en-US" altLang="ko-KR" dirty="0"/>
              <a:t>99</a:t>
            </a:r>
            <a:endParaRPr lang="ko-KR" altLang="en-US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38DEE67-18BF-4B62-B847-7558BB7878E7}"/>
              </a:ext>
            </a:extLst>
          </p:cNvPr>
          <p:cNvSpPr/>
          <p:nvPr/>
        </p:nvSpPr>
        <p:spPr>
          <a:xfrm>
            <a:off x="6975020" y="4772284"/>
            <a:ext cx="1281793" cy="69396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보스</a:t>
            </a:r>
            <a:r>
              <a:rPr lang="en-US" altLang="ko-KR" dirty="0"/>
              <a:t>HP</a:t>
            </a:r>
            <a:br>
              <a:rPr lang="en-US" altLang="ko-KR" dirty="0"/>
            </a:br>
            <a:r>
              <a:rPr lang="en-US" altLang="ko-KR" dirty="0"/>
              <a:t>99</a:t>
            </a:r>
            <a:endParaRPr lang="ko-KR" altLang="en-US" dirty="0"/>
          </a:p>
        </p:txBody>
      </p:sp>
      <p:sp>
        <p:nvSpPr>
          <p:cNvPr id="52" name="화살표: 아래쪽 51">
            <a:extLst>
              <a:ext uri="{FF2B5EF4-FFF2-40B4-BE49-F238E27FC236}">
                <a16:creationId xmlns:a16="http://schemas.microsoft.com/office/drawing/2014/main" id="{3970675E-3848-49E1-B7B4-81322BBB35B9}"/>
              </a:ext>
            </a:extLst>
          </p:cNvPr>
          <p:cNvSpPr/>
          <p:nvPr/>
        </p:nvSpPr>
        <p:spPr>
          <a:xfrm>
            <a:off x="5668735" y="3456192"/>
            <a:ext cx="473529" cy="664072"/>
          </a:xfrm>
          <a:prstGeom prst="downArrow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3" name="화살표: 아래쪽 52">
            <a:extLst>
              <a:ext uri="{FF2B5EF4-FFF2-40B4-BE49-F238E27FC236}">
                <a16:creationId xmlns:a16="http://schemas.microsoft.com/office/drawing/2014/main" id="{DBD5F7FE-6290-468B-82FE-F41A1E58744E}"/>
              </a:ext>
            </a:extLst>
          </p:cNvPr>
          <p:cNvSpPr/>
          <p:nvPr/>
        </p:nvSpPr>
        <p:spPr>
          <a:xfrm>
            <a:off x="6920593" y="3429000"/>
            <a:ext cx="473529" cy="664072"/>
          </a:xfrm>
          <a:prstGeom prst="downArrow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87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스레드의</a:t>
            </a:r>
            <a:r>
              <a:rPr lang="ko-KR" altLang="en-US" dirty="0"/>
              <a:t> 동기화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74619"/>
            <a:ext cx="10515600" cy="1643289"/>
          </a:xfrm>
        </p:spPr>
        <p:txBody>
          <a:bodyPr/>
          <a:lstStyle/>
          <a:p>
            <a:r>
              <a:rPr lang="ko-KR" altLang="en-US" dirty="0"/>
              <a:t>위에서 언급한 바와 같이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chemeClr val="accent1"/>
                </a:solidFill>
              </a:rPr>
              <a:t>경쟁상태</a:t>
            </a:r>
            <a:r>
              <a:rPr lang="ko-KR" altLang="en-US" dirty="0"/>
              <a:t>에서 의도치 않은 결과를 야기하게 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이를 해결하기 위한 </a:t>
            </a:r>
            <a:r>
              <a:rPr lang="ko-KR" altLang="en-US" dirty="0" err="1"/>
              <a:t>스레드동기화</a:t>
            </a:r>
            <a:r>
              <a:rPr lang="ko-KR" altLang="en-US" dirty="0"/>
              <a:t> 기법들이 등장한다</a:t>
            </a:r>
            <a:r>
              <a:rPr lang="en-US" altLang="ko-KR" dirty="0"/>
              <a:t>.</a:t>
            </a:r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982242"/>
              </p:ext>
            </p:extLst>
          </p:nvPr>
        </p:nvGraphicFramePr>
        <p:xfrm>
          <a:off x="1053353" y="3555184"/>
          <a:ext cx="1008081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0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0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주요용도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임계영역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(Critical Section)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데이터를 </a:t>
                      </a:r>
                      <a:r>
                        <a:rPr lang="ko-KR" altLang="en-US" dirty="0" err="1"/>
                        <a:t>사용중에는</a:t>
                      </a:r>
                      <a:r>
                        <a:rPr lang="ko-KR" altLang="en-US" dirty="0"/>
                        <a:t> 다른 </a:t>
                      </a:r>
                      <a:r>
                        <a:rPr lang="ko-KR" altLang="en-US" dirty="0" err="1"/>
                        <a:t>스레드에서</a:t>
                      </a:r>
                      <a:r>
                        <a:rPr lang="ko-KR" altLang="en-US" dirty="0"/>
                        <a:t> 접근을 </a:t>
                      </a:r>
                      <a:r>
                        <a:rPr lang="ko-KR" altLang="en-US" dirty="0" err="1"/>
                        <a:t>못하게함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latinLnBrk="1"/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프로세스내의 </a:t>
                      </a:r>
                      <a:r>
                        <a:rPr lang="ko-KR" altLang="en-US" dirty="0" err="1"/>
                        <a:t>스레드에서</a:t>
                      </a:r>
                      <a:r>
                        <a:rPr lang="ko-KR" altLang="en-US" dirty="0"/>
                        <a:t> 접근 제어가능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뮤텍스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Mutex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데이터를 </a:t>
                      </a:r>
                      <a:r>
                        <a:rPr lang="ko-KR" altLang="en-US" dirty="0" err="1"/>
                        <a:t>사용중에는</a:t>
                      </a:r>
                      <a:r>
                        <a:rPr lang="ko-KR" altLang="en-US" dirty="0"/>
                        <a:t> 다른 </a:t>
                      </a:r>
                      <a:r>
                        <a:rPr lang="ko-KR" altLang="en-US" dirty="0" err="1"/>
                        <a:t>스레드에서</a:t>
                      </a:r>
                      <a:r>
                        <a:rPr lang="ko-KR" altLang="en-US" dirty="0"/>
                        <a:t> 접근을 </a:t>
                      </a:r>
                      <a:r>
                        <a:rPr lang="ko-KR" altLang="en-US" dirty="0" err="1"/>
                        <a:t>못하게함</a:t>
                      </a:r>
                      <a:r>
                        <a:rPr lang="en-US" altLang="ko-KR" dirty="0"/>
                        <a:t>.</a:t>
                      </a:r>
                      <a:br>
                        <a:rPr lang="en-US" altLang="ko-KR" dirty="0"/>
                      </a:b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다른 프로세스의 </a:t>
                      </a:r>
                      <a:r>
                        <a:rPr lang="ko-KR" altLang="en-US" dirty="0" err="1"/>
                        <a:t>스레드에서</a:t>
                      </a:r>
                      <a:r>
                        <a:rPr lang="ko-KR" altLang="en-US" dirty="0"/>
                        <a:t> 접근도 </a:t>
                      </a:r>
                      <a:r>
                        <a:rPr lang="ko-KR" altLang="en-US" dirty="0" err="1"/>
                        <a:t>제어가능함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세마포어</a:t>
                      </a:r>
                      <a:r>
                        <a:rPr lang="en-US" altLang="ko-KR" dirty="0"/>
                        <a:t>(Semaphore)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데이터를 사용중인 </a:t>
                      </a:r>
                      <a:r>
                        <a:rPr lang="ko-KR" altLang="en-US" dirty="0" err="1"/>
                        <a:t>스레드의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접근수를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지정가능함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557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임계영역 </a:t>
            </a:r>
            <a:r>
              <a:rPr lang="en-US" altLang="ko-KR" dirty="0"/>
              <a:t>(</a:t>
            </a:r>
            <a:r>
              <a:rPr lang="en-US" altLang="ko-KR" dirty="0" err="1"/>
              <a:t>Critcal</a:t>
            </a:r>
            <a:r>
              <a:rPr lang="en-US" altLang="ko-KR" dirty="0"/>
              <a:t> Section)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74619"/>
            <a:ext cx="10515600" cy="1643289"/>
          </a:xfrm>
        </p:spPr>
        <p:txBody>
          <a:bodyPr/>
          <a:lstStyle/>
          <a:p>
            <a:r>
              <a:rPr lang="ko-KR" altLang="en-US" dirty="0" err="1"/>
              <a:t>스레드에서</a:t>
            </a:r>
            <a:r>
              <a:rPr lang="ko-KR" altLang="en-US" dirty="0"/>
              <a:t> 데이터를 사용하고 </a:t>
            </a:r>
            <a:r>
              <a:rPr lang="ko-KR" altLang="en-US" dirty="0" err="1"/>
              <a:t>있을때</a:t>
            </a:r>
            <a:r>
              <a:rPr lang="en-US" altLang="ko-KR" dirty="0"/>
              <a:t>, </a:t>
            </a:r>
            <a:r>
              <a:rPr lang="ko-KR" altLang="en-US" dirty="0"/>
              <a:t>다른 </a:t>
            </a:r>
            <a:r>
              <a:rPr lang="ko-KR" altLang="en-US" dirty="0" err="1"/>
              <a:t>스레드에서</a:t>
            </a:r>
            <a:r>
              <a:rPr lang="ko-KR" altLang="en-US" dirty="0"/>
              <a:t> 접근을 막음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다른프로세스의</a:t>
            </a:r>
            <a:r>
              <a:rPr lang="ko-KR" altLang="en-US" dirty="0"/>
              <a:t> </a:t>
            </a:r>
            <a:r>
              <a:rPr lang="ko-KR" altLang="en-US" dirty="0" err="1"/>
              <a:t>스레드에서의</a:t>
            </a:r>
            <a:r>
              <a:rPr lang="ko-KR" altLang="en-US" dirty="0"/>
              <a:t> 접근은 </a:t>
            </a:r>
            <a:r>
              <a:rPr lang="ko-KR" altLang="en-US" dirty="0" err="1"/>
              <a:t>막을수</a:t>
            </a:r>
            <a:r>
              <a:rPr lang="ko-KR" altLang="en-US" dirty="0"/>
              <a:t> 없다</a:t>
            </a:r>
            <a:r>
              <a:rPr lang="en-US" altLang="ko-KR" dirty="0"/>
              <a:t>.</a:t>
            </a:r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3039144" y="3063859"/>
            <a:ext cx="1658257" cy="34234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2000" b="1" dirty="0"/>
              <a:t>프로세스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4697388" y="3070333"/>
            <a:ext cx="1841380" cy="3416964"/>
            <a:chOff x="3668695" y="3001753"/>
            <a:chExt cx="1841380" cy="3416964"/>
          </a:xfrm>
        </p:grpSpPr>
        <p:grpSp>
          <p:nvGrpSpPr>
            <p:cNvPr id="9" name="그룹 8"/>
            <p:cNvGrpSpPr/>
            <p:nvPr/>
          </p:nvGrpSpPr>
          <p:grpSpPr>
            <a:xfrm>
              <a:off x="3668695" y="3001753"/>
              <a:ext cx="1841380" cy="3416964"/>
              <a:chOff x="7946571" y="1753466"/>
              <a:chExt cx="2496314" cy="4531220"/>
            </a:xfrm>
          </p:grpSpPr>
          <p:sp>
            <p:nvSpPr>
              <p:cNvPr id="10" name="직사각형 9"/>
              <p:cNvSpPr/>
              <p:nvPr/>
            </p:nvSpPr>
            <p:spPr>
              <a:xfrm>
                <a:off x="8345572" y="1753466"/>
                <a:ext cx="2097313" cy="453122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왼쪽 화살표 10"/>
              <p:cNvSpPr/>
              <p:nvPr/>
            </p:nvSpPr>
            <p:spPr>
              <a:xfrm>
                <a:off x="7946571" y="5313787"/>
                <a:ext cx="398161" cy="796906"/>
              </a:xfrm>
              <a:prstGeom prst="leftArrow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3" name="직사각형 12"/>
            <p:cNvSpPr/>
            <p:nvPr/>
          </p:nvSpPr>
          <p:spPr>
            <a:xfrm>
              <a:off x="4134153" y="3154934"/>
              <a:ext cx="1242882" cy="303070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ko-KR" altLang="en-US" sz="2000" b="1" dirty="0" err="1"/>
                <a:t>스레드</a:t>
              </a:r>
              <a:r>
                <a:rPr lang="en-US" altLang="ko-KR" sz="2000" b="1" dirty="0"/>
                <a:t>2</a:t>
              </a:r>
              <a:endParaRPr lang="ko-KR" altLang="en-US" sz="2000" b="1" dirty="0"/>
            </a:p>
          </p:txBody>
        </p:sp>
      </p:grpSp>
      <p:sp>
        <p:nvSpPr>
          <p:cNvPr id="29" name="직사각형 28"/>
          <p:cNvSpPr/>
          <p:nvPr/>
        </p:nvSpPr>
        <p:spPr>
          <a:xfrm>
            <a:off x="3039144" y="3672392"/>
            <a:ext cx="1658257" cy="59167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데이터</a:t>
            </a:r>
          </a:p>
        </p:txBody>
      </p:sp>
      <p:grpSp>
        <p:nvGrpSpPr>
          <p:cNvPr id="32" name="그룹 31"/>
          <p:cNvGrpSpPr/>
          <p:nvPr/>
        </p:nvGrpSpPr>
        <p:grpSpPr>
          <a:xfrm>
            <a:off x="1242516" y="3059767"/>
            <a:ext cx="1796628" cy="3416964"/>
            <a:chOff x="518616" y="2991187"/>
            <a:chExt cx="1796628" cy="3416964"/>
          </a:xfrm>
        </p:grpSpPr>
        <p:grpSp>
          <p:nvGrpSpPr>
            <p:cNvPr id="23" name="그룹 22"/>
            <p:cNvGrpSpPr/>
            <p:nvPr/>
          </p:nvGrpSpPr>
          <p:grpSpPr>
            <a:xfrm>
              <a:off x="518616" y="2991187"/>
              <a:ext cx="1547065" cy="3416964"/>
              <a:chOff x="3792327" y="3001753"/>
              <a:chExt cx="1547065" cy="3416964"/>
            </a:xfrm>
          </p:grpSpPr>
          <p:sp>
            <p:nvSpPr>
              <p:cNvPr id="26" name="직사각형 25"/>
              <p:cNvSpPr/>
              <p:nvPr/>
            </p:nvSpPr>
            <p:spPr>
              <a:xfrm>
                <a:off x="3792327" y="3001753"/>
                <a:ext cx="1547065" cy="3416964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3953075" y="3190792"/>
                <a:ext cx="1242882" cy="3030702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ko-KR" altLang="en-US" sz="2000" b="1" dirty="0" err="1"/>
                  <a:t>스레드</a:t>
                </a:r>
                <a:r>
                  <a:rPr lang="en-US" altLang="ko-KR" sz="2000" b="1" dirty="0"/>
                  <a:t>1</a:t>
                </a:r>
                <a:endParaRPr lang="ko-KR" altLang="en-US" sz="2000" b="1" dirty="0"/>
              </a:p>
            </p:txBody>
          </p:sp>
        </p:grpSp>
        <p:sp>
          <p:nvSpPr>
            <p:cNvPr id="31" name="오른쪽 화살표 30"/>
            <p:cNvSpPr/>
            <p:nvPr/>
          </p:nvSpPr>
          <p:spPr>
            <a:xfrm>
              <a:off x="2065020" y="5686568"/>
              <a:ext cx="250224" cy="600942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33" name="왼쪽 화살표 32"/>
          <p:cNvSpPr/>
          <p:nvPr/>
        </p:nvSpPr>
        <p:spPr>
          <a:xfrm>
            <a:off x="4507452" y="3723939"/>
            <a:ext cx="849407" cy="510988"/>
          </a:xfrm>
          <a:prstGeom prst="leftArrow">
            <a:avLst/>
          </a:prstGeom>
          <a:solidFill>
            <a:srgbClr val="FF0000">
              <a:alpha val="5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/>
              <a:t>접근불가</a:t>
            </a:r>
          </a:p>
        </p:txBody>
      </p:sp>
      <p:sp>
        <p:nvSpPr>
          <p:cNvPr id="34" name="오른쪽 화살표 33"/>
          <p:cNvSpPr/>
          <p:nvPr/>
        </p:nvSpPr>
        <p:spPr>
          <a:xfrm>
            <a:off x="2377440" y="3723940"/>
            <a:ext cx="822960" cy="510988"/>
          </a:xfrm>
          <a:prstGeom prst="rightArrow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/>
              <a:t>접근 중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8070978" y="5843442"/>
            <a:ext cx="4121022" cy="1025296"/>
            <a:chOff x="7831492" y="5460766"/>
            <a:chExt cx="4121022" cy="1025296"/>
          </a:xfrm>
        </p:grpSpPr>
        <p:sp>
          <p:nvSpPr>
            <p:cNvPr id="7" name="TextBox 6"/>
            <p:cNvSpPr txBox="1"/>
            <p:nvPr/>
          </p:nvSpPr>
          <p:spPr>
            <a:xfrm>
              <a:off x="7831492" y="5562732"/>
              <a:ext cx="412102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b="1" dirty="0">
                  <a:solidFill>
                    <a:schemeClr val="bg2">
                      <a:lumMod val="50000"/>
                    </a:schemeClr>
                  </a:solidFill>
                </a:rPr>
                <a:t>Docs Link</a:t>
              </a:r>
            </a:p>
            <a:p>
              <a:pPr algn="ctr"/>
              <a:r>
                <a:rPr lang="en-US" altLang="ko-KR" b="1" dirty="0">
                  <a:solidFill>
                    <a:schemeClr val="bg2">
                      <a:lumMod val="50000"/>
                    </a:schemeClr>
                  </a:solidFill>
                </a:rPr>
                <a:t>Using Critical Section Objects</a:t>
              </a:r>
              <a:endParaRPr lang="ko-KR" altLang="en-US" dirty="0">
                <a:solidFill>
                  <a:schemeClr val="bg2">
                    <a:lumMod val="50000"/>
                  </a:schemeClr>
                </a:solidFill>
              </a:endParaRPr>
            </a:p>
            <a:p>
              <a:endParaRPr lang="ko-KR" altLang="en-US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pic>
          <p:nvPicPr>
            <p:cNvPr id="7170" name="Picture 2" descr="https://img-prod-cms-rt-microsoft-com.akamaized.net/cms/api/am/imageFileData/RE1Mu3b?ver=5c31">
              <a:hlinkClick r:id="rId2"/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36429" y="5460766"/>
              <a:ext cx="2057400" cy="438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23810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 animBg="1"/>
      <p:bldP spid="12" grpId="0" animBg="1"/>
      <p:bldP spid="29" grpId="0" animBg="1"/>
      <p:bldP spid="33" grpId="0" animBg="1"/>
      <p:bldP spid="3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뮤텍스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Mutex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74619"/>
            <a:ext cx="10515600" cy="1643289"/>
          </a:xfrm>
        </p:spPr>
        <p:txBody>
          <a:bodyPr/>
          <a:lstStyle/>
          <a:p>
            <a:r>
              <a:rPr lang="ko-KR" altLang="en-US" dirty="0"/>
              <a:t>기본적으로 임계영역과 같은 기능을 가진다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다른 프로세스의 </a:t>
            </a:r>
            <a:r>
              <a:rPr lang="ko-KR" altLang="en-US" dirty="0" err="1"/>
              <a:t>스레드에서</a:t>
            </a:r>
            <a:r>
              <a:rPr lang="ko-KR" altLang="en-US" dirty="0"/>
              <a:t> 접근은 막을 수 있다</a:t>
            </a:r>
            <a:r>
              <a:rPr lang="en-US" altLang="ko-KR" dirty="0"/>
              <a:t>.</a:t>
            </a:r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3039144" y="3063859"/>
            <a:ext cx="1658257" cy="34234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2000" b="1" dirty="0"/>
              <a:t>프로세스</a:t>
            </a:r>
            <a:r>
              <a:rPr lang="en-US" altLang="ko-KR" sz="2000" b="1" dirty="0"/>
              <a:t>1</a:t>
            </a:r>
            <a:endParaRPr lang="ko-KR" altLang="en-US" sz="2000" b="1" dirty="0"/>
          </a:p>
        </p:txBody>
      </p:sp>
      <p:sp>
        <p:nvSpPr>
          <p:cNvPr id="29" name="직사각형 28"/>
          <p:cNvSpPr/>
          <p:nvPr/>
        </p:nvSpPr>
        <p:spPr>
          <a:xfrm>
            <a:off x="3039144" y="3672392"/>
            <a:ext cx="1658257" cy="59167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데이터</a:t>
            </a:r>
          </a:p>
        </p:txBody>
      </p:sp>
      <p:grpSp>
        <p:nvGrpSpPr>
          <p:cNvPr id="32" name="그룹 31"/>
          <p:cNvGrpSpPr/>
          <p:nvPr/>
        </p:nvGrpSpPr>
        <p:grpSpPr>
          <a:xfrm>
            <a:off x="1242516" y="3059767"/>
            <a:ext cx="1796628" cy="3416964"/>
            <a:chOff x="518616" y="2991187"/>
            <a:chExt cx="1796628" cy="3416964"/>
          </a:xfrm>
        </p:grpSpPr>
        <p:grpSp>
          <p:nvGrpSpPr>
            <p:cNvPr id="23" name="그룹 22"/>
            <p:cNvGrpSpPr/>
            <p:nvPr/>
          </p:nvGrpSpPr>
          <p:grpSpPr>
            <a:xfrm>
              <a:off x="518616" y="2991187"/>
              <a:ext cx="1547065" cy="3416964"/>
              <a:chOff x="3792327" y="3001753"/>
              <a:chExt cx="1547065" cy="3416964"/>
            </a:xfrm>
          </p:grpSpPr>
          <p:sp>
            <p:nvSpPr>
              <p:cNvPr id="26" name="직사각형 25"/>
              <p:cNvSpPr/>
              <p:nvPr/>
            </p:nvSpPr>
            <p:spPr>
              <a:xfrm>
                <a:off x="3792327" y="3001753"/>
                <a:ext cx="1547065" cy="3416964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3953075" y="3190792"/>
                <a:ext cx="1242882" cy="3030702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ko-KR" altLang="en-US" sz="2000" b="1" dirty="0" err="1"/>
                  <a:t>스레드</a:t>
                </a:r>
                <a:r>
                  <a:rPr lang="en-US" altLang="ko-KR" sz="2000" b="1" dirty="0"/>
                  <a:t>1</a:t>
                </a:r>
                <a:endParaRPr lang="ko-KR" altLang="en-US" sz="2000" b="1" dirty="0"/>
              </a:p>
            </p:txBody>
          </p:sp>
        </p:grpSp>
        <p:sp>
          <p:nvSpPr>
            <p:cNvPr id="31" name="오른쪽 화살표 30"/>
            <p:cNvSpPr/>
            <p:nvPr/>
          </p:nvSpPr>
          <p:spPr>
            <a:xfrm>
              <a:off x="2065020" y="5686568"/>
              <a:ext cx="250224" cy="600942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34" name="오른쪽 화살표 33"/>
          <p:cNvSpPr/>
          <p:nvPr/>
        </p:nvSpPr>
        <p:spPr>
          <a:xfrm>
            <a:off x="2377440" y="3723940"/>
            <a:ext cx="822960" cy="510988"/>
          </a:xfrm>
          <a:prstGeom prst="rightArrow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/>
              <a:t>접근 중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6826284" y="3030383"/>
            <a:ext cx="1658257" cy="34234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2000" b="1" dirty="0"/>
              <a:t>프로세스</a:t>
            </a:r>
            <a:r>
              <a:rPr lang="en-US" altLang="ko-KR" sz="2000" b="1" dirty="0"/>
              <a:t>2</a:t>
            </a:r>
            <a:endParaRPr lang="ko-KR" altLang="en-US" sz="2000" b="1" dirty="0"/>
          </a:p>
        </p:txBody>
      </p:sp>
      <p:grpSp>
        <p:nvGrpSpPr>
          <p:cNvPr id="4" name="그룹 3"/>
          <p:cNvGrpSpPr/>
          <p:nvPr/>
        </p:nvGrpSpPr>
        <p:grpSpPr>
          <a:xfrm>
            <a:off x="5024942" y="3030383"/>
            <a:ext cx="1797285" cy="3416964"/>
            <a:chOff x="5489762" y="3030383"/>
            <a:chExt cx="1797285" cy="3416964"/>
          </a:xfrm>
        </p:grpSpPr>
        <p:grpSp>
          <p:nvGrpSpPr>
            <p:cNvPr id="5" name="그룹 4"/>
            <p:cNvGrpSpPr/>
            <p:nvPr/>
          </p:nvGrpSpPr>
          <p:grpSpPr>
            <a:xfrm>
              <a:off x="5489762" y="3030383"/>
              <a:ext cx="1547061" cy="3416964"/>
              <a:chOff x="3965769" y="3001753"/>
              <a:chExt cx="1547061" cy="3416964"/>
            </a:xfrm>
          </p:grpSpPr>
          <p:sp>
            <p:nvSpPr>
              <p:cNvPr id="10" name="직사각형 9"/>
              <p:cNvSpPr/>
              <p:nvPr/>
            </p:nvSpPr>
            <p:spPr>
              <a:xfrm>
                <a:off x="3965769" y="3001753"/>
                <a:ext cx="1547061" cy="3416964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/>
              <p:cNvSpPr/>
              <p:nvPr/>
            </p:nvSpPr>
            <p:spPr>
              <a:xfrm>
                <a:off x="4134153" y="3154934"/>
                <a:ext cx="1242882" cy="3030702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ko-KR" altLang="en-US" sz="2000" b="1" dirty="0" err="1"/>
                  <a:t>스레드</a:t>
                </a:r>
                <a:r>
                  <a:rPr lang="en-US" altLang="ko-KR" sz="2000" b="1" dirty="0"/>
                  <a:t>2</a:t>
                </a:r>
                <a:endParaRPr lang="ko-KR" altLang="en-US" sz="2000" b="1" dirty="0"/>
              </a:p>
            </p:txBody>
          </p:sp>
        </p:grpSp>
        <p:sp>
          <p:nvSpPr>
            <p:cNvPr id="20" name="오른쪽 화살표 19"/>
            <p:cNvSpPr/>
            <p:nvPr/>
          </p:nvSpPr>
          <p:spPr>
            <a:xfrm>
              <a:off x="7036823" y="5755148"/>
              <a:ext cx="250224" cy="600942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33" name="왼쪽 화살표 32"/>
          <p:cNvSpPr/>
          <p:nvPr/>
        </p:nvSpPr>
        <p:spPr>
          <a:xfrm>
            <a:off x="4507452" y="3723939"/>
            <a:ext cx="849407" cy="510988"/>
          </a:xfrm>
          <a:prstGeom prst="leftArrow">
            <a:avLst/>
          </a:prstGeom>
          <a:solidFill>
            <a:srgbClr val="FF0000">
              <a:alpha val="5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/>
              <a:t>접근불가</a:t>
            </a:r>
          </a:p>
        </p:txBody>
      </p:sp>
      <p:grpSp>
        <p:nvGrpSpPr>
          <p:cNvPr id="24" name="그룹 23"/>
          <p:cNvGrpSpPr/>
          <p:nvPr/>
        </p:nvGrpSpPr>
        <p:grpSpPr>
          <a:xfrm>
            <a:off x="8070978" y="5843442"/>
            <a:ext cx="4121022" cy="1025296"/>
            <a:chOff x="7831492" y="5460766"/>
            <a:chExt cx="4121022" cy="1025296"/>
          </a:xfrm>
        </p:grpSpPr>
        <p:sp>
          <p:nvSpPr>
            <p:cNvPr id="28" name="TextBox 27"/>
            <p:cNvSpPr txBox="1"/>
            <p:nvPr/>
          </p:nvSpPr>
          <p:spPr>
            <a:xfrm>
              <a:off x="7831492" y="5562732"/>
              <a:ext cx="412102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b="1" dirty="0">
                  <a:solidFill>
                    <a:schemeClr val="bg2">
                      <a:lumMod val="50000"/>
                    </a:schemeClr>
                  </a:solidFill>
                </a:rPr>
                <a:t>Docs. Link</a:t>
              </a:r>
            </a:p>
            <a:p>
              <a:pPr algn="ctr"/>
              <a:r>
                <a:rPr lang="en-US" altLang="ko-KR" b="1" dirty="0">
                  <a:solidFill>
                    <a:schemeClr val="bg2">
                      <a:lumMod val="50000"/>
                    </a:schemeClr>
                  </a:solidFill>
                </a:rPr>
                <a:t>Using </a:t>
              </a:r>
              <a:r>
                <a:rPr lang="en-US" altLang="ko-KR" b="1" dirty="0" err="1">
                  <a:solidFill>
                    <a:schemeClr val="bg2">
                      <a:lumMod val="50000"/>
                    </a:schemeClr>
                  </a:solidFill>
                </a:rPr>
                <a:t>Mutex</a:t>
              </a:r>
              <a:r>
                <a:rPr lang="en-US" altLang="ko-KR" b="1" dirty="0">
                  <a:solidFill>
                    <a:schemeClr val="bg2">
                      <a:lumMod val="50000"/>
                    </a:schemeClr>
                  </a:solidFill>
                </a:rPr>
                <a:t> Objects</a:t>
              </a:r>
              <a:endParaRPr lang="ko-KR" altLang="en-US" dirty="0">
                <a:solidFill>
                  <a:schemeClr val="bg2">
                    <a:lumMod val="50000"/>
                  </a:schemeClr>
                </a:solidFill>
              </a:endParaRPr>
            </a:p>
            <a:p>
              <a:endParaRPr lang="ko-KR" altLang="en-US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pic>
          <p:nvPicPr>
            <p:cNvPr id="27" name="Picture 2" descr="https://img-prod-cms-rt-microsoft-com.akamaized.net/cms/api/am/imageFileData/RE1Mu3b?ver=5c31">
              <a:hlinkClick r:id="rId2"/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36429" y="5460766"/>
              <a:ext cx="2057400" cy="438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8576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 animBg="1"/>
      <p:bldP spid="12" grpId="0" animBg="1"/>
      <p:bldP spid="29" grpId="0" animBg="1"/>
      <p:bldP spid="34" grpId="0" animBg="1"/>
      <p:bldP spid="19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입력 무시현상 </a:t>
            </a:r>
            <a:r>
              <a:rPr lang="en-US" altLang="ko-KR" dirty="0"/>
              <a:t>(</a:t>
            </a:r>
            <a:r>
              <a:rPr lang="ko-KR" altLang="en-US" dirty="0" err="1"/>
              <a:t>뮤텍스</a:t>
            </a:r>
            <a:r>
              <a:rPr lang="ko-KR" altLang="en-US" dirty="0"/>
              <a:t> 사용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74619"/>
            <a:ext cx="10515600" cy="1643289"/>
          </a:xfrm>
        </p:spPr>
        <p:txBody>
          <a:bodyPr/>
          <a:lstStyle/>
          <a:p>
            <a:r>
              <a:rPr lang="ko-KR" altLang="en-US" dirty="0"/>
              <a:t>기본적으로 임계영역과 같은 기능을 가진다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다른 프로세스의 </a:t>
            </a:r>
            <a:r>
              <a:rPr lang="ko-KR" altLang="en-US" dirty="0" err="1"/>
              <a:t>스레드에서</a:t>
            </a:r>
            <a:r>
              <a:rPr lang="ko-KR" altLang="en-US" dirty="0"/>
              <a:t> 접근은 막을 수 있다</a:t>
            </a:r>
            <a:r>
              <a:rPr lang="en-US" altLang="ko-KR" dirty="0"/>
              <a:t>.</a:t>
            </a:r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F4915F2-61E9-8FE7-4C6D-89B720835284}"/>
              </a:ext>
            </a:extLst>
          </p:cNvPr>
          <p:cNvSpPr/>
          <p:nvPr/>
        </p:nvSpPr>
        <p:spPr>
          <a:xfrm>
            <a:off x="1072546" y="4179843"/>
            <a:ext cx="4465608" cy="54346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Java(Process)</a:t>
            </a:r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0ABD67F-89A2-D9F6-EADB-11F1564A93B3}"/>
              </a:ext>
            </a:extLst>
          </p:cNvPr>
          <p:cNvSpPr/>
          <p:nvPr/>
        </p:nvSpPr>
        <p:spPr>
          <a:xfrm>
            <a:off x="5676177" y="4179843"/>
            <a:ext cx="4465608" cy="54346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Native C (Process)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45C3D9A-4149-AEA0-BAE5-72E8754AFD67}"/>
              </a:ext>
            </a:extLst>
          </p:cNvPr>
          <p:cNvSpPr/>
          <p:nvPr/>
        </p:nvSpPr>
        <p:spPr>
          <a:xfrm>
            <a:off x="1072546" y="3573119"/>
            <a:ext cx="4465608" cy="54346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Touch Input</a:t>
            </a:r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A0F7F3D-9B64-B105-A986-0D14B912DC52}"/>
              </a:ext>
            </a:extLst>
          </p:cNvPr>
          <p:cNvSpPr/>
          <p:nvPr/>
        </p:nvSpPr>
        <p:spPr>
          <a:xfrm>
            <a:off x="5676177" y="3559087"/>
            <a:ext cx="4465608" cy="54346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Update</a:t>
            </a:r>
            <a:endParaRPr lang="ko-KR" altLang="en-US" dirty="0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81537F62-4573-A9F5-0255-581E4B5BC98B}"/>
              </a:ext>
            </a:extLst>
          </p:cNvPr>
          <p:cNvSpPr/>
          <p:nvPr/>
        </p:nvSpPr>
        <p:spPr>
          <a:xfrm>
            <a:off x="5195255" y="3629564"/>
            <a:ext cx="961844" cy="430573"/>
          </a:xfrm>
          <a:prstGeom prst="rightArrow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dirty="0"/>
              <a:t>mutex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198543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세마포어</a:t>
            </a:r>
            <a:r>
              <a:rPr lang="ko-KR" altLang="en-US" dirty="0"/>
              <a:t> </a:t>
            </a:r>
            <a:r>
              <a:rPr lang="en-US" altLang="ko-KR" dirty="0"/>
              <a:t>(Semaphore)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74619"/>
            <a:ext cx="10515600" cy="558981"/>
          </a:xfrm>
        </p:spPr>
        <p:txBody>
          <a:bodyPr/>
          <a:lstStyle/>
          <a:p>
            <a:r>
              <a:rPr lang="ko-KR" altLang="en-US" dirty="0"/>
              <a:t>데이터를 동시에 사용 가능한 </a:t>
            </a:r>
            <a:r>
              <a:rPr lang="ko-KR" altLang="en-US" dirty="0" err="1"/>
              <a:t>스레드의</a:t>
            </a:r>
            <a:r>
              <a:rPr lang="ko-KR" altLang="en-US" dirty="0"/>
              <a:t> 개수를 지정가능</a:t>
            </a:r>
            <a:r>
              <a:rPr lang="en-US" altLang="ko-KR" dirty="0"/>
              <a:t>.</a:t>
            </a:r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3039144" y="2980040"/>
            <a:ext cx="1658257" cy="232908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2000" b="1" dirty="0"/>
              <a:t>프로세스</a:t>
            </a:r>
            <a:r>
              <a:rPr lang="en-US" altLang="ko-KR" sz="2000" b="1" dirty="0"/>
              <a:t>1</a:t>
            </a:r>
            <a:endParaRPr lang="ko-KR" altLang="en-US" sz="2000" b="1" dirty="0"/>
          </a:p>
        </p:txBody>
      </p:sp>
      <p:sp>
        <p:nvSpPr>
          <p:cNvPr id="29" name="직사각형 28"/>
          <p:cNvSpPr/>
          <p:nvPr/>
        </p:nvSpPr>
        <p:spPr>
          <a:xfrm>
            <a:off x="3039143" y="4513872"/>
            <a:ext cx="1658257" cy="59167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데이터</a:t>
            </a:r>
          </a:p>
        </p:txBody>
      </p:sp>
      <p:grpSp>
        <p:nvGrpSpPr>
          <p:cNvPr id="32" name="그룹 31"/>
          <p:cNvGrpSpPr/>
          <p:nvPr/>
        </p:nvGrpSpPr>
        <p:grpSpPr>
          <a:xfrm>
            <a:off x="1242516" y="2975947"/>
            <a:ext cx="1797289" cy="2324677"/>
            <a:chOff x="518616" y="2991187"/>
            <a:chExt cx="1797289" cy="3416964"/>
          </a:xfrm>
        </p:grpSpPr>
        <p:grpSp>
          <p:nvGrpSpPr>
            <p:cNvPr id="23" name="그룹 22"/>
            <p:cNvGrpSpPr/>
            <p:nvPr/>
          </p:nvGrpSpPr>
          <p:grpSpPr>
            <a:xfrm>
              <a:off x="518616" y="2991187"/>
              <a:ext cx="1547065" cy="3416964"/>
              <a:chOff x="3792327" y="3001753"/>
              <a:chExt cx="1547065" cy="3416964"/>
            </a:xfrm>
          </p:grpSpPr>
          <p:sp>
            <p:nvSpPr>
              <p:cNvPr id="26" name="직사각형 25"/>
              <p:cNvSpPr/>
              <p:nvPr/>
            </p:nvSpPr>
            <p:spPr>
              <a:xfrm>
                <a:off x="3792327" y="3001753"/>
                <a:ext cx="1547065" cy="3416964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3953075" y="3190792"/>
                <a:ext cx="1242882" cy="3030702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ko-KR" altLang="en-US" sz="2000" b="1" dirty="0" err="1"/>
                  <a:t>스레드</a:t>
                </a:r>
                <a:r>
                  <a:rPr lang="en-US" altLang="ko-KR" sz="2000" b="1" dirty="0"/>
                  <a:t>1</a:t>
                </a:r>
                <a:endParaRPr lang="ko-KR" altLang="en-US" sz="2000" b="1" dirty="0"/>
              </a:p>
            </p:txBody>
          </p:sp>
        </p:grpSp>
        <p:sp>
          <p:nvSpPr>
            <p:cNvPr id="31" name="오른쪽 화살표 30"/>
            <p:cNvSpPr/>
            <p:nvPr/>
          </p:nvSpPr>
          <p:spPr>
            <a:xfrm>
              <a:off x="2065681" y="3196934"/>
              <a:ext cx="250224" cy="600942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34" name="오른쪽 화살표 33"/>
          <p:cNvSpPr/>
          <p:nvPr/>
        </p:nvSpPr>
        <p:spPr>
          <a:xfrm>
            <a:off x="2449829" y="4544819"/>
            <a:ext cx="822960" cy="510988"/>
          </a:xfrm>
          <a:prstGeom prst="rightArrow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/>
              <a:t>접근 중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4704868" y="2946563"/>
            <a:ext cx="1797285" cy="2324677"/>
            <a:chOff x="5239538" y="3030383"/>
            <a:chExt cx="1797285" cy="3416964"/>
          </a:xfrm>
        </p:grpSpPr>
        <p:grpSp>
          <p:nvGrpSpPr>
            <p:cNvPr id="5" name="그룹 4"/>
            <p:cNvGrpSpPr/>
            <p:nvPr/>
          </p:nvGrpSpPr>
          <p:grpSpPr>
            <a:xfrm>
              <a:off x="5489762" y="3030383"/>
              <a:ext cx="1547061" cy="3416964"/>
              <a:chOff x="3965769" y="3001753"/>
              <a:chExt cx="1547061" cy="3416964"/>
            </a:xfrm>
          </p:grpSpPr>
          <p:sp>
            <p:nvSpPr>
              <p:cNvPr id="10" name="직사각형 9"/>
              <p:cNvSpPr/>
              <p:nvPr/>
            </p:nvSpPr>
            <p:spPr>
              <a:xfrm>
                <a:off x="3965769" y="3001753"/>
                <a:ext cx="1547061" cy="3416964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/>
              <p:cNvSpPr/>
              <p:nvPr/>
            </p:nvSpPr>
            <p:spPr>
              <a:xfrm>
                <a:off x="4134153" y="3154934"/>
                <a:ext cx="1242882" cy="3030702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ko-KR" altLang="en-US" sz="2000" b="1" dirty="0" err="1"/>
                  <a:t>스레드</a:t>
                </a:r>
                <a:r>
                  <a:rPr lang="en-US" altLang="ko-KR" sz="2000" b="1" dirty="0"/>
                  <a:t>4</a:t>
                </a:r>
                <a:endParaRPr lang="ko-KR" altLang="en-US" sz="2000" b="1" dirty="0"/>
              </a:p>
            </p:txBody>
          </p:sp>
        </p:grpSp>
        <p:sp>
          <p:nvSpPr>
            <p:cNvPr id="20" name="오른쪽 화살표 19"/>
            <p:cNvSpPr/>
            <p:nvPr/>
          </p:nvSpPr>
          <p:spPr>
            <a:xfrm rot="10800000">
              <a:off x="5239538" y="3183564"/>
              <a:ext cx="250224" cy="600942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188720" y="2461260"/>
            <a:ext cx="4168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접근 가능한 </a:t>
            </a:r>
            <a:r>
              <a:rPr lang="ko-KR" altLang="en-US" dirty="0" err="1"/>
              <a:t>스레드</a:t>
            </a:r>
            <a:r>
              <a:rPr lang="ko-KR" altLang="en-US" dirty="0"/>
              <a:t> 수</a:t>
            </a:r>
            <a:r>
              <a:rPr lang="en-US" altLang="ko-KR" dirty="0"/>
              <a:t>: 3</a:t>
            </a:r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1247877" y="5309122"/>
            <a:ext cx="2501164" cy="1053578"/>
            <a:chOff x="1247877" y="5309122"/>
            <a:chExt cx="2501164" cy="1053578"/>
          </a:xfrm>
        </p:grpSpPr>
        <p:sp>
          <p:nvSpPr>
            <p:cNvPr id="24" name="직사각형 23"/>
            <p:cNvSpPr/>
            <p:nvPr/>
          </p:nvSpPr>
          <p:spPr>
            <a:xfrm>
              <a:off x="1247877" y="5499263"/>
              <a:ext cx="2501164" cy="863437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341068" y="5585459"/>
              <a:ext cx="2316532" cy="716323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ko-KR" altLang="en-US" sz="2000" b="1" dirty="0" err="1"/>
                <a:t>스레드</a:t>
              </a:r>
              <a:r>
                <a:rPr lang="en-US" altLang="ko-KR" sz="2000" b="1" dirty="0"/>
                <a:t>2</a:t>
              </a:r>
              <a:endParaRPr lang="ko-KR" altLang="en-US" sz="2000" b="1" dirty="0"/>
            </a:p>
          </p:txBody>
        </p:sp>
        <p:sp>
          <p:nvSpPr>
            <p:cNvPr id="11" name="위쪽 화살표 10"/>
            <p:cNvSpPr/>
            <p:nvPr/>
          </p:nvSpPr>
          <p:spPr>
            <a:xfrm>
              <a:off x="3444240" y="5309122"/>
              <a:ext cx="304800" cy="190141"/>
            </a:xfrm>
            <a:prstGeom prst="upArrow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3900753" y="5324997"/>
            <a:ext cx="2501164" cy="1052901"/>
            <a:chOff x="3900753" y="5324997"/>
            <a:chExt cx="2501164" cy="1052901"/>
          </a:xfrm>
        </p:grpSpPr>
        <p:sp>
          <p:nvSpPr>
            <p:cNvPr id="28" name="직사각형 27"/>
            <p:cNvSpPr/>
            <p:nvPr/>
          </p:nvSpPr>
          <p:spPr>
            <a:xfrm>
              <a:off x="3900753" y="5514461"/>
              <a:ext cx="2501164" cy="863437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3993944" y="5600657"/>
              <a:ext cx="2316532" cy="716323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ko-KR" altLang="en-US" sz="2000" b="1" dirty="0" err="1"/>
                <a:t>스레드</a:t>
              </a:r>
              <a:r>
                <a:rPr lang="en-US" altLang="ko-KR" sz="2000" b="1" dirty="0"/>
                <a:t>3</a:t>
              </a:r>
              <a:endParaRPr lang="ko-KR" altLang="en-US" sz="2000" b="1" dirty="0"/>
            </a:p>
          </p:txBody>
        </p:sp>
        <p:sp>
          <p:nvSpPr>
            <p:cNvPr id="35" name="위쪽 화살표 34"/>
            <p:cNvSpPr/>
            <p:nvPr/>
          </p:nvSpPr>
          <p:spPr>
            <a:xfrm>
              <a:off x="3971085" y="5324997"/>
              <a:ext cx="304800" cy="190141"/>
            </a:xfrm>
            <a:prstGeom prst="upArrow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37" name="오른쪽 화살표 36"/>
          <p:cNvSpPr/>
          <p:nvPr/>
        </p:nvSpPr>
        <p:spPr>
          <a:xfrm rot="16200000">
            <a:off x="2865083" y="5196929"/>
            <a:ext cx="921393" cy="510988"/>
          </a:xfrm>
          <a:prstGeom prst="rightArrow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/>
              <a:t>접근 가능</a:t>
            </a:r>
          </a:p>
        </p:txBody>
      </p:sp>
      <p:sp>
        <p:nvSpPr>
          <p:cNvPr id="38" name="오른쪽 화살표 37"/>
          <p:cNvSpPr/>
          <p:nvPr/>
        </p:nvSpPr>
        <p:spPr>
          <a:xfrm rot="16200000">
            <a:off x="3884027" y="5210972"/>
            <a:ext cx="959425" cy="510988"/>
          </a:xfrm>
          <a:prstGeom prst="rightArrow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/>
              <a:t>접근 가능</a:t>
            </a:r>
          </a:p>
        </p:txBody>
      </p:sp>
      <p:sp>
        <p:nvSpPr>
          <p:cNvPr id="33" name="왼쪽 화살표 32"/>
          <p:cNvSpPr/>
          <p:nvPr/>
        </p:nvSpPr>
        <p:spPr>
          <a:xfrm>
            <a:off x="4456652" y="4554213"/>
            <a:ext cx="849407" cy="510988"/>
          </a:xfrm>
          <a:prstGeom prst="leftArrow">
            <a:avLst/>
          </a:prstGeom>
          <a:solidFill>
            <a:srgbClr val="FF0000">
              <a:alpha val="5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/>
              <a:t>접근불가</a:t>
            </a:r>
          </a:p>
        </p:txBody>
      </p:sp>
      <p:grpSp>
        <p:nvGrpSpPr>
          <p:cNvPr id="36" name="그룹 35"/>
          <p:cNvGrpSpPr/>
          <p:nvPr/>
        </p:nvGrpSpPr>
        <p:grpSpPr>
          <a:xfrm>
            <a:off x="8070978" y="5832704"/>
            <a:ext cx="4121022" cy="748297"/>
            <a:chOff x="7831492" y="5460766"/>
            <a:chExt cx="4121022" cy="748297"/>
          </a:xfrm>
        </p:grpSpPr>
        <p:sp>
          <p:nvSpPr>
            <p:cNvPr id="40" name="TextBox 39"/>
            <p:cNvSpPr txBox="1"/>
            <p:nvPr/>
          </p:nvSpPr>
          <p:spPr>
            <a:xfrm>
              <a:off x="7831492" y="5562732"/>
              <a:ext cx="41210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b="1" dirty="0">
                  <a:solidFill>
                    <a:schemeClr val="bg2">
                      <a:lumMod val="50000"/>
                    </a:schemeClr>
                  </a:solidFill>
                </a:rPr>
                <a:t>Docs. Link</a:t>
              </a:r>
            </a:p>
            <a:p>
              <a:pPr algn="r"/>
              <a:r>
                <a:rPr lang="en-US" altLang="ko-KR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Using Semaphore Objects</a:t>
              </a:r>
            </a:p>
          </p:txBody>
        </p:sp>
        <p:pic>
          <p:nvPicPr>
            <p:cNvPr id="39" name="Picture 2" descr="https://img-prod-cms-rt-microsoft-com.akamaized.net/cms/api/am/imageFileData/RE1Mu3b?ver=5c31">
              <a:hlinkClick r:id="rId2"/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36429" y="5460766"/>
              <a:ext cx="2057400" cy="438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8371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 animBg="1"/>
      <p:bldP spid="12" grpId="0" animBg="1"/>
      <p:bldP spid="29" grpId="0" animBg="1"/>
      <p:bldP spid="34" grpId="0" animBg="1"/>
      <p:bldP spid="7" grpId="0"/>
      <p:bldP spid="37" grpId="0" animBg="1"/>
      <p:bldP spid="38" grpId="0" animBg="1"/>
      <p:bldP spid="3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altLang="ko-KR" dirty="0"/>
              <a:t>Task</a:t>
            </a:r>
            <a:r>
              <a:rPr lang="ko-KR" altLang="en-US" dirty="0"/>
              <a:t>와 </a:t>
            </a:r>
            <a:r>
              <a:rPr lang="en-US" altLang="ko-KR" dirty="0" err="1"/>
              <a:t>Async</a:t>
            </a:r>
            <a:r>
              <a:rPr lang="ko-KR" altLang="en-US" dirty="0"/>
              <a:t>를 활용한 </a:t>
            </a:r>
            <a:r>
              <a:rPr lang="ko-KR" altLang="en-US" dirty="0" err="1"/>
              <a:t>비동기화</a:t>
            </a:r>
            <a:r>
              <a:rPr lang="ko-KR" altLang="en-US" dirty="0"/>
              <a:t> 프로그래밍</a:t>
            </a:r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grpSp>
        <p:nvGrpSpPr>
          <p:cNvPr id="44" name="그룹 43"/>
          <p:cNvGrpSpPr/>
          <p:nvPr/>
        </p:nvGrpSpPr>
        <p:grpSpPr>
          <a:xfrm>
            <a:off x="802609" y="3727093"/>
            <a:ext cx="8648308" cy="2978418"/>
            <a:chOff x="802609" y="3727093"/>
            <a:chExt cx="8648308" cy="2978418"/>
          </a:xfrm>
        </p:grpSpPr>
        <p:grpSp>
          <p:nvGrpSpPr>
            <p:cNvPr id="39" name="그룹 38"/>
            <p:cNvGrpSpPr/>
            <p:nvPr/>
          </p:nvGrpSpPr>
          <p:grpSpPr>
            <a:xfrm>
              <a:off x="7271627" y="3753551"/>
              <a:ext cx="2179290" cy="2776031"/>
              <a:chOff x="5402834" y="3351275"/>
              <a:chExt cx="1691138" cy="3154332"/>
            </a:xfrm>
          </p:grpSpPr>
          <p:sp>
            <p:nvSpPr>
              <p:cNvPr id="19" name="직사각형 18"/>
              <p:cNvSpPr/>
              <p:nvPr/>
            </p:nvSpPr>
            <p:spPr>
              <a:xfrm>
                <a:off x="5410203" y="3351275"/>
                <a:ext cx="1676400" cy="38912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2000" b="1" dirty="0"/>
                  <a:t>CPU1</a:t>
                </a:r>
                <a:endParaRPr lang="ko-KR" altLang="en-US" sz="2000" b="1" dirty="0"/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5410203" y="3905304"/>
                <a:ext cx="1676400" cy="38912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2000" b="1" dirty="0"/>
                  <a:t>CPU2</a:t>
                </a:r>
                <a:endParaRPr lang="ko-KR" altLang="en-US" sz="2000" b="1" dirty="0"/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5410203" y="4459333"/>
                <a:ext cx="1683769" cy="38912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2000" b="1" dirty="0"/>
                  <a:t>CPU3</a:t>
                </a:r>
                <a:endParaRPr lang="ko-KR" altLang="en-US" sz="2000" b="1" dirty="0"/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5402834" y="5013362"/>
                <a:ext cx="1683769" cy="38912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2000" b="1" dirty="0"/>
                  <a:t>CPU4</a:t>
                </a:r>
                <a:endParaRPr lang="ko-KR" altLang="en-US" sz="2000" b="1" dirty="0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6189138" y="5582277"/>
                <a:ext cx="36406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p:grpSp>
        <p:grpSp>
          <p:nvGrpSpPr>
            <p:cNvPr id="38" name="그룹 37"/>
            <p:cNvGrpSpPr/>
            <p:nvPr/>
          </p:nvGrpSpPr>
          <p:grpSpPr>
            <a:xfrm>
              <a:off x="802609" y="3740650"/>
              <a:ext cx="2179290" cy="2841763"/>
              <a:chOff x="1107409" y="3336617"/>
              <a:chExt cx="1691138" cy="3229022"/>
            </a:xfrm>
          </p:grpSpPr>
          <p:sp>
            <p:nvSpPr>
              <p:cNvPr id="27" name="직사각형 26"/>
              <p:cNvSpPr/>
              <p:nvPr/>
            </p:nvSpPr>
            <p:spPr>
              <a:xfrm>
                <a:off x="1114778" y="3336617"/>
                <a:ext cx="1676400" cy="38912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2000" b="1" dirty="0"/>
                  <a:t>Task1</a:t>
                </a:r>
                <a:endParaRPr lang="ko-KR" altLang="en-US" sz="2000" b="1" dirty="0"/>
              </a:p>
            </p:txBody>
          </p:sp>
          <p:sp>
            <p:nvSpPr>
              <p:cNvPr id="28" name="직사각형 27"/>
              <p:cNvSpPr/>
              <p:nvPr/>
            </p:nvSpPr>
            <p:spPr>
              <a:xfrm>
                <a:off x="1114778" y="3890646"/>
                <a:ext cx="1676400" cy="38912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2000" b="1" dirty="0"/>
                  <a:t>Task2</a:t>
                </a:r>
                <a:endParaRPr lang="ko-KR" altLang="en-US" sz="2000" b="1" dirty="0"/>
              </a:p>
            </p:txBody>
          </p:sp>
          <p:sp>
            <p:nvSpPr>
              <p:cNvPr id="29" name="직사각형 28"/>
              <p:cNvSpPr/>
              <p:nvPr/>
            </p:nvSpPr>
            <p:spPr>
              <a:xfrm>
                <a:off x="1114778" y="4444675"/>
                <a:ext cx="1683769" cy="38912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2000" b="1" dirty="0"/>
                  <a:t>Task3</a:t>
                </a:r>
                <a:endParaRPr lang="ko-KR" altLang="en-US" sz="2000" b="1" dirty="0"/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1107409" y="4998704"/>
                <a:ext cx="1683769" cy="38912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2000" b="1" dirty="0"/>
                  <a:t>Async1</a:t>
                </a:r>
                <a:endParaRPr lang="ko-KR" altLang="en-US" sz="2000" b="1" dirty="0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1897949" y="5919308"/>
                <a:ext cx="36406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.</a:t>
                </a: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1114778" y="5567619"/>
                <a:ext cx="1683769" cy="38912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2000" b="1" dirty="0"/>
                  <a:t>Async2</a:t>
                </a:r>
                <a:endParaRPr lang="ko-KR" altLang="en-US" sz="2000" b="1" dirty="0"/>
              </a:p>
            </p:txBody>
          </p:sp>
        </p:grpSp>
        <p:sp>
          <p:nvSpPr>
            <p:cNvPr id="18" name="직사각형 17"/>
            <p:cNvSpPr/>
            <p:nvPr/>
          </p:nvSpPr>
          <p:spPr>
            <a:xfrm>
              <a:off x="4255785" y="3727093"/>
              <a:ext cx="1470563" cy="2978418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altLang="ko-KR" sz="2000" b="1" dirty="0"/>
                <a:t>Job-scheduler</a:t>
              </a:r>
              <a:endParaRPr lang="ko-KR" altLang="en-US" sz="2000" b="1" dirty="0"/>
            </a:p>
          </p:txBody>
        </p:sp>
        <p:sp>
          <p:nvSpPr>
            <p:cNvPr id="35" name="오른쪽 화살표 34"/>
            <p:cNvSpPr/>
            <p:nvPr/>
          </p:nvSpPr>
          <p:spPr>
            <a:xfrm>
              <a:off x="3171615" y="3887368"/>
              <a:ext cx="937080" cy="2723769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dirty="0"/>
                <a:t>Give Job</a:t>
              </a:r>
              <a:endParaRPr lang="ko-KR" altLang="en-US" dirty="0"/>
            </a:p>
          </p:txBody>
        </p:sp>
        <p:sp>
          <p:nvSpPr>
            <p:cNvPr id="36" name="오른쪽 화살표 35"/>
            <p:cNvSpPr/>
            <p:nvPr/>
          </p:nvSpPr>
          <p:spPr>
            <a:xfrm>
              <a:off x="5857646" y="3887367"/>
              <a:ext cx="1276580" cy="2723769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dirty="0"/>
                <a:t>Process</a:t>
              </a:r>
              <a:endParaRPr lang="ko-KR" altLang="en-US" dirty="0"/>
            </a:p>
          </p:txBody>
        </p:sp>
      </p:grp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19667" y="1537027"/>
            <a:ext cx="10515600" cy="2190066"/>
          </a:xfrm>
        </p:spPr>
        <p:txBody>
          <a:bodyPr>
            <a:normAutofit/>
          </a:bodyPr>
          <a:lstStyle/>
          <a:p>
            <a:r>
              <a:rPr lang="ko-KR" altLang="en-US" dirty="0"/>
              <a:t>컴퓨터가 발전하면서</a:t>
            </a:r>
            <a:r>
              <a:rPr lang="en-US" altLang="ko-KR" dirty="0"/>
              <a:t>,</a:t>
            </a:r>
            <a:r>
              <a:rPr lang="ko-KR" altLang="en-US" dirty="0"/>
              <a:t>  </a:t>
            </a:r>
            <a:r>
              <a:rPr lang="en-US" altLang="ko-KR" dirty="0"/>
              <a:t>2</a:t>
            </a:r>
            <a:r>
              <a:rPr lang="ko-KR" altLang="en-US" dirty="0" err="1"/>
              <a:t>개이상의</a:t>
            </a:r>
            <a:r>
              <a:rPr lang="ko-KR" altLang="en-US" dirty="0"/>
              <a:t> </a:t>
            </a:r>
            <a:r>
              <a:rPr lang="en-US" altLang="ko-KR" dirty="0" err="1"/>
              <a:t>cpu</a:t>
            </a:r>
            <a:r>
              <a:rPr lang="ko-KR" altLang="en-US" dirty="0"/>
              <a:t>를 가진 컴퓨터가 등장하고</a:t>
            </a:r>
            <a:r>
              <a:rPr lang="en-US" altLang="ko-KR" dirty="0"/>
              <a:t>, </a:t>
            </a:r>
            <a:r>
              <a:rPr lang="ko-KR" altLang="en-US" dirty="0"/>
              <a:t>이를 처리하기위한 처리방식이다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쓰레드는</a:t>
            </a:r>
            <a:r>
              <a:rPr lang="ko-KR" altLang="en-US" dirty="0"/>
              <a:t> 흐름을 직접 제어하는데 반해 </a:t>
            </a:r>
            <a:r>
              <a:rPr lang="en-US" altLang="ko-KR" dirty="0" err="1"/>
              <a:t>Async</a:t>
            </a:r>
            <a:r>
              <a:rPr lang="ko-KR" altLang="en-US" dirty="0"/>
              <a:t>는 </a:t>
            </a:r>
            <a:r>
              <a:rPr lang="en-US" altLang="ko-KR" dirty="0"/>
              <a:t>Task</a:t>
            </a:r>
            <a:r>
              <a:rPr lang="ko-KR" altLang="en-US" dirty="0"/>
              <a:t>를 여러 개 만들어</a:t>
            </a:r>
            <a:r>
              <a:rPr lang="en-US" altLang="ko-KR" dirty="0"/>
              <a:t> </a:t>
            </a:r>
            <a:r>
              <a:rPr lang="ko-KR" altLang="en-US" dirty="0" err="1"/>
              <a:t>잡스케쥴링</a:t>
            </a:r>
            <a:r>
              <a:rPr lang="en-US" altLang="ko-KR" dirty="0"/>
              <a:t>(</a:t>
            </a:r>
            <a:r>
              <a:rPr lang="ko-KR" altLang="en-US" dirty="0"/>
              <a:t>사용하더라도 내부에서 </a:t>
            </a:r>
            <a:r>
              <a:rPr lang="en-US" altLang="ko-KR" dirty="0"/>
              <a:t>CPU</a:t>
            </a:r>
            <a:r>
              <a:rPr lang="ko-KR" altLang="en-US" dirty="0"/>
              <a:t>코어나 </a:t>
            </a:r>
            <a:r>
              <a:rPr lang="ko-KR" altLang="en-US" dirty="0" err="1"/>
              <a:t>쓰레드수에</a:t>
            </a:r>
            <a:r>
              <a:rPr lang="ko-KR" altLang="en-US" dirty="0"/>
              <a:t> 맞게 분배</a:t>
            </a:r>
            <a:r>
              <a:rPr lang="en-US" altLang="ko-KR" dirty="0"/>
              <a:t>)</a:t>
            </a:r>
            <a:r>
              <a:rPr lang="ko-KR" altLang="en-US" dirty="0"/>
              <a:t>한다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87904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altLang="ko-KR" dirty="0"/>
              <a:t>Task</a:t>
            </a:r>
            <a:r>
              <a:rPr lang="ko-KR" altLang="en-US" dirty="0"/>
              <a:t>와 </a:t>
            </a:r>
            <a:r>
              <a:rPr lang="en-US" altLang="ko-KR" dirty="0"/>
              <a:t>Thread</a:t>
            </a:r>
            <a:r>
              <a:rPr lang="ko-KR" altLang="en-US" dirty="0"/>
              <a:t>중 </a:t>
            </a:r>
            <a:r>
              <a:rPr lang="ko-KR" altLang="en-US" dirty="0" err="1"/>
              <a:t>어느쪽이</a:t>
            </a:r>
            <a:r>
              <a:rPr lang="ko-KR" altLang="en-US" dirty="0"/>
              <a:t> 더 빠른가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19667" y="1537027"/>
            <a:ext cx="11125200" cy="598532"/>
          </a:xfrm>
        </p:spPr>
        <p:txBody>
          <a:bodyPr>
            <a:normAutofit/>
          </a:bodyPr>
          <a:lstStyle/>
          <a:p>
            <a:r>
              <a:rPr lang="en-US" altLang="ko-KR" dirty="0"/>
              <a:t>Thread</a:t>
            </a:r>
            <a:r>
              <a:rPr lang="ko-KR" altLang="en-US" dirty="0"/>
              <a:t>와 </a:t>
            </a:r>
            <a:r>
              <a:rPr lang="en-US" altLang="ko-KR" dirty="0"/>
              <a:t>Task</a:t>
            </a:r>
            <a:r>
              <a:rPr lang="ko-KR" altLang="en-US" dirty="0"/>
              <a:t>를 각각 </a:t>
            </a:r>
            <a:r>
              <a:rPr lang="en-US" altLang="ko-KR" dirty="0"/>
              <a:t>2000</a:t>
            </a:r>
            <a:r>
              <a:rPr lang="ko-KR" altLang="en-US" dirty="0"/>
              <a:t>개씩 만들고</a:t>
            </a:r>
            <a:r>
              <a:rPr lang="en-US" altLang="ko-KR" dirty="0"/>
              <a:t>, </a:t>
            </a:r>
            <a:r>
              <a:rPr lang="ko-KR" altLang="en-US" dirty="0"/>
              <a:t>각 처리시간을 비교한다</a:t>
            </a:r>
            <a:r>
              <a:rPr lang="en-US" altLang="ko-KR" dirty="0"/>
              <a:t>.</a:t>
            </a:r>
          </a:p>
        </p:txBody>
      </p:sp>
      <p:grpSp>
        <p:nvGrpSpPr>
          <p:cNvPr id="41" name="그룹 40"/>
          <p:cNvGrpSpPr/>
          <p:nvPr/>
        </p:nvGrpSpPr>
        <p:grpSpPr>
          <a:xfrm>
            <a:off x="8054136" y="6072798"/>
            <a:ext cx="4036939" cy="746216"/>
            <a:chOff x="7831492" y="5460766"/>
            <a:chExt cx="4121022" cy="761759"/>
          </a:xfrm>
        </p:grpSpPr>
        <p:sp>
          <p:nvSpPr>
            <p:cNvPr id="42" name="TextBox 41"/>
            <p:cNvSpPr txBox="1"/>
            <p:nvPr/>
          </p:nvSpPr>
          <p:spPr>
            <a:xfrm>
              <a:off x="7831492" y="5562732"/>
              <a:ext cx="4121022" cy="659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b="1" dirty="0">
                  <a:solidFill>
                    <a:schemeClr val="bg2">
                      <a:lumMod val="50000"/>
                    </a:schemeClr>
                  </a:solidFill>
                </a:rPr>
                <a:t>Docs. Link</a:t>
              </a:r>
            </a:p>
            <a:p>
              <a:pPr algn="r"/>
              <a:r>
                <a:rPr lang="en-US" altLang="ko-KR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C# </a:t>
              </a:r>
              <a:r>
                <a:rPr lang="ko-KR" altLang="en-US" b="1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비동기화</a:t>
              </a:r>
              <a:r>
                <a:rPr lang="ko-KR" alt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프로그래밍</a:t>
              </a:r>
              <a:endPara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43" name="Picture 2" descr="https://img-prod-cms-rt-microsoft-com.akamaized.net/cms/api/am/imageFileData/RE1Mu3b?ver=5c31">
              <a:hlinkClick r:id="rId2"/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36429" y="5460766"/>
              <a:ext cx="2057400" cy="438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그룹 18"/>
          <p:cNvGrpSpPr/>
          <p:nvPr/>
        </p:nvGrpSpPr>
        <p:grpSpPr>
          <a:xfrm>
            <a:off x="861841" y="2426210"/>
            <a:ext cx="9717654" cy="3099781"/>
            <a:chOff x="861841" y="2426210"/>
            <a:chExt cx="9717654" cy="3099781"/>
          </a:xfrm>
        </p:grpSpPr>
        <p:grpSp>
          <p:nvGrpSpPr>
            <p:cNvPr id="12" name="그룹 11"/>
            <p:cNvGrpSpPr/>
            <p:nvPr/>
          </p:nvGrpSpPr>
          <p:grpSpPr>
            <a:xfrm>
              <a:off x="861841" y="2463211"/>
              <a:ext cx="1281141" cy="2574456"/>
              <a:chOff x="735593" y="2463211"/>
              <a:chExt cx="1281141" cy="2574456"/>
            </a:xfrm>
          </p:grpSpPr>
          <p:sp>
            <p:nvSpPr>
              <p:cNvPr id="39" name="직사각형 38"/>
              <p:cNvSpPr/>
              <p:nvPr/>
            </p:nvSpPr>
            <p:spPr>
              <a:xfrm>
                <a:off x="735593" y="2463211"/>
                <a:ext cx="1281141" cy="2574456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en-US" altLang="ko-KR" sz="2000" b="1" dirty="0"/>
                  <a:t>Task Full</a:t>
                </a:r>
                <a:endParaRPr lang="ko-KR" altLang="en-US" sz="2000" b="1" dirty="0"/>
              </a:p>
            </p:txBody>
          </p:sp>
          <p:sp>
            <p:nvSpPr>
              <p:cNvPr id="5" name="직사각형 4"/>
              <p:cNvSpPr/>
              <p:nvPr/>
            </p:nvSpPr>
            <p:spPr>
              <a:xfrm>
                <a:off x="870855" y="2916589"/>
                <a:ext cx="1068878" cy="35413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dirty="0"/>
                  <a:t>Job1</a:t>
                </a:r>
                <a:endParaRPr lang="ko-KR" altLang="en-US" dirty="0"/>
              </a:p>
            </p:txBody>
          </p:sp>
          <p:sp>
            <p:nvSpPr>
              <p:cNvPr id="46" name="직사각형 45"/>
              <p:cNvSpPr/>
              <p:nvPr/>
            </p:nvSpPr>
            <p:spPr>
              <a:xfrm>
                <a:off x="870854" y="4569464"/>
                <a:ext cx="1068879" cy="35413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dirty="0"/>
                  <a:t>Job1000</a:t>
                </a:r>
                <a:endParaRPr lang="ko-KR" altLang="en-US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 rot="5400000">
                <a:off x="1039777" y="3766222"/>
                <a:ext cx="8358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………...</a:t>
                </a:r>
                <a:endParaRPr lang="ko-KR" altLang="en-US" dirty="0"/>
              </a:p>
            </p:txBody>
          </p:sp>
        </p:grpSp>
        <p:sp>
          <p:nvSpPr>
            <p:cNvPr id="8" name="오른쪽 화살표 7"/>
            <p:cNvSpPr/>
            <p:nvPr/>
          </p:nvSpPr>
          <p:spPr>
            <a:xfrm>
              <a:off x="4629669" y="2971311"/>
              <a:ext cx="330200" cy="283070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5" name="오른쪽 화살표 54"/>
            <p:cNvSpPr/>
            <p:nvPr/>
          </p:nvSpPr>
          <p:spPr>
            <a:xfrm>
              <a:off x="4644887" y="3408432"/>
              <a:ext cx="330200" cy="283070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6" name="오른쪽 화살표 55"/>
            <p:cNvSpPr/>
            <p:nvPr/>
          </p:nvSpPr>
          <p:spPr>
            <a:xfrm>
              <a:off x="4643632" y="3897160"/>
              <a:ext cx="330200" cy="283070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7" name="오른쪽 화살표 56"/>
            <p:cNvSpPr/>
            <p:nvPr/>
          </p:nvSpPr>
          <p:spPr>
            <a:xfrm>
              <a:off x="4626912" y="4604994"/>
              <a:ext cx="330200" cy="283070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6984024" y="2463461"/>
              <a:ext cx="1614791" cy="2492078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dirty="0"/>
                <a:t>OS</a:t>
              </a:r>
            </a:p>
            <a:p>
              <a:pPr algn="ctr"/>
              <a:r>
                <a:rPr lang="en-US" altLang="ko-KR" dirty="0"/>
                <a:t>(Windows,</a:t>
              </a:r>
              <a:br>
                <a:rPr lang="en-US" altLang="ko-KR" dirty="0"/>
              </a:br>
              <a:r>
                <a:rPr lang="en-US" altLang="ko-KR" dirty="0"/>
                <a:t>Linux…)</a:t>
              </a:r>
              <a:endParaRPr lang="ko-KR" altLang="en-US" dirty="0"/>
            </a:p>
          </p:txBody>
        </p:sp>
        <p:grpSp>
          <p:nvGrpSpPr>
            <p:cNvPr id="14" name="그룹 13"/>
            <p:cNvGrpSpPr/>
            <p:nvPr/>
          </p:nvGrpSpPr>
          <p:grpSpPr>
            <a:xfrm>
              <a:off x="2689519" y="2472461"/>
              <a:ext cx="1912432" cy="2574456"/>
              <a:chOff x="2433602" y="2463211"/>
              <a:chExt cx="1912432" cy="2574456"/>
            </a:xfrm>
          </p:grpSpPr>
          <p:sp>
            <p:nvSpPr>
              <p:cNvPr id="45" name="직사각형 44"/>
              <p:cNvSpPr/>
              <p:nvPr/>
            </p:nvSpPr>
            <p:spPr>
              <a:xfrm>
                <a:off x="2433602" y="2463211"/>
                <a:ext cx="1912432" cy="2574456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en-US" altLang="ko-KR" sz="2000" b="1" dirty="0"/>
                  <a:t>Job-scheduler</a:t>
                </a:r>
                <a:endParaRPr lang="ko-KR" altLang="en-US" sz="2000" b="1" dirty="0"/>
              </a:p>
            </p:txBody>
          </p:sp>
          <p:sp>
            <p:nvSpPr>
              <p:cNvPr id="47" name="직사각형 46"/>
              <p:cNvSpPr/>
              <p:nvPr/>
            </p:nvSpPr>
            <p:spPr>
              <a:xfrm>
                <a:off x="2533592" y="2916589"/>
                <a:ext cx="1719310" cy="35413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dirty="0"/>
                  <a:t>Job1~50</a:t>
                </a:r>
                <a:endParaRPr lang="ko-KR" altLang="en-US" dirty="0"/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2533592" y="3377337"/>
                <a:ext cx="1719310" cy="35413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dirty="0"/>
                  <a:t>Job51~100</a:t>
                </a:r>
                <a:endParaRPr lang="ko-KR" altLang="en-US" dirty="0"/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2533592" y="3826099"/>
                <a:ext cx="1719310" cy="35413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dirty="0"/>
                  <a:t>Job101~150</a:t>
                </a:r>
                <a:endParaRPr lang="ko-KR" altLang="en-US" dirty="0"/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2526737" y="4545798"/>
                <a:ext cx="1728801" cy="35413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dirty="0"/>
                  <a:t>Job950~1000</a:t>
                </a:r>
                <a:endParaRPr lang="ko-KR" altLang="en-US" dirty="0"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 rot="5400000">
                <a:off x="3314944" y="4223394"/>
                <a:ext cx="3447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...</a:t>
                </a:r>
                <a:endParaRPr lang="ko-KR" altLang="en-US" dirty="0"/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 rot="5400000">
              <a:off x="4692761" y="4207946"/>
              <a:ext cx="3447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...</a:t>
              </a:r>
              <a:endParaRPr lang="ko-KR" altLang="en-US" dirty="0"/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4982073" y="2426210"/>
              <a:ext cx="1525866" cy="2574456"/>
              <a:chOff x="4736538" y="2426210"/>
              <a:chExt cx="1525866" cy="2574456"/>
            </a:xfrm>
          </p:grpSpPr>
          <p:sp>
            <p:nvSpPr>
              <p:cNvPr id="35" name="직사각형 34"/>
              <p:cNvSpPr/>
              <p:nvPr/>
            </p:nvSpPr>
            <p:spPr>
              <a:xfrm>
                <a:off x="4736538" y="2426210"/>
                <a:ext cx="1525866" cy="2574456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en-US" altLang="ko-KR" sz="2000" dirty="0"/>
                  <a:t>Thread Full</a:t>
                </a:r>
                <a:endParaRPr lang="ko-KR" altLang="en-US" sz="2000" b="1" dirty="0"/>
              </a:p>
            </p:txBody>
          </p:sp>
          <p:sp>
            <p:nvSpPr>
              <p:cNvPr id="48" name="직사각형 47"/>
              <p:cNvSpPr/>
              <p:nvPr/>
            </p:nvSpPr>
            <p:spPr>
              <a:xfrm>
                <a:off x="4822805" y="2916589"/>
                <a:ext cx="1309696" cy="35413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dirty="0"/>
                  <a:t>Thread1</a:t>
                </a:r>
                <a:endParaRPr lang="ko-KR" altLang="en-US" dirty="0"/>
              </a:p>
            </p:txBody>
          </p:sp>
          <p:sp>
            <p:nvSpPr>
              <p:cNvPr id="49" name="직사각형 48"/>
              <p:cNvSpPr/>
              <p:nvPr/>
            </p:nvSpPr>
            <p:spPr>
              <a:xfrm>
                <a:off x="4822805" y="3355119"/>
                <a:ext cx="1309696" cy="35413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dirty="0"/>
                  <a:t>Thread2</a:t>
                </a:r>
                <a:endParaRPr lang="ko-KR" altLang="en-US" dirty="0"/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4822805" y="3847881"/>
                <a:ext cx="1309696" cy="35413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dirty="0"/>
                  <a:t>Thread3</a:t>
                </a:r>
                <a:endParaRPr lang="ko-KR" altLang="en-US" dirty="0"/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4822805" y="4545798"/>
                <a:ext cx="1309696" cy="35413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dirty="0"/>
                  <a:t>Thread20</a:t>
                </a:r>
                <a:endParaRPr lang="ko-KR" altLang="en-US" dirty="0"/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 rot="5400000">
                <a:off x="5395967" y="4247949"/>
                <a:ext cx="3447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...</a:t>
                </a:r>
                <a:endParaRPr lang="ko-KR" altLang="en-US" dirty="0"/>
              </a:p>
            </p:txBody>
          </p:sp>
        </p:grpSp>
        <p:sp>
          <p:nvSpPr>
            <p:cNvPr id="11" name="오른쪽 화살표 10"/>
            <p:cNvSpPr/>
            <p:nvPr/>
          </p:nvSpPr>
          <p:spPr>
            <a:xfrm>
              <a:off x="6648334" y="3042872"/>
              <a:ext cx="228600" cy="1610017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7" name="오른쪽 화살표 36"/>
            <p:cNvSpPr/>
            <p:nvPr/>
          </p:nvSpPr>
          <p:spPr>
            <a:xfrm>
              <a:off x="8691947" y="3042872"/>
              <a:ext cx="228600" cy="1610017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16" name="그룹 15"/>
            <p:cNvGrpSpPr/>
            <p:nvPr/>
          </p:nvGrpSpPr>
          <p:grpSpPr>
            <a:xfrm>
              <a:off x="8993526" y="2463461"/>
              <a:ext cx="1585969" cy="2515721"/>
              <a:chOff x="8747991" y="2463461"/>
              <a:chExt cx="1585969" cy="2515721"/>
            </a:xfrm>
          </p:grpSpPr>
          <p:grpSp>
            <p:nvGrpSpPr>
              <p:cNvPr id="4" name="그룹 3"/>
              <p:cNvGrpSpPr/>
              <p:nvPr/>
            </p:nvGrpSpPr>
            <p:grpSpPr>
              <a:xfrm>
                <a:off x="8747991" y="2463461"/>
                <a:ext cx="1585969" cy="2492078"/>
                <a:chOff x="7371764" y="2463211"/>
                <a:chExt cx="1585969" cy="2492078"/>
              </a:xfrm>
            </p:grpSpPr>
            <p:sp>
              <p:nvSpPr>
                <p:cNvPr id="30" name="직사각형 29"/>
                <p:cNvSpPr/>
                <p:nvPr/>
              </p:nvSpPr>
              <p:spPr>
                <a:xfrm>
                  <a:off x="7371764" y="2463211"/>
                  <a:ext cx="1585969" cy="2492078"/>
                </a:xfrm>
                <a:prstGeom prst="rect">
                  <a:avLst/>
                </a:prstGeom>
                <a:solidFill>
                  <a:schemeClr val="accent1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 anchorCtr="0"/>
                <a:lstStyle/>
                <a:p>
                  <a:r>
                    <a:rPr lang="en-US" altLang="ko-KR" sz="2000" b="1" dirty="0"/>
                    <a:t>CPU</a:t>
                  </a:r>
                  <a:endParaRPr lang="ko-KR" altLang="en-US" sz="2000" b="1" dirty="0"/>
                </a:p>
              </p:txBody>
            </p:sp>
            <p:sp>
              <p:nvSpPr>
                <p:cNvPr id="26" name="직사각형 25"/>
                <p:cNvSpPr/>
                <p:nvPr/>
              </p:nvSpPr>
              <p:spPr>
                <a:xfrm>
                  <a:off x="7484364" y="2921770"/>
                  <a:ext cx="1309696" cy="354131"/>
                </a:xfrm>
                <a:prstGeom prst="rect">
                  <a:avLst/>
                </a:prstGeom>
                <a:solidFill>
                  <a:schemeClr val="accent1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ko-KR" dirty="0"/>
                    <a:t>CPU1</a:t>
                  </a:r>
                  <a:endParaRPr lang="ko-KR" altLang="en-US" dirty="0"/>
                </a:p>
              </p:txBody>
            </p:sp>
            <p:sp>
              <p:nvSpPr>
                <p:cNvPr id="27" name="직사각형 26"/>
                <p:cNvSpPr/>
                <p:nvPr/>
              </p:nvSpPr>
              <p:spPr>
                <a:xfrm>
                  <a:off x="7484364" y="3360300"/>
                  <a:ext cx="1309696" cy="354131"/>
                </a:xfrm>
                <a:prstGeom prst="rect">
                  <a:avLst/>
                </a:prstGeom>
                <a:solidFill>
                  <a:schemeClr val="accent1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ko-KR" dirty="0"/>
                    <a:t>CPU2</a:t>
                  </a:r>
                  <a:endParaRPr lang="ko-KR" altLang="en-US" dirty="0"/>
                </a:p>
              </p:txBody>
            </p:sp>
            <p:sp>
              <p:nvSpPr>
                <p:cNvPr id="28" name="직사각형 27"/>
                <p:cNvSpPr/>
                <p:nvPr/>
              </p:nvSpPr>
              <p:spPr>
                <a:xfrm>
                  <a:off x="7484364" y="3853062"/>
                  <a:ext cx="1309696" cy="354131"/>
                </a:xfrm>
                <a:prstGeom prst="rect">
                  <a:avLst/>
                </a:prstGeom>
                <a:solidFill>
                  <a:schemeClr val="accent1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ko-KR" dirty="0"/>
                    <a:t>CPU3</a:t>
                  </a:r>
                  <a:endParaRPr lang="ko-KR" altLang="en-US" dirty="0"/>
                </a:p>
              </p:txBody>
            </p:sp>
            <p:sp>
              <p:nvSpPr>
                <p:cNvPr id="29" name="직사각형 28"/>
                <p:cNvSpPr/>
                <p:nvPr/>
              </p:nvSpPr>
              <p:spPr>
                <a:xfrm>
                  <a:off x="7484364" y="4280042"/>
                  <a:ext cx="1309696" cy="354131"/>
                </a:xfrm>
                <a:prstGeom prst="rect">
                  <a:avLst/>
                </a:prstGeom>
                <a:solidFill>
                  <a:schemeClr val="accent1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ko-KR" dirty="0"/>
                    <a:t>CPU4</a:t>
                  </a:r>
                  <a:endParaRPr lang="ko-KR" altLang="en-US" dirty="0"/>
                </a:p>
              </p:txBody>
            </p:sp>
          </p:grpSp>
          <p:sp>
            <p:nvSpPr>
              <p:cNvPr id="38" name="TextBox 37"/>
              <p:cNvSpPr txBox="1"/>
              <p:nvPr/>
            </p:nvSpPr>
            <p:spPr>
              <a:xfrm rot="5400000">
                <a:off x="9475209" y="4622137"/>
                <a:ext cx="3447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...</a:t>
                </a:r>
                <a:endParaRPr lang="ko-KR" altLang="en-US" dirty="0"/>
              </a:p>
            </p:txBody>
          </p:sp>
        </p:grpSp>
        <p:sp>
          <p:nvSpPr>
            <p:cNvPr id="13" name="오른쪽 화살표 12"/>
            <p:cNvSpPr/>
            <p:nvPr/>
          </p:nvSpPr>
          <p:spPr>
            <a:xfrm>
              <a:off x="2215962" y="2942776"/>
              <a:ext cx="416610" cy="1945287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79599" y="5139786"/>
              <a:ext cx="13292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Give a Job</a:t>
              </a:r>
              <a:endParaRPr lang="ko-KR" altLang="en-US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200506" y="5139786"/>
              <a:ext cx="15991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Process Job</a:t>
              </a:r>
              <a:endParaRPr lang="ko-KR" altLang="en-US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055280" y="5156659"/>
              <a:ext cx="2104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HW Scheduling</a:t>
              </a:r>
              <a:endParaRPr lang="ko-KR" altLang="en-US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507940" y="5151445"/>
              <a:ext cx="544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API</a:t>
              </a:r>
              <a:endParaRPr lang="ko-KR" altLang="en-US" dirty="0"/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259441" y="5887621"/>
            <a:ext cx="602400" cy="570124"/>
            <a:chOff x="6685716" y="3420533"/>
            <a:chExt cx="1674253" cy="1584549"/>
          </a:xfrm>
        </p:grpSpPr>
        <p:sp>
          <p:nvSpPr>
            <p:cNvPr id="62" name="아래쪽 화살표 61">
              <a:hlinkClick r:id="rId4"/>
            </p:cNvPr>
            <p:cNvSpPr/>
            <p:nvPr/>
          </p:nvSpPr>
          <p:spPr>
            <a:xfrm>
              <a:off x="6685716" y="3420533"/>
              <a:ext cx="1674253" cy="1185988"/>
            </a:xfrm>
            <a:prstGeom prst="downArrow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6801344" y="4747305"/>
              <a:ext cx="1558625" cy="257777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31009" y="6508399"/>
            <a:ext cx="1100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TaskThread</a:t>
            </a:r>
            <a:r>
              <a:rPr lang="en-US" altLang="ko-KR" sz="1000" dirty="0"/>
              <a:t>(C#)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91516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6000" dirty="0"/>
              <a:t>Q&amp;A</a:t>
            </a:r>
            <a:endParaRPr lang="ko-KR" altLang="en-US" sz="6000" dirty="0"/>
          </a:p>
        </p:txBody>
      </p:sp>
      <p:sp>
        <p:nvSpPr>
          <p:cNvPr id="5" name="오른쪽 화살표 4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" name="내용 개체 틀 3"/>
          <p:cNvSpPr>
            <a:spLocks noGrp="1"/>
          </p:cNvSpPr>
          <p:nvPr>
            <p:ph idx="1"/>
          </p:nvPr>
        </p:nvSpPr>
        <p:spPr>
          <a:xfrm>
            <a:off x="838200" y="2843542"/>
            <a:ext cx="10515600" cy="10728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ko-KR" altLang="en-US" sz="6000" dirty="0"/>
              <a:t>감사합니다</a:t>
            </a:r>
            <a:r>
              <a:rPr lang="en-US" altLang="ko-KR" sz="6000" dirty="0"/>
              <a:t>!</a:t>
            </a:r>
            <a:endParaRPr lang="ko-KR" altLang="en-US" sz="6000" dirty="0"/>
          </a:p>
        </p:txBody>
      </p:sp>
    </p:spTree>
    <p:extLst>
      <p:ext uri="{BB962C8B-B14F-4D97-AF65-F5344CB8AC3E}">
        <p14:creationId xmlns:p14="http://schemas.microsoft.com/office/powerpoint/2010/main" val="275356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build="p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alpha val="50000"/>
          </a:schemeClr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>
          <a:defRPr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3361</TotalTime>
  <Words>793</Words>
  <Application>Microsoft Office PowerPoint</Application>
  <PresentationFormat>와이드스크린</PresentationFormat>
  <Paragraphs>228</Paragraphs>
  <Slides>17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Office 테마</vt:lpstr>
      <vt:lpstr>스레드와 동기화</vt:lpstr>
      <vt:lpstr>프로세스와 스레드</vt:lpstr>
      <vt:lpstr>프로세스와 스레드</vt:lpstr>
      <vt:lpstr>운영체제와 어플리케이션</vt:lpstr>
      <vt:lpstr>스레드를 이용한 WinAPI데모 만들기</vt:lpstr>
      <vt:lpstr>메시지 큐의 장점</vt:lpstr>
      <vt:lpstr>스레드의 장점</vt:lpstr>
      <vt:lpstr>경쟁상태(Race Condition)</vt:lpstr>
      <vt:lpstr>경쟁상태 사례(Race Condition)</vt:lpstr>
      <vt:lpstr>스레드의 동기화</vt:lpstr>
      <vt:lpstr>임계영역 (Critcal Section)</vt:lpstr>
      <vt:lpstr>뮤텍스 (Mutex)</vt:lpstr>
      <vt:lpstr>입력 무시현상 (뮤텍스 사용) </vt:lpstr>
      <vt:lpstr>세마포어 (Semaphore)</vt:lpstr>
      <vt:lpstr>Task와 Async를 활용한 비동기화 프로그래밍</vt:lpstr>
      <vt:lpstr>Task와 Thread중 어느쪽이 더 빠른가?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MFC</dc:title>
  <dc:creator>khg</dc:creator>
  <cp:lastModifiedBy>김 홍규</cp:lastModifiedBy>
  <cp:revision>129</cp:revision>
  <dcterms:created xsi:type="dcterms:W3CDTF">2017-05-06T16:20:53Z</dcterms:created>
  <dcterms:modified xsi:type="dcterms:W3CDTF">2024-07-02T03:06:39Z</dcterms:modified>
</cp:coreProperties>
</file>