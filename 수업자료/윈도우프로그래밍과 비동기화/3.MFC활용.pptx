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2" r:id="rId4"/>
    <p:sldId id="271" r:id="rId5"/>
    <p:sldId id="267" r:id="rId6"/>
    <p:sldId id="270" r:id="rId7"/>
    <p:sldId id="269" r:id="rId8"/>
    <p:sldId id="274" r:id="rId9"/>
    <p:sldId id="275" r:id="rId10"/>
    <p:sldId id="276" r:id="rId11"/>
    <p:sldId id="265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B59054-FD55-4C85-BFB5-1A862BBAC727}" v="4" dt="2022-06-17T10:35:21.8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210" y="1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홍규" userId="6d16d8e1c579a2a2" providerId="LiveId" clId="{3E2658BF-84C2-4EEB-A82B-A8E52D304B9E}"/>
    <pc:docChg chg="modSld">
      <pc:chgData name="김 홍규" userId="6d16d8e1c579a2a2" providerId="LiveId" clId="{3E2658BF-84C2-4EEB-A82B-A8E52D304B9E}" dt="2022-04-21T11:59:20.475" v="0" actId="20577"/>
      <pc:docMkLst>
        <pc:docMk/>
      </pc:docMkLst>
      <pc:sldChg chg="modSp">
        <pc:chgData name="김 홍규" userId="6d16d8e1c579a2a2" providerId="LiveId" clId="{3E2658BF-84C2-4EEB-A82B-A8E52D304B9E}" dt="2022-04-21T11:59:20.475" v="0" actId="20577"/>
        <pc:sldMkLst>
          <pc:docMk/>
          <pc:sldMk cId="1631661228" sldId="275"/>
        </pc:sldMkLst>
        <pc:spChg chg="mod">
          <ac:chgData name="김 홍규" userId="6d16d8e1c579a2a2" providerId="LiveId" clId="{3E2658BF-84C2-4EEB-A82B-A8E52D304B9E}" dt="2022-04-21T11:59:20.475" v="0" actId="20577"/>
          <ac:spMkLst>
            <pc:docMk/>
            <pc:sldMk cId="1631661228" sldId="275"/>
            <ac:spMk id="2" creationId="{00000000-0000-0000-0000-000000000000}"/>
          </ac:spMkLst>
        </pc:spChg>
      </pc:sldChg>
    </pc:docChg>
  </pc:docChgLst>
  <pc:docChgLst>
    <pc:chgData name="김 홍규" userId="6d16d8e1c579a2a2" providerId="LiveId" clId="{51B59054-FD55-4C85-BFB5-1A862BBAC727}"/>
    <pc:docChg chg="modSld">
      <pc:chgData name="김 홍규" userId="6d16d8e1c579a2a2" providerId="LiveId" clId="{51B59054-FD55-4C85-BFB5-1A862BBAC727}" dt="2022-06-17T10:35:21.866" v="26"/>
      <pc:docMkLst>
        <pc:docMk/>
      </pc:docMkLst>
      <pc:sldChg chg="modSp mod">
        <pc:chgData name="김 홍규" userId="6d16d8e1c579a2a2" providerId="LiveId" clId="{51B59054-FD55-4C85-BFB5-1A862BBAC727}" dt="2022-06-15T10:11:10.931" v="3" actId="20577"/>
        <pc:sldMkLst>
          <pc:docMk/>
          <pc:sldMk cId="3224812793" sldId="267"/>
        </pc:sldMkLst>
        <pc:spChg chg="mod">
          <ac:chgData name="김 홍규" userId="6d16d8e1c579a2a2" providerId="LiveId" clId="{51B59054-FD55-4C85-BFB5-1A862BBAC727}" dt="2022-06-15T10:11:10.931" v="3" actId="20577"/>
          <ac:spMkLst>
            <pc:docMk/>
            <pc:sldMk cId="3224812793" sldId="267"/>
            <ac:spMk id="3" creationId="{00000000-0000-0000-0000-000000000000}"/>
          </ac:spMkLst>
        </pc:spChg>
      </pc:sldChg>
      <pc:sldChg chg="modSp mod">
        <pc:chgData name="김 홍규" userId="6d16d8e1c579a2a2" providerId="LiveId" clId="{51B59054-FD55-4C85-BFB5-1A862BBAC727}" dt="2022-06-15T08:41:55.157" v="1" actId="20578"/>
        <pc:sldMkLst>
          <pc:docMk/>
          <pc:sldMk cId="1755350297" sldId="274"/>
        </pc:sldMkLst>
        <pc:spChg chg="mod">
          <ac:chgData name="김 홍규" userId="6d16d8e1c579a2a2" providerId="LiveId" clId="{51B59054-FD55-4C85-BFB5-1A862BBAC727}" dt="2022-06-15T08:41:55.157" v="1" actId="20578"/>
          <ac:spMkLst>
            <pc:docMk/>
            <pc:sldMk cId="1755350297" sldId="274"/>
            <ac:spMk id="8" creationId="{00000000-0000-0000-0000-000000000000}"/>
          </ac:spMkLst>
        </pc:spChg>
      </pc:sldChg>
      <pc:sldChg chg="modSp mod">
        <pc:chgData name="김 홍규" userId="6d16d8e1c579a2a2" providerId="LiveId" clId="{51B59054-FD55-4C85-BFB5-1A862BBAC727}" dt="2022-06-17T10:35:21.866" v="26"/>
        <pc:sldMkLst>
          <pc:docMk/>
          <pc:sldMk cId="3097890141" sldId="276"/>
        </pc:sldMkLst>
        <pc:spChg chg="mod">
          <ac:chgData name="김 홍규" userId="6d16d8e1c579a2a2" providerId="LiveId" clId="{51B59054-FD55-4C85-BFB5-1A862BBAC727}" dt="2022-06-17T10:35:21.866" v="26"/>
          <ac:spMkLst>
            <pc:docMk/>
            <pc:sldMk cId="3097890141" sldId="276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1788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302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3350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6022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402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29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1356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6011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295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785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C75-4975-413F-8D88-25CA53818A10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223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50C75-4975-413F-8D88-25CA53818A10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F78BF-2E56-4905-86D1-00CC89DD1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1410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1760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ko-KR" sz="9600" dirty="0"/>
              <a:t>MFC</a:t>
            </a:r>
            <a:r>
              <a:rPr lang="ko-KR" altLang="en-US" sz="9600" dirty="0"/>
              <a:t>의 활용</a:t>
            </a:r>
          </a:p>
        </p:txBody>
      </p:sp>
      <p:sp>
        <p:nvSpPr>
          <p:cNvPr id="4" name="오른쪽 화살표 3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5" name="TextBox 2"/>
          <p:cNvSpPr txBox="1"/>
          <p:nvPr/>
        </p:nvSpPr>
        <p:spPr>
          <a:xfrm>
            <a:off x="9226550" y="5934670"/>
            <a:ext cx="2965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dirty="0"/>
              <a:t>Ver. 2.0</a:t>
            </a:r>
          </a:p>
          <a:p>
            <a:pPr algn="r"/>
            <a:r>
              <a:rPr lang="en-US" altLang="ko-KR" dirty="0"/>
              <a:t>downkhg@gmail.com</a:t>
            </a:r>
          </a:p>
          <a:p>
            <a:pPr algn="r"/>
            <a:r>
              <a:rPr lang="ko-KR" altLang="en-US" dirty="0"/>
              <a:t>김홍규</a:t>
            </a:r>
          </a:p>
        </p:txBody>
      </p:sp>
    </p:spTree>
    <p:extLst>
      <p:ext uri="{BB962C8B-B14F-4D97-AF65-F5344CB8AC3E}">
        <p14:creationId xmlns:p14="http://schemas.microsoft.com/office/powerpoint/2010/main" val="2342768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MFC</a:t>
            </a:r>
            <a:r>
              <a:rPr lang="ko-KR" altLang="en-US" sz="3600" dirty="0"/>
              <a:t> 구조</a:t>
            </a:r>
            <a:endParaRPr lang="en-US" altLang="ko-KR" sz="3600" dirty="0"/>
          </a:p>
          <a:p>
            <a:r>
              <a:rPr lang="en-US" altLang="ko-KR" sz="3600" dirty="0"/>
              <a:t>MFC </a:t>
            </a:r>
            <a:r>
              <a:rPr lang="ko-KR" altLang="en-US" sz="3600" dirty="0"/>
              <a:t>문자열</a:t>
            </a:r>
            <a:endParaRPr lang="en-US" altLang="ko-KR" sz="3600" dirty="0"/>
          </a:p>
          <a:p>
            <a:r>
              <a:rPr lang="en-US" altLang="ko-KR" sz="3600" dirty="0"/>
              <a:t>MFC GUI </a:t>
            </a:r>
            <a:r>
              <a:rPr lang="ko-KR" altLang="en-US" sz="3600" dirty="0"/>
              <a:t>만들기 실습</a:t>
            </a:r>
            <a:endParaRPr lang="en-US" altLang="ko-KR" sz="3600" dirty="0"/>
          </a:p>
          <a:p>
            <a:endParaRPr lang="en-US" altLang="ko-KR" sz="3600" dirty="0"/>
          </a:p>
        </p:txBody>
      </p:sp>
      <p:sp>
        <p:nvSpPr>
          <p:cNvPr id="6" name="오른쪽 화살표 5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4198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MFC </a:t>
            </a:r>
            <a:r>
              <a:rPr lang="ko-KR" altLang="en-US" dirty="0"/>
              <a:t>구조 </a:t>
            </a:r>
            <a:r>
              <a:rPr lang="en-US" altLang="ko-KR" sz="2400" b="1" dirty="0"/>
              <a:t>#</a:t>
            </a:r>
            <a:r>
              <a:rPr lang="ko-KR" altLang="en-US" sz="2400" b="1" dirty="0"/>
              <a:t>클래스 구성도</a:t>
            </a:r>
          </a:p>
        </p:txBody>
      </p:sp>
      <p:sp>
        <p:nvSpPr>
          <p:cNvPr id="6" name="오른쪽 화살표 5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896268" y="1506251"/>
            <a:ext cx="1721224" cy="50202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/>
              <a:t>CObject</a:t>
            </a:r>
            <a:endParaRPr lang="ko-KR" altLang="en-US" b="1" dirty="0"/>
          </a:p>
        </p:txBody>
      </p:sp>
      <p:sp>
        <p:nvSpPr>
          <p:cNvPr id="7" name="직사각형 6"/>
          <p:cNvSpPr/>
          <p:nvPr/>
        </p:nvSpPr>
        <p:spPr>
          <a:xfrm>
            <a:off x="1896268" y="2357907"/>
            <a:ext cx="1721224" cy="50202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/>
              <a:t>CCmdTarget</a:t>
            </a:r>
            <a:endParaRPr lang="ko-KR" altLang="en-US" b="1" dirty="0"/>
          </a:p>
        </p:txBody>
      </p:sp>
      <p:sp>
        <p:nvSpPr>
          <p:cNvPr id="8" name="직사각형 7"/>
          <p:cNvSpPr/>
          <p:nvPr/>
        </p:nvSpPr>
        <p:spPr>
          <a:xfrm>
            <a:off x="379561" y="3538697"/>
            <a:ext cx="1516707" cy="50202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/>
              <a:t>CWinThread</a:t>
            </a:r>
            <a:endParaRPr lang="ko-KR" altLang="en-US" b="1" dirty="0"/>
          </a:p>
        </p:txBody>
      </p:sp>
      <p:sp>
        <p:nvSpPr>
          <p:cNvPr id="9" name="직사각형 8"/>
          <p:cNvSpPr/>
          <p:nvPr/>
        </p:nvSpPr>
        <p:spPr>
          <a:xfrm>
            <a:off x="7148024" y="3538696"/>
            <a:ext cx="1721224" cy="50202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/>
              <a:t>CDocument</a:t>
            </a:r>
            <a:endParaRPr lang="ko-KR" altLang="en-US" b="1" dirty="0"/>
          </a:p>
        </p:txBody>
      </p:sp>
      <p:sp>
        <p:nvSpPr>
          <p:cNvPr id="10" name="직사각형 9"/>
          <p:cNvSpPr/>
          <p:nvPr/>
        </p:nvSpPr>
        <p:spPr>
          <a:xfrm>
            <a:off x="379561" y="4458683"/>
            <a:ext cx="1516707" cy="50202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/>
              <a:t>CWinApp</a:t>
            </a:r>
            <a:endParaRPr lang="ko-KR" altLang="en-US" b="1" dirty="0"/>
          </a:p>
        </p:txBody>
      </p:sp>
      <p:sp>
        <p:nvSpPr>
          <p:cNvPr id="11" name="직사각형 10"/>
          <p:cNvSpPr/>
          <p:nvPr/>
        </p:nvSpPr>
        <p:spPr>
          <a:xfrm>
            <a:off x="379561" y="5543413"/>
            <a:ext cx="1516707" cy="50202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/>
              <a:t>CMFCApp</a:t>
            </a:r>
            <a:endParaRPr lang="ko-KR" altLang="en-US" b="1" dirty="0"/>
          </a:p>
        </p:txBody>
      </p:sp>
      <p:sp>
        <p:nvSpPr>
          <p:cNvPr id="12" name="직사각형 11"/>
          <p:cNvSpPr/>
          <p:nvPr/>
        </p:nvSpPr>
        <p:spPr>
          <a:xfrm>
            <a:off x="2096230" y="5552746"/>
            <a:ext cx="1533044" cy="50202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/>
              <a:t>CMFCWnd</a:t>
            </a:r>
            <a:endParaRPr lang="ko-KR" altLang="en-US" b="1" dirty="0"/>
          </a:p>
        </p:txBody>
      </p:sp>
      <p:sp>
        <p:nvSpPr>
          <p:cNvPr id="13" name="직사각형 12"/>
          <p:cNvSpPr/>
          <p:nvPr/>
        </p:nvSpPr>
        <p:spPr>
          <a:xfrm>
            <a:off x="3821520" y="5552746"/>
            <a:ext cx="1490255" cy="50202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/>
              <a:t>CMFCView</a:t>
            </a:r>
            <a:endParaRPr lang="ko-KR" altLang="en-US" b="1" dirty="0"/>
          </a:p>
        </p:txBody>
      </p:sp>
      <p:sp>
        <p:nvSpPr>
          <p:cNvPr id="14" name="직사각형 13"/>
          <p:cNvSpPr/>
          <p:nvPr/>
        </p:nvSpPr>
        <p:spPr>
          <a:xfrm>
            <a:off x="3407698" y="3538699"/>
            <a:ext cx="1721224" cy="50202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/>
              <a:t>CWnd</a:t>
            </a:r>
            <a:endParaRPr lang="ko-KR" altLang="en-US" b="1" dirty="0"/>
          </a:p>
        </p:txBody>
      </p:sp>
      <p:sp>
        <p:nvSpPr>
          <p:cNvPr id="15" name="직사각형 14"/>
          <p:cNvSpPr/>
          <p:nvPr/>
        </p:nvSpPr>
        <p:spPr>
          <a:xfrm>
            <a:off x="2096230" y="4477487"/>
            <a:ext cx="1533043" cy="50202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/>
              <a:t>CFrameWnd</a:t>
            </a:r>
            <a:endParaRPr lang="ko-KR" altLang="en-US" b="1" dirty="0"/>
          </a:p>
        </p:txBody>
      </p:sp>
      <p:sp>
        <p:nvSpPr>
          <p:cNvPr id="16" name="직사각형 15"/>
          <p:cNvSpPr/>
          <p:nvPr/>
        </p:nvSpPr>
        <p:spPr>
          <a:xfrm>
            <a:off x="3821520" y="4477487"/>
            <a:ext cx="1490256" cy="50202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/>
              <a:t>CVeiw</a:t>
            </a:r>
            <a:endParaRPr lang="ko-KR" altLang="en-US" b="1" dirty="0"/>
          </a:p>
        </p:txBody>
      </p:sp>
      <p:sp>
        <p:nvSpPr>
          <p:cNvPr id="17" name="직사각형 16"/>
          <p:cNvSpPr/>
          <p:nvPr/>
        </p:nvSpPr>
        <p:spPr>
          <a:xfrm>
            <a:off x="5628388" y="4477487"/>
            <a:ext cx="1242878" cy="50202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/>
              <a:t>CDialog</a:t>
            </a:r>
            <a:endParaRPr lang="ko-KR" altLang="en-US" b="1" dirty="0"/>
          </a:p>
        </p:txBody>
      </p:sp>
      <p:sp>
        <p:nvSpPr>
          <p:cNvPr id="18" name="직사각형 17"/>
          <p:cNvSpPr/>
          <p:nvPr/>
        </p:nvSpPr>
        <p:spPr>
          <a:xfrm>
            <a:off x="7148024" y="5543412"/>
            <a:ext cx="1721224" cy="50202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/>
              <a:t>CMFCDoc</a:t>
            </a:r>
            <a:endParaRPr lang="ko-KR" altLang="en-US" b="1" dirty="0"/>
          </a:p>
        </p:txBody>
      </p:sp>
      <p:sp>
        <p:nvSpPr>
          <p:cNvPr id="19" name="직사각형 18"/>
          <p:cNvSpPr/>
          <p:nvPr/>
        </p:nvSpPr>
        <p:spPr>
          <a:xfrm>
            <a:off x="9344338" y="3538700"/>
            <a:ext cx="1927413" cy="50202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/>
              <a:t>CDocTemplate</a:t>
            </a:r>
            <a:endParaRPr lang="ko-KR" altLang="en-US" b="1" dirty="0"/>
          </a:p>
        </p:txBody>
      </p:sp>
      <p:sp>
        <p:nvSpPr>
          <p:cNvPr id="21" name="직사각형 20"/>
          <p:cNvSpPr/>
          <p:nvPr/>
        </p:nvSpPr>
        <p:spPr>
          <a:xfrm>
            <a:off x="8268739" y="4498387"/>
            <a:ext cx="2429945" cy="50202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/>
              <a:t>CSingleDocTemplate</a:t>
            </a:r>
            <a:endParaRPr lang="ko-KR" altLang="en-US" b="1" dirty="0"/>
          </a:p>
        </p:txBody>
      </p:sp>
      <p:sp>
        <p:nvSpPr>
          <p:cNvPr id="22" name="직사각형 21"/>
          <p:cNvSpPr/>
          <p:nvPr/>
        </p:nvSpPr>
        <p:spPr>
          <a:xfrm>
            <a:off x="9604474" y="5068487"/>
            <a:ext cx="2429945" cy="50202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/>
              <a:t>CMultiDocTemplate</a:t>
            </a:r>
            <a:endParaRPr lang="ko-KR" altLang="en-US" b="1" dirty="0"/>
          </a:p>
        </p:txBody>
      </p:sp>
      <p:sp>
        <p:nvSpPr>
          <p:cNvPr id="24" name="직사각형 23"/>
          <p:cNvSpPr/>
          <p:nvPr/>
        </p:nvSpPr>
        <p:spPr>
          <a:xfrm>
            <a:off x="5628387" y="5551056"/>
            <a:ext cx="1242879" cy="50202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/>
              <a:t>CMFCDig</a:t>
            </a:r>
            <a:endParaRPr lang="ko-KR" altLang="en-US" b="1" dirty="0"/>
          </a:p>
        </p:txBody>
      </p:sp>
      <p:cxnSp>
        <p:nvCxnSpPr>
          <p:cNvPr id="32" name="꺾인 연결선 31"/>
          <p:cNvCxnSpPr>
            <a:stCxn id="16" idx="0"/>
            <a:endCxn id="14" idx="2"/>
          </p:cNvCxnSpPr>
          <p:nvPr/>
        </p:nvCxnSpPr>
        <p:spPr>
          <a:xfrm rot="16200000" flipV="1">
            <a:off x="4199097" y="4109936"/>
            <a:ext cx="436765" cy="298338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연결선 54"/>
          <p:cNvCxnSpPr>
            <a:stCxn id="17" idx="0"/>
            <a:endCxn id="14" idx="2"/>
          </p:cNvCxnSpPr>
          <p:nvPr/>
        </p:nvCxnSpPr>
        <p:spPr>
          <a:xfrm rot="16200000" flipV="1">
            <a:off x="5040687" y="3268346"/>
            <a:ext cx="436765" cy="1981517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꺾인 연결선 76"/>
          <p:cNvCxnSpPr>
            <a:stCxn id="14" idx="0"/>
            <a:endCxn id="7" idx="2"/>
          </p:cNvCxnSpPr>
          <p:nvPr/>
        </p:nvCxnSpPr>
        <p:spPr>
          <a:xfrm rot="16200000" flipV="1">
            <a:off x="3173211" y="2443600"/>
            <a:ext cx="678769" cy="1511430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꺾인 연결선 84"/>
          <p:cNvCxnSpPr>
            <a:stCxn id="9" idx="0"/>
            <a:endCxn id="7" idx="2"/>
          </p:cNvCxnSpPr>
          <p:nvPr/>
        </p:nvCxnSpPr>
        <p:spPr>
          <a:xfrm rot="16200000" flipV="1">
            <a:off x="5043375" y="573435"/>
            <a:ext cx="678766" cy="5251756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꺾인 연결선 113"/>
          <p:cNvCxnSpPr>
            <a:stCxn id="19" idx="0"/>
            <a:endCxn id="7" idx="2"/>
          </p:cNvCxnSpPr>
          <p:nvPr/>
        </p:nvCxnSpPr>
        <p:spPr>
          <a:xfrm rot="16200000" flipV="1">
            <a:off x="6193078" y="-576268"/>
            <a:ext cx="678770" cy="7551165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꺾인 연결선 117"/>
          <p:cNvCxnSpPr>
            <a:stCxn id="22" idx="0"/>
            <a:endCxn id="19" idx="2"/>
          </p:cNvCxnSpPr>
          <p:nvPr/>
        </p:nvCxnSpPr>
        <p:spPr>
          <a:xfrm rot="16200000" flipV="1">
            <a:off x="10049864" y="4298904"/>
            <a:ext cx="1027764" cy="511402"/>
          </a:xfrm>
          <a:prstGeom prst="bentConnector3">
            <a:avLst>
              <a:gd name="adj1" fmla="val 7769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6" name="그룹 145"/>
          <p:cNvGrpSpPr/>
          <p:nvPr/>
        </p:nvGrpSpPr>
        <p:grpSpPr>
          <a:xfrm>
            <a:off x="2660203" y="2000394"/>
            <a:ext cx="193354" cy="357513"/>
            <a:chOff x="2660203" y="2000394"/>
            <a:chExt cx="193354" cy="357513"/>
          </a:xfrm>
        </p:grpSpPr>
        <p:cxnSp>
          <p:nvCxnSpPr>
            <p:cNvPr id="26" name="직선 화살표 연결선 25"/>
            <p:cNvCxnSpPr>
              <a:stCxn id="7" idx="0"/>
            </p:cNvCxnSpPr>
            <p:nvPr/>
          </p:nvCxnSpPr>
          <p:spPr>
            <a:xfrm flipV="1">
              <a:off x="2756880" y="2008274"/>
              <a:ext cx="0" cy="34963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이등변 삼각형 121"/>
            <p:cNvSpPr/>
            <p:nvPr/>
          </p:nvSpPr>
          <p:spPr>
            <a:xfrm>
              <a:off x="2660203" y="2000394"/>
              <a:ext cx="193354" cy="174816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45" name="그룹 144"/>
          <p:cNvGrpSpPr/>
          <p:nvPr/>
        </p:nvGrpSpPr>
        <p:grpSpPr>
          <a:xfrm>
            <a:off x="1137915" y="2840879"/>
            <a:ext cx="1715311" cy="697819"/>
            <a:chOff x="1137915" y="2840879"/>
            <a:chExt cx="1715311" cy="697819"/>
          </a:xfrm>
        </p:grpSpPr>
        <p:cxnSp>
          <p:nvCxnSpPr>
            <p:cNvPr id="44" name="꺾인 연결선 43"/>
            <p:cNvCxnSpPr>
              <a:stCxn id="8" idx="0"/>
              <a:endCxn id="7" idx="2"/>
            </p:cNvCxnSpPr>
            <p:nvPr/>
          </p:nvCxnSpPr>
          <p:spPr>
            <a:xfrm rot="5400000" flipH="1" flipV="1">
              <a:off x="1608014" y="2389832"/>
              <a:ext cx="678767" cy="1618965"/>
            </a:xfrm>
            <a:prstGeom prst="bentConnector3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이등변 삼각형 123"/>
            <p:cNvSpPr/>
            <p:nvPr/>
          </p:nvSpPr>
          <p:spPr>
            <a:xfrm>
              <a:off x="2659872" y="2840879"/>
              <a:ext cx="193354" cy="174816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47" name="그룹 146"/>
          <p:cNvGrpSpPr/>
          <p:nvPr/>
        </p:nvGrpSpPr>
        <p:grpSpPr>
          <a:xfrm>
            <a:off x="1041237" y="4040719"/>
            <a:ext cx="193354" cy="417964"/>
            <a:chOff x="1041237" y="4040719"/>
            <a:chExt cx="193354" cy="417964"/>
          </a:xfrm>
        </p:grpSpPr>
        <p:cxnSp>
          <p:nvCxnSpPr>
            <p:cNvPr id="40" name="직선 화살표 연결선 39"/>
            <p:cNvCxnSpPr>
              <a:stCxn id="10" idx="0"/>
              <a:endCxn id="8" idx="2"/>
            </p:cNvCxnSpPr>
            <p:nvPr/>
          </p:nvCxnSpPr>
          <p:spPr>
            <a:xfrm flipV="1">
              <a:off x="1137915" y="4040720"/>
              <a:ext cx="0" cy="41796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이등변 삼각형 124"/>
            <p:cNvSpPr/>
            <p:nvPr/>
          </p:nvSpPr>
          <p:spPr>
            <a:xfrm>
              <a:off x="1041237" y="4040719"/>
              <a:ext cx="193354" cy="174816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48" name="그룹 147"/>
          <p:cNvGrpSpPr/>
          <p:nvPr/>
        </p:nvGrpSpPr>
        <p:grpSpPr>
          <a:xfrm>
            <a:off x="1041237" y="4929687"/>
            <a:ext cx="193354" cy="613726"/>
            <a:chOff x="1041237" y="4929687"/>
            <a:chExt cx="193354" cy="613726"/>
          </a:xfrm>
        </p:grpSpPr>
        <p:cxnSp>
          <p:nvCxnSpPr>
            <p:cNvPr id="42" name="직선 화살표 연결선 41"/>
            <p:cNvCxnSpPr>
              <a:stCxn id="11" idx="0"/>
              <a:endCxn id="10" idx="2"/>
            </p:cNvCxnSpPr>
            <p:nvPr/>
          </p:nvCxnSpPr>
          <p:spPr>
            <a:xfrm flipV="1">
              <a:off x="1137915" y="4960706"/>
              <a:ext cx="0" cy="58270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이등변 삼각형 125"/>
            <p:cNvSpPr/>
            <p:nvPr/>
          </p:nvSpPr>
          <p:spPr>
            <a:xfrm>
              <a:off x="1041237" y="4929687"/>
              <a:ext cx="193354" cy="174816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54" name="그룹 153"/>
          <p:cNvGrpSpPr/>
          <p:nvPr/>
        </p:nvGrpSpPr>
        <p:grpSpPr>
          <a:xfrm>
            <a:off x="2862753" y="4032770"/>
            <a:ext cx="1502234" cy="444717"/>
            <a:chOff x="2862753" y="4032770"/>
            <a:chExt cx="1502234" cy="444717"/>
          </a:xfrm>
        </p:grpSpPr>
        <p:cxnSp>
          <p:nvCxnSpPr>
            <p:cNvPr id="30" name="꺾인 연결선 29"/>
            <p:cNvCxnSpPr>
              <a:stCxn id="15" idx="0"/>
              <a:endCxn id="14" idx="2"/>
            </p:cNvCxnSpPr>
            <p:nvPr/>
          </p:nvCxnSpPr>
          <p:spPr>
            <a:xfrm rot="5400000" flipH="1" flipV="1">
              <a:off x="3347149" y="3556326"/>
              <a:ext cx="436765" cy="1405558"/>
            </a:xfrm>
            <a:prstGeom prst="bentConnector3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이등변 삼각형 126"/>
            <p:cNvSpPr/>
            <p:nvPr/>
          </p:nvSpPr>
          <p:spPr>
            <a:xfrm>
              <a:off x="4171633" y="4032770"/>
              <a:ext cx="193354" cy="174816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49" name="그룹 148"/>
          <p:cNvGrpSpPr/>
          <p:nvPr/>
        </p:nvGrpSpPr>
        <p:grpSpPr>
          <a:xfrm>
            <a:off x="2769491" y="4973880"/>
            <a:ext cx="193354" cy="578866"/>
            <a:chOff x="2769491" y="4973880"/>
            <a:chExt cx="193354" cy="578866"/>
          </a:xfrm>
        </p:grpSpPr>
        <p:cxnSp>
          <p:nvCxnSpPr>
            <p:cNvPr id="34" name="직선 화살표 연결선 33"/>
            <p:cNvCxnSpPr>
              <a:stCxn id="12" idx="0"/>
              <a:endCxn id="15" idx="2"/>
            </p:cNvCxnSpPr>
            <p:nvPr/>
          </p:nvCxnSpPr>
          <p:spPr>
            <a:xfrm flipV="1">
              <a:off x="2862752" y="4979510"/>
              <a:ext cx="0" cy="57323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이등변 삼각형 133"/>
            <p:cNvSpPr/>
            <p:nvPr/>
          </p:nvSpPr>
          <p:spPr>
            <a:xfrm>
              <a:off x="2769491" y="4973880"/>
              <a:ext cx="193354" cy="174816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50" name="그룹 149"/>
          <p:cNvGrpSpPr/>
          <p:nvPr/>
        </p:nvGrpSpPr>
        <p:grpSpPr>
          <a:xfrm>
            <a:off x="4469972" y="4967840"/>
            <a:ext cx="193354" cy="584906"/>
            <a:chOff x="4469972" y="4967840"/>
            <a:chExt cx="193354" cy="584906"/>
          </a:xfrm>
        </p:grpSpPr>
        <p:cxnSp>
          <p:nvCxnSpPr>
            <p:cNvPr id="37" name="직선 화살표 연결선 36"/>
            <p:cNvCxnSpPr>
              <a:stCxn id="13" idx="0"/>
              <a:endCxn id="16" idx="2"/>
            </p:cNvCxnSpPr>
            <p:nvPr/>
          </p:nvCxnSpPr>
          <p:spPr>
            <a:xfrm flipV="1">
              <a:off x="4566648" y="4979510"/>
              <a:ext cx="0" cy="57323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이등변 삼각형 134"/>
            <p:cNvSpPr/>
            <p:nvPr/>
          </p:nvSpPr>
          <p:spPr>
            <a:xfrm>
              <a:off x="4469972" y="4967840"/>
              <a:ext cx="193354" cy="174816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51" name="그룹 150"/>
          <p:cNvGrpSpPr/>
          <p:nvPr/>
        </p:nvGrpSpPr>
        <p:grpSpPr>
          <a:xfrm>
            <a:off x="6153151" y="4956132"/>
            <a:ext cx="193354" cy="594924"/>
            <a:chOff x="6153151" y="4956132"/>
            <a:chExt cx="193354" cy="594924"/>
          </a:xfrm>
        </p:grpSpPr>
        <p:cxnSp>
          <p:nvCxnSpPr>
            <p:cNvPr id="59" name="직선 화살표 연결선 58"/>
            <p:cNvCxnSpPr>
              <a:stCxn id="24" idx="0"/>
              <a:endCxn id="17" idx="2"/>
            </p:cNvCxnSpPr>
            <p:nvPr/>
          </p:nvCxnSpPr>
          <p:spPr>
            <a:xfrm flipV="1">
              <a:off x="6249827" y="4979510"/>
              <a:ext cx="0" cy="57154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이등변 삼각형 135"/>
            <p:cNvSpPr/>
            <p:nvPr/>
          </p:nvSpPr>
          <p:spPr>
            <a:xfrm>
              <a:off x="6153151" y="4956132"/>
              <a:ext cx="193354" cy="174816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52" name="그룹 151"/>
          <p:cNvGrpSpPr/>
          <p:nvPr/>
        </p:nvGrpSpPr>
        <p:grpSpPr>
          <a:xfrm>
            <a:off x="7911959" y="4040719"/>
            <a:ext cx="193354" cy="1502693"/>
            <a:chOff x="7911959" y="4040719"/>
            <a:chExt cx="193354" cy="1502693"/>
          </a:xfrm>
        </p:grpSpPr>
        <p:cxnSp>
          <p:nvCxnSpPr>
            <p:cNvPr id="112" name="직선 화살표 연결선 111"/>
            <p:cNvCxnSpPr>
              <a:stCxn id="18" idx="0"/>
              <a:endCxn id="9" idx="2"/>
            </p:cNvCxnSpPr>
            <p:nvPr/>
          </p:nvCxnSpPr>
          <p:spPr>
            <a:xfrm flipV="1">
              <a:off x="8008636" y="4040719"/>
              <a:ext cx="0" cy="150269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이등변 삼각형 136"/>
            <p:cNvSpPr/>
            <p:nvPr/>
          </p:nvSpPr>
          <p:spPr>
            <a:xfrm>
              <a:off x="7911959" y="4040719"/>
              <a:ext cx="193354" cy="174816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53" name="그룹 152"/>
          <p:cNvGrpSpPr/>
          <p:nvPr/>
        </p:nvGrpSpPr>
        <p:grpSpPr>
          <a:xfrm>
            <a:off x="9483711" y="4040719"/>
            <a:ext cx="921012" cy="457669"/>
            <a:chOff x="9483711" y="4040719"/>
            <a:chExt cx="921012" cy="457669"/>
          </a:xfrm>
        </p:grpSpPr>
        <p:cxnSp>
          <p:nvCxnSpPr>
            <p:cNvPr id="116" name="꺾인 연결선 115"/>
            <p:cNvCxnSpPr>
              <a:stCxn id="21" idx="0"/>
              <a:endCxn id="19" idx="2"/>
            </p:cNvCxnSpPr>
            <p:nvPr/>
          </p:nvCxnSpPr>
          <p:spPr>
            <a:xfrm rot="5400000" flipH="1" flipV="1">
              <a:off x="9667046" y="3857389"/>
              <a:ext cx="457664" cy="824333"/>
            </a:xfrm>
            <a:prstGeom prst="bentConnector3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이등변 삼각형 137"/>
            <p:cNvSpPr/>
            <p:nvPr/>
          </p:nvSpPr>
          <p:spPr>
            <a:xfrm>
              <a:off x="10211369" y="4040719"/>
              <a:ext cx="193354" cy="174816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42" name="직사각형 141"/>
          <p:cNvSpPr/>
          <p:nvPr/>
        </p:nvSpPr>
        <p:spPr>
          <a:xfrm>
            <a:off x="119732" y="5266128"/>
            <a:ext cx="8893834" cy="130258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사용자 처리 영역</a:t>
            </a:r>
          </a:p>
        </p:txBody>
      </p:sp>
      <p:sp>
        <p:nvSpPr>
          <p:cNvPr id="143" name="직사각형 142"/>
          <p:cNvSpPr/>
          <p:nvPr/>
        </p:nvSpPr>
        <p:spPr>
          <a:xfrm>
            <a:off x="5613080" y="5247393"/>
            <a:ext cx="1466850" cy="130258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대화상자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2284" y="1613313"/>
            <a:ext cx="5662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런타임 클래스 정보 분석 및 디버깅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1234591" y="4129056"/>
            <a:ext cx="942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앱생성</a:t>
            </a:r>
            <a:endParaRPr lang="ko-KR" altLang="en-US" dirty="0"/>
          </a:p>
        </p:txBody>
      </p:sp>
      <p:sp>
        <p:nvSpPr>
          <p:cNvPr id="64" name="TextBox 63"/>
          <p:cNvSpPr txBox="1"/>
          <p:nvPr/>
        </p:nvSpPr>
        <p:spPr>
          <a:xfrm>
            <a:off x="3809181" y="2424252"/>
            <a:ext cx="2897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메시지를 처리하는 클래스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6" name="TextBox 65"/>
          <p:cNvSpPr txBox="1"/>
          <p:nvPr/>
        </p:nvSpPr>
        <p:spPr>
          <a:xfrm>
            <a:off x="1244845" y="3200866"/>
            <a:ext cx="171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윈도우 </a:t>
            </a:r>
            <a:r>
              <a:rPr lang="ko-KR" altLang="en-US" dirty="0" err="1"/>
              <a:t>스레드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210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142" grpId="0" animBg="1"/>
      <p:bldP spid="143" grpId="0" animBg="1"/>
      <p:bldP spid="20" grpId="0"/>
      <p:bldP spid="62" grpId="0"/>
      <p:bldP spid="64" grpId="0"/>
      <p:bldP spid="6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MFC</a:t>
            </a:r>
            <a:r>
              <a:rPr lang="ko-KR" altLang="en-US" dirty="0"/>
              <a:t>문자열 </a:t>
            </a:r>
            <a:r>
              <a:rPr lang="en-US" altLang="ko-KR" sz="2400" b="1" dirty="0"/>
              <a:t>#</a:t>
            </a:r>
            <a:r>
              <a:rPr lang="ko-KR" altLang="en-US" sz="2400" b="1" dirty="0"/>
              <a:t>정의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MFC</a:t>
            </a:r>
            <a:r>
              <a:rPr lang="ko-KR" altLang="en-US" sz="3600" dirty="0"/>
              <a:t>는 기존의 </a:t>
            </a:r>
            <a:r>
              <a:rPr lang="en-US" altLang="ko-KR" sz="3600" dirty="0" err="1"/>
              <a:t>std</a:t>
            </a:r>
            <a:r>
              <a:rPr lang="en-US" altLang="ko-KR" sz="3600" dirty="0"/>
              <a:t>::string</a:t>
            </a:r>
            <a:r>
              <a:rPr lang="ko-KR" altLang="en-US" sz="3600" dirty="0"/>
              <a:t>과 다른 문자열 형식을 사용한다</a:t>
            </a:r>
            <a:r>
              <a:rPr lang="en-US" altLang="ko-KR" sz="3600" dirty="0"/>
              <a:t>.</a:t>
            </a:r>
          </a:p>
          <a:p>
            <a:r>
              <a:rPr lang="ko-KR" altLang="en-US" sz="3600" dirty="0"/>
              <a:t>이유는 </a:t>
            </a:r>
            <a:r>
              <a:rPr lang="en-US" altLang="ko-KR" sz="3600" dirty="0"/>
              <a:t>MFC</a:t>
            </a:r>
            <a:r>
              <a:rPr lang="ko-KR" altLang="en-US" sz="3600" dirty="0"/>
              <a:t>를 이용하여 개발되는 프로그램은 전세계적으로 사용된다</a:t>
            </a:r>
            <a:r>
              <a:rPr lang="en-US" altLang="ko-KR" sz="3600" dirty="0"/>
              <a:t>.</a:t>
            </a:r>
          </a:p>
          <a:p>
            <a:r>
              <a:rPr lang="ko-KR" altLang="en-US" sz="3600" dirty="0"/>
              <a:t>그러나</a:t>
            </a:r>
            <a:r>
              <a:rPr lang="en-US" altLang="ko-KR" sz="3600" dirty="0"/>
              <a:t>, </a:t>
            </a:r>
            <a:r>
              <a:rPr lang="ko-KR" altLang="en-US" sz="3600" dirty="0"/>
              <a:t>기존의 멀티바이트 형식은 다양한 국가의 언어를 지원하기 어렵다</a:t>
            </a:r>
            <a:r>
              <a:rPr lang="en-US" altLang="ko-KR" sz="3600" dirty="0"/>
              <a:t>.</a:t>
            </a:r>
          </a:p>
        </p:txBody>
      </p:sp>
      <p:sp>
        <p:nvSpPr>
          <p:cNvPr id="6" name="오른쪽 화살표 5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9671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MFC</a:t>
            </a:r>
            <a:r>
              <a:rPr lang="ko-KR" altLang="en-US" dirty="0"/>
              <a:t>문자열 </a:t>
            </a:r>
            <a:r>
              <a:rPr lang="en-US" altLang="ko-KR" sz="2400" b="1" dirty="0"/>
              <a:t>#1.CString</a:t>
            </a:r>
            <a:endParaRPr lang="ko-KR" altLang="en-US" sz="2400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MFC</a:t>
            </a:r>
            <a:r>
              <a:rPr lang="ko-KR" altLang="en-US" dirty="0"/>
              <a:t>에서 사용되는 문자열 객체</a:t>
            </a:r>
            <a:endParaRPr lang="en-US" altLang="ko-KR" dirty="0"/>
          </a:p>
          <a:p>
            <a:r>
              <a:rPr lang="ko-KR" altLang="en-US" dirty="0"/>
              <a:t>멀티바이트와 유니코드 양쪽을 다 처리 가능하도록 만들어져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기존의 </a:t>
            </a:r>
            <a:r>
              <a:rPr lang="en-US" altLang="ko-KR" dirty="0" err="1"/>
              <a:t>std</a:t>
            </a:r>
            <a:r>
              <a:rPr lang="en-US" altLang="ko-KR" dirty="0"/>
              <a:t>::string</a:t>
            </a:r>
            <a:r>
              <a:rPr lang="ko-KR" altLang="en-US" dirty="0"/>
              <a:t>을 그대로 사용할 수 없으므로</a:t>
            </a:r>
            <a:r>
              <a:rPr lang="en-US" altLang="ko-KR" dirty="0"/>
              <a:t>, </a:t>
            </a:r>
            <a:r>
              <a:rPr lang="ko-KR" altLang="en-US" dirty="0"/>
              <a:t>별도의 변환을 해야만 사용이 가능하다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문자열 매크로 </a:t>
            </a:r>
            <a:r>
              <a:rPr lang="en-US" altLang="ko-KR"/>
              <a:t>_T</a:t>
            </a:r>
            <a:r>
              <a:rPr lang="en-US" altLang="ko-KR" dirty="0"/>
              <a:t>(“</a:t>
            </a:r>
            <a:r>
              <a:rPr lang="ko-KR" altLang="en-US" dirty="0"/>
              <a:t>문자열</a:t>
            </a:r>
            <a:r>
              <a:rPr lang="en-US" altLang="ko-KR" dirty="0"/>
              <a:t>”)</a:t>
            </a:r>
            <a:r>
              <a:rPr lang="ko-KR" altLang="en-US" dirty="0"/>
              <a:t>을 이용하여 초기화하면 빌드 옵션에 따라 자동으로 유니코드</a:t>
            </a:r>
            <a:r>
              <a:rPr lang="en-US" altLang="ko-KR" dirty="0"/>
              <a:t>/</a:t>
            </a:r>
            <a:r>
              <a:rPr lang="ko-KR" altLang="en-US" dirty="0"/>
              <a:t>멀티바이트 처리가 가능하다</a:t>
            </a:r>
            <a:r>
              <a:rPr lang="en-US" altLang="ko-KR" dirty="0"/>
              <a:t>.</a:t>
            </a:r>
          </a:p>
        </p:txBody>
      </p:sp>
      <p:sp>
        <p:nvSpPr>
          <p:cNvPr id="6" name="오른쪽 화살표 5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4812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MFC</a:t>
            </a:r>
            <a:r>
              <a:rPr lang="ko-KR" altLang="en-US" dirty="0"/>
              <a:t>문자열 </a:t>
            </a:r>
            <a:r>
              <a:rPr lang="en-US" altLang="ko-KR" sz="2400" b="1" dirty="0"/>
              <a:t>#2.</a:t>
            </a:r>
            <a:r>
              <a:rPr lang="ko-KR" altLang="en-US" sz="2400" b="1" dirty="0"/>
              <a:t>유니코드</a:t>
            </a:r>
            <a:r>
              <a:rPr lang="en-US" altLang="ko-KR" sz="2400" b="1" dirty="0"/>
              <a:t>/</a:t>
            </a:r>
            <a:r>
              <a:rPr lang="ko-KR" altLang="en-US" sz="2400" b="1" dirty="0"/>
              <a:t>멀티바이트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멀티바이트</a:t>
            </a:r>
            <a:br>
              <a:rPr lang="en-US" altLang="ko-KR" dirty="0"/>
            </a:br>
            <a:r>
              <a:rPr lang="ko-KR" altLang="en-US" dirty="0"/>
              <a:t>기존에 </a:t>
            </a:r>
            <a:r>
              <a:rPr lang="ko-KR" altLang="en-US" dirty="0" err="1"/>
              <a:t>케릭터형식을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개를 이용하여 </a:t>
            </a:r>
            <a:r>
              <a:rPr lang="ko-KR" altLang="en-US" dirty="0" err="1"/>
              <a:t>한글등</a:t>
            </a:r>
            <a:r>
              <a:rPr lang="ko-KR" altLang="en-US" dirty="0"/>
              <a:t> 다른 문자를 표현하는 방식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유니코드</a:t>
            </a:r>
            <a:br>
              <a:rPr lang="en-US" altLang="ko-KR" dirty="0"/>
            </a:br>
            <a:r>
              <a:rPr lang="en-US" altLang="ko-KR" dirty="0"/>
              <a:t>c/</a:t>
            </a:r>
            <a:r>
              <a:rPr lang="en-US" altLang="ko-KR" dirty="0" err="1"/>
              <a:t>c++</a:t>
            </a:r>
            <a:r>
              <a:rPr lang="ko-KR" altLang="en-US" dirty="0"/>
              <a:t>에서 사용하도록 고안된 </a:t>
            </a:r>
            <a:r>
              <a:rPr lang="en-US" altLang="ko-KR" dirty="0" err="1"/>
              <a:t>wchar_t</a:t>
            </a:r>
            <a:r>
              <a:rPr lang="ko-KR" altLang="en-US" dirty="0"/>
              <a:t>타입을 이용하여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전세계의 문자를 모두 </a:t>
            </a:r>
            <a:r>
              <a:rPr lang="ko-KR" altLang="en-US" dirty="0" err="1"/>
              <a:t>표현할수</a:t>
            </a:r>
            <a:r>
              <a:rPr lang="ko-KR" altLang="en-US" dirty="0"/>
              <a:t> </a:t>
            </a:r>
            <a:r>
              <a:rPr lang="ko-KR" altLang="en-US" dirty="0" err="1"/>
              <a:t>있게된다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6" name="오른쪽 화살표 5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505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MFC</a:t>
            </a:r>
            <a:r>
              <a:rPr lang="ko-KR" altLang="en-US" dirty="0"/>
              <a:t>문자열 </a:t>
            </a:r>
            <a:r>
              <a:rPr lang="en-US" altLang="ko-KR" sz="2400" b="1" dirty="0"/>
              <a:t>#3.</a:t>
            </a:r>
            <a:r>
              <a:rPr lang="ko-KR" altLang="en-US" sz="2400" b="1" dirty="0"/>
              <a:t>유니코드</a:t>
            </a:r>
            <a:r>
              <a:rPr lang="en-US" altLang="ko-KR" sz="2400" b="1" dirty="0"/>
              <a:t>/</a:t>
            </a:r>
            <a:r>
              <a:rPr lang="ko-KR" altLang="en-US" sz="2400" b="1" dirty="0"/>
              <a:t>멀티바이트 프로젝트 설정</a:t>
            </a:r>
          </a:p>
        </p:txBody>
      </p:sp>
      <p:sp>
        <p:nvSpPr>
          <p:cNvPr id="6" name="오른쪽 화살표 5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466" y="1416579"/>
            <a:ext cx="6951134" cy="496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06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MFC GUI</a:t>
            </a:r>
            <a:r>
              <a:rPr lang="ko-KR" altLang="en-US" dirty="0"/>
              <a:t>만들기 실습</a:t>
            </a:r>
            <a:endParaRPr lang="ko-KR" altLang="en-US" sz="2400" b="1" dirty="0"/>
          </a:p>
        </p:txBody>
      </p:sp>
      <p:sp>
        <p:nvSpPr>
          <p:cNvPr id="6" name="오른쪽 화살표 5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19250"/>
            <a:ext cx="4305300" cy="361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5334000" y="1619250"/>
            <a:ext cx="6791325" cy="4351338"/>
          </a:xfrm>
        </p:spPr>
        <p:txBody>
          <a:bodyPr/>
          <a:lstStyle/>
          <a:p>
            <a:r>
              <a:rPr lang="ko-KR" altLang="en-US" dirty="0"/>
              <a:t>도구에서 선택 적절한 항목을 선택하여 다음과 같이 다이얼로그에 그려본다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해당 </a:t>
            </a:r>
            <a:r>
              <a:rPr lang="en-US" altLang="ko-KR" dirty="0"/>
              <a:t>GUI</a:t>
            </a:r>
            <a:r>
              <a:rPr lang="ko-KR" altLang="en-US" dirty="0"/>
              <a:t>에서 값이 변경되어야 할 것들을 뽑아본다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수시로 변경되어야 할 값이라면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변수</a:t>
            </a:r>
            <a:r>
              <a:rPr lang="ko-KR" altLang="en-US" dirty="0"/>
              <a:t>로 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이벤트</a:t>
            </a:r>
            <a:r>
              <a:rPr lang="ko-KR" altLang="en-US" dirty="0"/>
              <a:t>라면 함수로 만든다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해당 변경될 </a:t>
            </a:r>
            <a:r>
              <a:rPr lang="en-US" altLang="ko-KR" dirty="0">
                <a:solidFill>
                  <a:srgbClr val="FF0000"/>
                </a:solidFill>
              </a:rPr>
              <a:t>GUI</a:t>
            </a:r>
            <a:r>
              <a:rPr lang="ko-KR" altLang="en-US" dirty="0">
                <a:solidFill>
                  <a:srgbClr val="FF0000"/>
                </a:solidFill>
              </a:rPr>
              <a:t> 사용법은 다음과 같이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구글링</a:t>
            </a:r>
            <a:r>
              <a:rPr lang="ko-KR" altLang="en-US" dirty="0" err="1"/>
              <a:t>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en-US" altLang="ko-KR" dirty="0">
                <a:solidFill>
                  <a:schemeClr val="accent1"/>
                </a:solidFill>
              </a:rPr>
              <a:t>MFC + GUI</a:t>
            </a:r>
            <a:r>
              <a:rPr lang="ko-KR" altLang="en-US" dirty="0">
                <a:solidFill>
                  <a:schemeClr val="accent1"/>
                </a:solidFill>
              </a:rPr>
              <a:t>명</a:t>
            </a:r>
            <a:br>
              <a:rPr lang="en-US" altLang="ko-KR" dirty="0">
                <a:solidFill>
                  <a:schemeClr val="accent1"/>
                </a:solidFill>
              </a:rPr>
            </a:br>
            <a:r>
              <a:rPr lang="en-US" altLang="ko-KR" dirty="0">
                <a:solidFill>
                  <a:srgbClr val="FF0000"/>
                </a:solidFill>
              </a:rPr>
              <a:t>ex)MFC </a:t>
            </a:r>
            <a:r>
              <a:rPr lang="ko-KR" altLang="en-US" dirty="0">
                <a:solidFill>
                  <a:srgbClr val="FF0000"/>
                </a:solidFill>
              </a:rPr>
              <a:t>스핀컨트롤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0706100" y="3398651"/>
            <a:ext cx="781050" cy="4095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5665256" y="5109522"/>
            <a:ext cx="2333625" cy="362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5665256" y="5500563"/>
            <a:ext cx="3200401" cy="362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5665256" y="3802048"/>
            <a:ext cx="1085852" cy="4095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535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 animBg="1"/>
      <p:bldP spid="10" grpId="0" animBg="1"/>
      <p:bldP spid="11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만드는 방법 찾기</a:t>
            </a:r>
            <a:endParaRPr lang="ko-KR" altLang="en-US" sz="2400" b="1" dirty="0"/>
          </a:p>
        </p:txBody>
      </p:sp>
      <p:sp>
        <p:nvSpPr>
          <p:cNvPr id="6" name="오른쪽 화살표 5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19250"/>
            <a:ext cx="4305300" cy="361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2800350" y="2419350"/>
            <a:ext cx="2047875" cy="25717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553075" y="1619250"/>
            <a:ext cx="596265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클래스 선택 메뉴를 만든다면 무엇을 더 해야 할 것 인가</a:t>
            </a:r>
            <a:r>
              <a:rPr lang="en-US" altLang="ko-KR" sz="3200" dirty="0"/>
              <a:t>?</a:t>
            </a:r>
          </a:p>
          <a:p>
            <a:endParaRPr lang="en-US" altLang="ko-KR" sz="3200" dirty="0"/>
          </a:p>
          <a:p>
            <a:r>
              <a:rPr lang="en-US" altLang="ko-KR" sz="3200" dirty="0"/>
              <a:t>1. </a:t>
            </a:r>
            <a:r>
              <a:rPr lang="ko-KR" altLang="en-US" sz="3200" dirty="0" err="1"/>
              <a:t>콤보박스에</a:t>
            </a:r>
            <a:r>
              <a:rPr lang="ko-KR" altLang="en-US" sz="3200" dirty="0"/>
              <a:t> 항목 추가하기 </a:t>
            </a:r>
            <a:br>
              <a:rPr lang="en-US" altLang="ko-KR" sz="3200" dirty="0"/>
            </a:br>
            <a:r>
              <a:rPr lang="en-US" altLang="ko-KR" sz="3200" dirty="0"/>
              <a:t>   -&gt; </a:t>
            </a:r>
            <a:r>
              <a:rPr lang="ko-KR" altLang="en-US" sz="3200" dirty="0"/>
              <a:t>어디에</a:t>
            </a:r>
            <a:r>
              <a:rPr lang="en-US" altLang="ko-KR" sz="3200" dirty="0"/>
              <a:t>?</a:t>
            </a:r>
          </a:p>
          <a:p>
            <a:r>
              <a:rPr lang="en-US" altLang="ko-KR" sz="3200" dirty="0"/>
              <a:t>2. </a:t>
            </a:r>
            <a:r>
              <a:rPr lang="ko-KR" altLang="en-US" sz="3200" dirty="0"/>
              <a:t>프로그램이 </a:t>
            </a:r>
            <a:r>
              <a:rPr lang="ko-KR" altLang="en-US" sz="3200" dirty="0" err="1"/>
              <a:t>시작될때</a:t>
            </a:r>
            <a:br>
              <a:rPr lang="en-US" altLang="ko-KR" sz="3200" dirty="0"/>
            </a:br>
            <a:r>
              <a:rPr lang="en-US" altLang="ko-KR" sz="3200" dirty="0"/>
              <a:t>   -&gt; </a:t>
            </a:r>
            <a:r>
              <a:rPr lang="ko-KR" altLang="en-US" sz="3200" dirty="0"/>
              <a:t>초기화</a:t>
            </a:r>
            <a:r>
              <a:rPr lang="en-US" altLang="ko-KR" sz="3200" dirty="0"/>
              <a:t>!</a:t>
            </a:r>
          </a:p>
          <a:p>
            <a:r>
              <a:rPr lang="en-US" altLang="ko-KR" sz="3200" dirty="0"/>
              <a:t>3. MFC</a:t>
            </a:r>
            <a:r>
              <a:rPr lang="ko-KR" altLang="en-US" sz="3200" dirty="0"/>
              <a:t>에서 초기화는</a:t>
            </a:r>
            <a:r>
              <a:rPr lang="en-US" altLang="ko-KR" sz="3200" dirty="0"/>
              <a:t>??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175" y="4933950"/>
            <a:ext cx="117633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>
                <a:solidFill>
                  <a:srgbClr val="FF0000"/>
                </a:solidFill>
              </a:rPr>
              <a:t>이제부터는 생각하고 코딩을 </a:t>
            </a:r>
            <a:r>
              <a:rPr lang="ko-KR" altLang="en-US" sz="4800" dirty="0" err="1">
                <a:solidFill>
                  <a:srgbClr val="FF0000"/>
                </a:solidFill>
              </a:rPr>
              <a:t>할때</a:t>
            </a:r>
            <a:r>
              <a:rPr lang="en-US" altLang="ko-KR" sz="4800" dirty="0">
                <a:solidFill>
                  <a:srgbClr val="FF0000"/>
                </a:solidFill>
              </a:rPr>
              <a:t>!</a:t>
            </a:r>
          </a:p>
          <a:p>
            <a:r>
              <a:rPr lang="ko-KR" altLang="en-US" sz="4800" dirty="0">
                <a:solidFill>
                  <a:srgbClr val="FF0000"/>
                </a:solidFill>
              </a:rPr>
              <a:t>찾아보고 </a:t>
            </a:r>
            <a:r>
              <a:rPr lang="ko-KR" altLang="en-US" sz="4800" dirty="0" err="1">
                <a:solidFill>
                  <a:srgbClr val="FF0000"/>
                </a:solidFill>
              </a:rPr>
              <a:t>모르겠는</a:t>
            </a:r>
            <a:r>
              <a:rPr lang="ko-KR" altLang="en-US" sz="4800" dirty="0">
                <a:solidFill>
                  <a:srgbClr val="FF0000"/>
                </a:solidFill>
              </a:rPr>
              <a:t> 부분부터  구체적 질문</a:t>
            </a:r>
            <a:r>
              <a:rPr lang="en-US" altLang="ko-KR" sz="4800" dirty="0">
                <a:solidFill>
                  <a:srgbClr val="FF0000"/>
                </a:solidFill>
              </a:rPr>
              <a:t>!</a:t>
            </a:r>
            <a:endParaRPr lang="ko-KR" altLang="en-US" sz="4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1661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4" grpId="0" animBg="1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체크리스트</a:t>
            </a:r>
            <a:endParaRPr lang="ko-KR" altLang="en-US" sz="2400" b="1" dirty="0"/>
          </a:p>
        </p:txBody>
      </p:sp>
      <p:sp>
        <p:nvSpPr>
          <p:cNvPr id="6" name="오른쪽 화살표 5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19250"/>
            <a:ext cx="4305300" cy="361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2800350" y="2419350"/>
            <a:ext cx="2047875" cy="25717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553075" y="1619250"/>
            <a:ext cx="59626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ko-KR" sz="3200" dirty="0"/>
              <a:t>GUI</a:t>
            </a:r>
            <a:r>
              <a:rPr lang="ko-KR" altLang="en-US" sz="3200" dirty="0"/>
              <a:t>작성하기</a:t>
            </a:r>
            <a:r>
              <a:rPr lang="en-US" altLang="ko-KR" sz="3200" dirty="0"/>
              <a:t>(</a:t>
            </a:r>
            <a:r>
              <a:rPr lang="ko-KR" altLang="en-US" sz="3200" dirty="0"/>
              <a:t>백업</a:t>
            </a:r>
            <a:r>
              <a:rPr lang="en-US" altLang="ko-KR" sz="3200" dirty="0"/>
              <a:t>)</a:t>
            </a:r>
          </a:p>
          <a:p>
            <a:pPr marL="514350" indent="-514350">
              <a:buAutoNum type="arabicPeriod"/>
            </a:pPr>
            <a:r>
              <a:rPr lang="en-US" altLang="ko-KR" sz="3200" dirty="0"/>
              <a:t>UI</a:t>
            </a:r>
            <a:r>
              <a:rPr lang="ko-KR" altLang="en-US" sz="3200" dirty="0"/>
              <a:t>값 초기화</a:t>
            </a:r>
            <a:endParaRPr lang="en-US" altLang="ko-KR" sz="3200" dirty="0"/>
          </a:p>
          <a:p>
            <a:pPr marL="514350" indent="-514350">
              <a:buAutoNum type="arabicPeriod"/>
            </a:pPr>
            <a:r>
              <a:rPr lang="ko-KR" altLang="en-US" sz="3200" dirty="0"/>
              <a:t>클래스 선택</a:t>
            </a:r>
            <a:endParaRPr lang="en-US" altLang="ko-KR" sz="3200" dirty="0"/>
          </a:p>
          <a:p>
            <a:pPr marL="514350" indent="-514350">
              <a:buAutoNum type="arabicPeriod"/>
            </a:pPr>
            <a:r>
              <a:rPr lang="ko-KR" altLang="en-US" sz="3200" dirty="0" err="1"/>
              <a:t>능력치</a:t>
            </a:r>
            <a:r>
              <a:rPr lang="ko-KR" altLang="en-US" sz="3200" dirty="0"/>
              <a:t> 증감</a:t>
            </a:r>
            <a:endParaRPr lang="en-US" altLang="ko-KR" sz="3200" dirty="0"/>
          </a:p>
          <a:p>
            <a:pPr marL="514350" indent="-514350">
              <a:buAutoNum type="arabicPeriod"/>
            </a:pPr>
            <a:r>
              <a:rPr lang="ko-KR" altLang="en-US" sz="3200" dirty="0" err="1"/>
              <a:t>능력치</a:t>
            </a:r>
            <a:r>
              <a:rPr lang="ko-KR" altLang="en-US" sz="3200" dirty="0"/>
              <a:t> 증감과 보너스포인트 연동하기</a:t>
            </a:r>
            <a:endParaRPr lang="en-US" altLang="ko-KR" sz="3200" dirty="0"/>
          </a:p>
          <a:p>
            <a:pPr marL="514350" indent="-514350">
              <a:buAutoNum type="arabicPeriod"/>
            </a:pPr>
            <a:r>
              <a:rPr lang="ko-KR" altLang="en-US" sz="3200" dirty="0"/>
              <a:t>보너스 다시 분배하기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3097890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6000" dirty="0"/>
              <a:t>Q&amp;A</a:t>
            </a:r>
            <a:endParaRPr lang="ko-KR" altLang="en-US" sz="6000" dirty="0"/>
          </a:p>
        </p:txBody>
      </p:sp>
      <p:sp>
        <p:nvSpPr>
          <p:cNvPr id="5" name="오른쪽 화살표 4"/>
          <p:cNvSpPr/>
          <p:nvPr/>
        </p:nvSpPr>
        <p:spPr>
          <a:xfrm>
            <a:off x="-11126821" y="142689"/>
            <a:ext cx="11965021" cy="1770434"/>
          </a:xfrm>
          <a:prstGeom prst="rightArrow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" name="내용 개체 틀 3"/>
          <p:cNvSpPr>
            <a:spLocks noGrp="1"/>
          </p:cNvSpPr>
          <p:nvPr>
            <p:ph idx="1"/>
          </p:nvPr>
        </p:nvSpPr>
        <p:spPr>
          <a:xfrm>
            <a:off x="838200" y="2843542"/>
            <a:ext cx="10515600" cy="10728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ko-KR" altLang="en-US" sz="6000" dirty="0"/>
              <a:t>감사합니다</a:t>
            </a:r>
            <a:r>
              <a:rPr lang="en-US" altLang="ko-KR" sz="6000" dirty="0"/>
              <a:t>!</a:t>
            </a:r>
            <a:endParaRPr lang="ko-KR" altLang="en-US" sz="6000" dirty="0"/>
          </a:p>
        </p:txBody>
      </p:sp>
    </p:spTree>
    <p:extLst>
      <p:ext uri="{BB962C8B-B14F-4D97-AF65-F5344CB8AC3E}">
        <p14:creationId xmlns:p14="http://schemas.microsoft.com/office/powerpoint/2010/main" val="275356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1.48148E-6 L 0.8675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7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build="p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alpha val="50000"/>
          </a:schemeClr>
        </a:solidFill>
        <a:ln>
          <a:solidFill>
            <a:schemeClr val="accent1">
              <a:shade val="50000"/>
              <a:alpha val="0"/>
            </a:schemeClr>
          </a:solidFill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1265</TotalTime>
  <Words>332</Words>
  <Application>Microsoft Office PowerPoint</Application>
  <PresentationFormat>와이드스크린</PresentationFormat>
  <Paragraphs>67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MFC의 활용</vt:lpstr>
      <vt:lpstr>목차</vt:lpstr>
      <vt:lpstr>MFC 구조 #클래스 구성도</vt:lpstr>
      <vt:lpstr>MFC문자열 #정의</vt:lpstr>
      <vt:lpstr>MFC문자열 #1.CString</vt:lpstr>
      <vt:lpstr>MFC문자열 #2.유니코드/멀티바이트</vt:lpstr>
      <vt:lpstr>MFC문자열 #3.유니코드/멀티바이트 프로젝트 설정</vt:lpstr>
      <vt:lpstr>MFC GUI만들기 실습</vt:lpstr>
      <vt:lpstr>만드는 방법 찾기</vt:lpstr>
      <vt:lpstr>체크리스트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MFC</dc:title>
  <dc:creator>khg</dc:creator>
  <cp:lastModifiedBy>김진웅</cp:lastModifiedBy>
  <cp:revision>91</cp:revision>
  <dcterms:created xsi:type="dcterms:W3CDTF">2017-05-06T16:20:53Z</dcterms:created>
  <dcterms:modified xsi:type="dcterms:W3CDTF">2026-01-16T03:58:42Z</dcterms:modified>
</cp:coreProperties>
</file>