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6" r:id="rId4"/>
    <p:sldId id="271" r:id="rId5"/>
    <p:sldId id="267" r:id="rId6"/>
    <p:sldId id="273" r:id="rId7"/>
    <p:sldId id="276" r:id="rId8"/>
    <p:sldId id="274" r:id="rId9"/>
    <p:sldId id="269" r:id="rId10"/>
    <p:sldId id="275" r:id="rId11"/>
    <p:sldId id="272" r:id="rId12"/>
    <p:sldId id="268" r:id="rId13"/>
    <p:sldId id="260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0D2565-2713-41B2-A9CB-102E74ACCD85}" v="2" dt="2022-04-12T11:29:12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4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LiveId" clId="{FE0D2565-2713-41B2-A9CB-102E74ACCD85}"/>
    <pc:docChg chg="modSld">
      <pc:chgData name="김 홍규" userId="6d16d8e1c579a2a2" providerId="LiveId" clId="{FE0D2565-2713-41B2-A9CB-102E74ACCD85}" dt="2022-04-12T11:29:12.595" v="1" actId="20577"/>
      <pc:docMkLst>
        <pc:docMk/>
      </pc:docMkLst>
      <pc:sldChg chg="modSp">
        <pc:chgData name="김 홍규" userId="6d16d8e1c579a2a2" providerId="LiveId" clId="{FE0D2565-2713-41B2-A9CB-102E74ACCD85}" dt="2022-04-12T11:29:12.595" v="1" actId="20577"/>
        <pc:sldMkLst>
          <pc:docMk/>
          <pc:sldMk cId="2057525960" sldId="275"/>
        </pc:sldMkLst>
        <pc:spChg chg="mod">
          <ac:chgData name="김 홍규" userId="6d16d8e1c579a2a2" providerId="LiveId" clId="{FE0D2565-2713-41B2-A9CB-102E74ACCD85}" dt="2022-04-12T11:29:12.595" v="1" actId="20577"/>
          <ac:spMkLst>
            <pc:docMk/>
            <pc:sldMk cId="2057525960" sldId="275"/>
            <ac:spMk id="4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8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13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475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462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679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49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864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727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931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73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78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93D26-4F1F-436F-A5A7-DDE242B05E0E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6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3D </a:t>
            </a:r>
            <a:r>
              <a:rPr lang="ko-KR" altLang="en-US"/>
              <a:t>기초이론</a:t>
            </a:r>
            <a:endParaRPr lang="ko-KR" altLang="en-US" dirty="0"/>
          </a:p>
        </p:txBody>
      </p:sp>
      <p:sp>
        <p:nvSpPr>
          <p:cNvPr id="9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차원에서 </a:t>
            </a:r>
            <a:r>
              <a:rPr lang="ko-KR" altLang="en-US"/>
              <a:t>필요한 기본개념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26550" y="5989419"/>
            <a:ext cx="2965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Ver. 1.02</a:t>
            </a:r>
          </a:p>
          <a:p>
            <a:pPr algn="r"/>
            <a:r>
              <a:rPr lang="en-US" altLang="ko-KR" dirty="0"/>
              <a:t>downkhg@gmail.com</a:t>
            </a:r>
          </a:p>
          <a:p>
            <a:pPr algn="r"/>
            <a:r>
              <a:rPr lang="ko-KR" altLang="en-US" dirty="0"/>
              <a:t>김홍규</a:t>
            </a:r>
          </a:p>
        </p:txBody>
      </p:sp>
    </p:spTree>
    <p:extLst>
      <p:ext uri="{BB962C8B-B14F-4D97-AF65-F5344CB8AC3E}">
        <p14:creationId xmlns:p14="http://schemas.microsoft.com/office/powerpoint/2010/main" val="67605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80695"/>
            <a:ext cx="10515600" cy="5048705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3</a:t>
            </a:r>
            <a:r>
              <a:rPr lang="ko-KR" altLang="en-US" sz="3600" dirty="0"/>
              <a:t>차원 </a:t>
            </a:r>
            <a:r>
              <a:rPr lang="ko-KR" altLang="en-US" sz="3600" dirty="0" err="1"/>
              <a:t>좌표계</a:t>
            </a:r>
            <a:endParaRPr lang="en-US" altLang="ko-KR" sz="3600" dirty="0"/>
          </a:p>
          <a:p>
            <a:r>
              <a:rPr lang="en-US" altLang="ko-KR" sz="3600" dirty="0"/>
              <a:t>3D</a:t>
            </a:r>
            <a:r>
              <a:rPr lang="ko-KR" altLang="en-US" sz="3600" dirty="0"/>
              <a:t>수학</a:t>
            </a:r>
            <a:endParaRPr lang="en-US" altLang="ko-KR" sz="3600" dirty="0"/>
          </a:p>
          <a:p>
            <a:r>
              <a:rPr lang="ko-KR" altLang="en-US" sz="3600" dirty="0"/>
              <a:t>모델의 표현</a:t>
            </a:r>
            <a:endParaRPr lang="en-US" altLang="ko-KR" sz="3600" dirty="0"/>
          </a:p>
          <a:p>
            <a:r>
              <a:rPr lang="ko-KR" altLang="en-US" sz="3600" dirty="0" err="1"/>
              <a:t>깊이버퍼</a:t>
            </a:r>
            <a:r>
              <a:rPr lang="en-US" altLang="ko-KR" sz="3600" dirty="0"/>
              <a:t>/</a:t>
            </a:r>
            <a:r>
              <a:rPr lang="ko-KR" altLang="en-US" sz="3600" dirty="0" err="1"/>
              <a:t>더블버퍼링</a:t>
            </a:r>
            <a:endParaRPr lang="en-US" altLang="ko-KR" sz="3600" dirty="0"/>
          </a:p>
          <a:p>
            <a:r>
              <a:rPr lang="ko-KR" altLang="en-US" sz="3600" dirty="0" err="1"/>
              <a:t>세이더와</a:t>
            </a:r>
            <a:r>
              <a:rPr lang="ko-KR" altLang="en-US" sz="3600" dirty="0"/>
              <a:t> </a:t>
            </a:r>
            <a:r>
              <a:rPr lang="ko-KR" altLang="en-US" sz="3600" dirty="0" err="1"/>
              <a:t>셰이딩</a:t>
            </a:r>
            <a:endParaRPr lang="en-US" altLang="ko-KR" sz="3600" dirty="0"/>
          </a:p>
          <a:p>
            <a:r>
              <a:rPr lang="ko-KR" altLang="en-US" sz="3600" dirty="0"/>
              <a:t>재질과 조명</a:t>
            </a:r>
            <a:endParaRPr lang="en-US" altLang="ko-KR" sz="3600" dirty="0"/>
          </a:p>
          <a:p>
            <a:r>
              <a:rPr lang="ko-KR" altLang="en-US" sz="3600" dirty="0" err="1"/>
              <a:t>텍스쳐</a:t>
            </a:r>
            <a:endParaRPr lang="en-US" altLang="ko-KR" sz="3600" dirty="0"/>
          </a:p>
          <a:p>
            <a:r>
              <a:rPr lang="ko-KR" altLang="en-US" sz="3600" dirty="0" err="1"/>
              <a:t>렌더링</a:t>
            </a:r>
            <a:r>
              <a:rPr lang="ko-KR" altLang="en-US" sz="3600" dirty="0"/>
              <a:t> 파이프라인</a:t>
            </a:r>
            <a:endParaRPr lang="en-US" altLang="ko-KR" sz="36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/>
              <a:t>3D </a:t>
            </a:r>
            <a:r>
              <a:rPr lang="ko-KR" altLang="en-US"/>
              <a:t>기초이론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2925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차원 </a:t>
            </a:r>
            <a:r>
              <a:rPr lang="ko-KR" altLang="en-US" dirty="0" err="1"/>
              <a:t>좌표계</a:t>
            </a:r>
            <a:endParaRPr lang="ko-KR" altLang="en-US" dirty="0"/>
          </a:p>
        </p:txBody>
      </p:sp>
      <p:grpSp>
        <p:nvGrpSpPr>
          <p:cNvPr id="21" name="그룹 20"/>
          <p:cNvGrpSpPr/>
          <p:nvPr/>
        </p:nvGrpSpPr>
        <p:grpSpPr>
          <a:xfrm>
            <a:off x="1748589" y="2261061"/>
            <a:ext cx="2999873" cy="3062131"/>
            <a:chOff x="1748590" y="2261062"/>
            <a:chExt cx="1588168" cy="1621128"/>
          </a:xfrm>
        </p:grpSpPr>
        <p:cxnSp>
          <p:nvCxnSpPr>
            <p:cNvPr id="7" name="직선 화살표 연결선 6"/>
            <p:cNvCxnSpPr/>
            <p:nvPr/>
          </p:nvCxnSpPr>
          <p:spPr>
            <a:xfrm flipV="1">
              <a:off x="1748590" y="2261062"/>
              <a:ext cx="0" cy="1621128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/>
            <p:cNvCxnSpPr/>
            <p:nvPr/>
          </p:nvCxnSpPr>
          <p:spPr>
            <a:xfrm>
              <a:off x="1748590" y="3882190"/>
              <a:ext cx="15881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직선 화살표 연결선 18"/>
            <p:cNvCxnSpPr/>
            <p:nvPr/>
          </p:nvCxnSpPr>
          <p:spPr>
            <a:xfrm flipV="1">
              <a:off x="1748590" y="3224463"/>
              <a:ext cx="1219199" cy="6577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1748589" y="5498884"/>
            <a:ext cx="1732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왼손 </a:t>
            </a:r>
            <a:r>
              <a:rPr lang="ko-KR" altLang="en-US" b="1" dirty="0" err="1"/>
              <a:t>좌표계</a:t>
            </a:r>
            <a:endParaRPr lang="ko-KR" altLang="en-US" b="1" dirty="0"/>
          </a:p>
        </p:txBody>
      </p:sp>
      <p:grpSp>
        <p:nvGrpSpPr>
          <p:cNvPr id="32" name="그룹 31"/>
          <p:cNvGrpSpPr/>
          <p:nvPr/>
        </p:nvGrpSpPr>
        <p:grpSpPr>
          <a:xfrm>
            <a:off x="6096000" y="2001195"/>
            <a:ext cx="4263267" cy="3238592"/>
            <a:chOff x="4908884" y="2261062"/>
            <a:chExt cx="2999874" cy="2278855"/>
          </a:xfrm>
        </p:grpSpPr>
        <p:cxnSp>
          <p:nvCxnSpPr>
            <p:cNvPr id="23" name="직선 화살표 연결선 22"/>
            <p:cNvCxnSpPr/>
            <p:nvPr/>
          </p:nvCxnSpPr>
          <p:spPr>
            <a:xfrm flipV="1">
              <a:off x="6144126" y="2261062"/>
              <a:ext cx="0" cy="17653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7" name="직선 화살표 연결선 26"/>
            <p:cNvCxnSpPr/>
            <p:nvPr/>
          </p:nvCxnSpPr>
          <p:spPr>
            <a:xfrm>
              <a:off x="6144126" y="4026387"/>
              <a:ext cx="17646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직선 화살표 연결선 30"/>
            <p:cNvCxnSpPr/>
            <p:nvPr/>
          </p:nvCxnSpPr>
          <p:spPr>
            <a:xfrm flipH="1">
              <a:off x="4908884" y="4026387"/>
              <a:ext cx="1235242" cy="5135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6096000" y="5498884"/>
            <a:ext cx="1732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오른손 </a:t>
            </a:r>
            <a:r>
              <a:rPr lang="ko-KR" altLang="en-US" b="1" dirty="0" err="1"/>
              <a:t>좌표계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09173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9158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/>
              <a:t>3D</a:t>
            </a:r>
            <a:r>
              <a:rPr lang="ko-KR" altLang="en-US"/>
              <a:t>수학</a:t>
            </a:r>
            <a:endParaRPr lang="ko-KR" altLang="en-US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664020" y="1716761"/>
            <a:ext cx="10515600" cy="1059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벡터</a:t>
            </a:r>
            <a:r>
              <a:rPr lang="en-US" altLang="ko-KR"/>
              <a:t>: 3</a:t>
            </a:r>
            <a:r>
              <a:rPr lang="ko-KR" altLang="en-US"/>
              <a:t>차원 공간의 위치</a:t>
            </a:r>
            <a:r>
              <a:rPr lang="en-US" altLang="ko-KR"/>
              <a:t>,</a:t>
            </a:r>
            <a:r>
              <a:rPr lang="ko-KR" altLang="en-US"/>
              <a:t>방향</a:t>
            </a:r>
            <a:r>
              <a:rPr lang="en-US" altLang="ko-KR"/>
              <a:t>,</a:t>
            </a:r>
            <a:r>
              <a:rPr lang="ko-KR" altLang="en-US"/>
              <a:t>거리를 나타내기 위해서 사용된다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x,y,z</a:t>
            </a:r>
            <a:r>
              <a:rPr lang="ko-KR" altLang="en-US"/>
              <a:t>각각의 원소를 가진다</a:t>
            </a:r>
            <a:r>
              <a:rPr lang="en-US" altLang="ko-KR"/>
              <a:t>.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30796" y="5115671"/>
            <a:ext cx="3283987" cy="1247263"/>
            <a:chOff x="5304843" y="2855808"/>
            <a:chExt cx="3283987" cy="1247263"/>
          </a:xfrm>
        </p:grpSpPr>
        <p:sp>
          <p:nvSpPr>
            <p:cNvPr id="17" name="타원 16"/>
            <p:cNvSpPr/>
            <p:nvPr/>
          </p:nvSpPr>
          <p:spPr>
            <a:xfrm>
              <a:off x="5304843" y="3114579"/>
              <a:ext cx="887325" cy="88732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/>
            <p:cNvSpPr/>
            <p:nvPr/>
          </p:nvSpPr>
          <p:spPr>
            <a:xfrm>
              <a:off x="5670882" y="3480618"/>
              <a:ext cx="155246" cy="1552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658940" y="3511266"/>
              <a:ext cx="1410961" cy="390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p1(x, y, z)</a:t>
              </a:r>
              <a:endParaRPr lang="ko-KR" altLang="en-US" sz="1200" dirty="0"/>
            </a:p>
          </p:txBody>
        </p:sp>
        <p:sp>
          <p:nvSpPr>
            <p:cNvPr id="20" name="타원 19"/>
            <p:cNvSpPr/>
            <p:nvPr/>
          </p:nvSpPr>
          <p:spPr>
            <a:xfrm>
              <a:off x="7131657" y="2855808"/>
              <a:ext cx="1247263" cy="124726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타원 20"/>
            <p:cNvSpPr/>
            <p:nvPr/>
          </p:nvSpPr>
          <p:spPr>
            <a:xfrm>
              <a:off x="7677663" y="3401823"/>
              <a:ext cx="155246" cy="1552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689602" y="3409593"/>
              <a:ext cx="8992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p2(x, y, z)</a:t>
              </a:r>
              <a:endParaRPr lang="ko-KR" altLang="en-US" sz="1200" dirty="0"/>
            </a:p>
          </p:txBody>
        </p:sp>
        <p:cxnSp>
          <p:nvCxnSpPr>
            <p:cNvPr id="23" name="직선 화살표 연결선 22"/>
            <p:cNvCxnSpPr/>
            <p:nvPr/>
          </p:nvCxnSpPr>
          <p:spPr>
            <a:xfrm flipV="1">
              <a:off x="5773563" y="3457760"/>
              <a:ext cx="2018006" cy="9021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 rot="21435724">
              <a:off x="6807324" y="3191181"/>
              <a:ext cx="5273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거리</a:t>
              </a:r>
            </a:p>
          </p:txBody>
        </p:sp>
        <p:cxnSp>
          <p:nvCxnSpPr>
            <p:cNvPr id="25" name="직선 화살표 연결선 24"/>
            <p:cNvCxnSpPr/>
            <p:nvPr/>
          </p:nvCxnSpPr>
          <p:spPr>
            <a:xfrm flipV="1">
              <a:off x="5766416" y="3511266"/>
              <a:ext cx="867605" cy="46977"/>
            </a:xfrm>
            <a:prstGeom prst="straightConnector1">
              <a:avLst/>
            </a:prstGeom>
            <a:ln w="25400">
              <a:solidFill>
                <a:schemeClr val="accent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 rot="21194301">
              <a:off x="5946522" y="3271094"/>
              <a:ext cx="5153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accent1">
                      <a:lumMod val="75000"/>
                    </a:schemeClr>
                  </a:solidFill>
                </a:rPr>
                <a:t>방향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802946" y="3679715"/>
              <a:ext cx="998062" cy="390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위치</a:t>
              </a:r>
            </a:p>
          </p:txBody>
        </p:sp>
      </p:grp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413141"/>
              </p:ext>
            </p:extLst>
          </p:nvPr>
        </p:nvGraphicFramePr>
        <p:xfrm>
          <a:off x="4694702" y="4952588"/>
          <a:ext cx="1448037" cy="1504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9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1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3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1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3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1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9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1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양쪽 대괄호 30"/>
          <p:cNvSpPr/>
          <p:nvPr/>
        </p:nvSpPr>
        <p:spPr>
          <a:xfrm>
            <a:off x="4579195" y="5170765"/>
            <a:ext cx="1636343" cy="1200146"/>
          </a:xfrm>
          <a:prstGeom prst="bracketPair">
            <a:avLst/>
          </a:prstGeom>
          <a:ln w="25400">
            <a:solidFill>
              <a:schemeClr val="bg2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4782908" y="6128421"/>
            <a:ext cx="1312829" cy="274778"/>
          </a:xfrm>
          <a:prstGeom prst="rect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2000" b="1">
                <a:solidFill>
                  <a:srgbClr val="FF0000"/>
                </a:solidFill>
              </a:rPr>
              <a:t>이동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845359" y="5107051"/>
            <a:ext cx="867949" cy="972037"/>
          </a:xfrm>
          <a:prstGeom prst="rect">
            <a:avLst/>
          </a:prstGeom>
          <a:ln w="2540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2000" b="1">
                <a:solidFill>
                  <a:srgbClr val="FFC000"/>
                </a:solidFill>
              </a:rPr>
              <a:t>회전</a:t>
            </a:r>
          </a:p>
        </p:txBody>
      </p:sp>
      <p:sp>
        <p:nvSpPr>
          <p:cNvPr id="41" name="직사각형 40"/>
          <p:cNvSpPr/>
          <p:nvPr/>
        </p:nvSpPr>
        <p:spPr>
          <a:xfrm rot="2700000">
            <a:off x="4559107" y="5626598"/>
            <a:ext cx="1772698" cy="274777"/>
          </a:xfrm>
          <a:prstGeom prst="rect">
            <a:avLst/>
          </a:prstGeom>
          <a:ln w="25400">
            <a:solidFill>
              <a:srgbClr val="92D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2000" b="1">
                <a:solidFill>
                  <a:srgbClr val="92D050"/>
                </a:solidFill>
              </a:rPr>
              <a:t>크기</a:t>
            </a:r>
          </a:p>
        </p:txBody>
      </p:sp>
      <p:grpSp>
        <p:nvGrpSpPr>
          <p:cNvPr id="48" name="그룹 47"/>
          <p:cNvGrpSpPr/>
          <p:nvPr/>
        </p:nvGrpSpPr>
        <p:grpSpPr>
          <a:xfrm>
            <a:off x="6710383" y="5009858"/>
            <a:ext cx="2491103" cy="1408343"/>
            <a:chOff x="8897201" y="2408258"/>
            <a:chExt cx="2801389" cy="1583763"/>
          </a:xfrm>
        </p:grpSpPr>
        <p:grpSp>
          <p:nvGrpSpPr>
            <p:cNvPr id="49" name="그룹 48"/>
            <p:cNvGrpSpPr/>
            <p:nvPr/>
          </p:nvGrpSpPr>
          <p:grpSpPr>
            <a:xfrm>
              <a:off x="8897201" y="2408258"/>
              <a:ext cx="2801389" cy="1583763"/>
              <a:chOff x="3883624" y="3841203"/>
              <a:chExt cx="2801389" cy="1583763"/>
            </a:xfrm>
          </p:grpSpPr>
          <p:grpSp>
            <p:nvGrpSpPr>
              <p:cNvPr id="51" name="그룹 50"/>
              <p:cNvGrpSpPr/>
              <p:nvPr/>
            </p:nvGrpSpPr>
            <p:grpSpPr>
              <a:xfrm>
                <a:off x="4412309" y="3841203"/>
                <a:ext cx="1693304" cy="1191504"/>
                <a:chOff x="4768177" y="4492841"/>
                <a:chExt cx="1693304" cy="1191504"/>
              </a:xfrm>
            </p:grpSpPr>
            <p:sp>
              <p:nvSpPr>
                <p:cNvPr id="58" name="평행 사변형 57"/>
                <p:cNvSpPr/>
                <p:nvPr/>
              </p:nvSpPr>
              <p:spPr>
                <a:xfrm>
                  <a:off x="4768177" y="5135581"/>
                  <a:ext cx="1693304" cy="548764"/>
                </a:xfrm>
                <a:prstGeom prst="parallelogram">
                  <a:avLst>
                    <a:gd name="adj" fmla="val 95471"/>
                  </a:avLst>
                </a:prstGeom>
                <a:solidFill>
                  <a:schemeClr val="accent1"/>
                </a:solidFill>
                <a:ln w="25400">
                  <a:noFill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60" name="직선 연결선 59"/>
                <p:cNvCxnSpPr/>
                <p:nvPr/>
              </p:nvCxnSpPr>
              <p:spPr>
                <a:xfrm>
                  <a:off x="5614829" y="5289777"/>
                  <a:ext cx="119221" cy="0"/>
                </a:xfrm>
                <a:prstGeom prst="line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직선 연결선 60"/>
                <p:cNvCxnSpPr/>
                <p:nvPr/>
              </p:nvCxnSpPr>
              <p:spPr>
                <a:xfrm>
                  <a:off x="5724524" y="5289777"/>
                  <a:ext cx="0" cy="120186"/>
                </a:xfrm>
                <a:prstGeom prst="line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화살표 연결선 61"/>
                <p:cNvCxnSpPr/>
                <p:nvPr/>
              </p:nvCxnSpPr>
              <p:spPr>
                <a:xfrm flipV="1">
                  <a:off x="5614829" y="4492841"/>
                  <a:ext cx="0" cy="917122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TextBox 51"/>
              <p:cNvSpPr txBox="1"/>
              <p:nvPr/>
            </p:nvSpPr>
            <p:spPr>
              <a:xfrm>
                <a:off x="5202187" y="3910149"/>
                <a:ext cx="1316569" cy="346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/>
                  <a:t>평면 방향</a:t>
                </a:r>
              </a:p>
            </p:txBody>
          </p:sp>
          <p:cxnSp>
            <p:nvCxnSpPr>
              <p:cNvPr id="53" name="직선 화살표 연결선 52"/>
              <p:cNvCxnSpPr/>
              <p:nvPr/>
            </p:nvCxnSpPr>
            <p:spPr>
              <a:xfrm>
                <a:off x="4412309" y="4483943"/>
                <a:ext cx="2272704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화살표 연결선 53"/>
              <p:cNvCxnSpPr/>
              <p:nvPr/>
            </p:nvCxnSpPr>
            <p:spPr>
              <a:xfrm>
                <a:off x="3883624" y="5032707"/>
                <a:ext cx="2221989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화살표 연결선 54"/>
              <p:cNvCxnSpPr/>
              <p:nvPr/>
            </p:nvCxnSpPr>
            <p:spPr>
              <a:xfrm flipV="1">
                <a:off x="4058191" y="4202995"/>
                <a:ext cx="1143996" cy="1221971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화살표 연결선 55"/>
              <p:cNvCxnSpPr/>
              <p:nvPr/>
            </p:nvCxnSpPr>
            <p:spPr>
              <a:xfrm flipV="1">
                <a:off x="5225133" y="4199468"/>
                <a:ext cx="1143996" cy="1221971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/>
            <p:cNvSpPr txBox="1"/>
            <p:nvPr/>
          </p:nvSpPr>
          <p:spPr>
            <a:xfrm>
              <a:off x="9373516" y="3570380"/>
              <a:ext cx="11388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무한한 평면</a:t>
              </a: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9654930" y="5435950"/>
            <a:ext cx="1547557" cy="707217"/>
            <a:chOff x="4730525" y="5674176"/>
            <a:chExt cx="1547557" cy="707217"/>
          </a:xfrm>
        </p:grpSpPr>
        <p:sp>
          <p:nvSpPr>
            <p:cNvPr id="66" name="타원 65"/>
            <p:cNvSpPr/>
            <p:nvPr/>
          </p:nvSpPr>
          <p:spPr>
            <a:xfrm>
              <a:off x="5373129" y="6030234"/>
              <a:ext cx="155246" cy="1552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730525" y="6104394"/>
              <a:ext cx="8154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시작위치</a:t>
              </a:r>
              <a:endParaRPr lang="ko-KR" altLang="en-US" sz="1200" dirty="0"/>
            </a:p>
          </p:txBody>
        </p:sp>
        <p:cxnSp>
          <p:nvCxnSpPr>
            <p:cNvPr id="68" name="직선 화살표 연결선 67"/>
            <p:cNvCxnSpPr/>
            <p:nvPr/>
          </p:nvCxnSpPr>
          <p:spPr>
            <a:xfrm flipV="1">
              <a:off x="5450753" y="5902289"/>
              <a:ext cx="684981" cy="21318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/>
            <p:cNvSpPr txBox="1"/>
            <p:nvPr/>
          </p:nvSpPr>
          <p:spPr>
            <a:xfrm rot="20700000">
              <a:off x="5470067" y="5674176"/>
              <a:ext cx="808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>
                  <a:solidFill>
                    <a:srgbClr val="FF0000"/>
                  </a:solidFill>
                </a:rPr>
                <a:t>방향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0" name="내용 개체 틀 2"/>
          <p:cNvSpPr txBox="1">
            <a:spLocks/>
          </p:cNvSpPr>
          <p:nvPr/>
        </p:nvSpPr>
        <p:spPr>
          <a:xfrm>
            <a:off x="671558" y="2591939"/>
            <a:ext cx="10515600" cy="955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행렬</a:t>
            </a:r>
            <a:r>
              <a:rPr lang="en-US" altLang="ko-KR"/>
              <a:t>: 4x4</a:t>
            </a:r>
            <a:r>
              <a:rPr lang="ko-KR" altLang="en-US"/>
              <a:t>원소를 가지는 행렬로 </a:t>
            </a:r>
            <a:r>
              <a:rPr lang="en-US" altLang="ko-KR"/>
              <a:t>3</a:t>
            </a:r>
            <a:r>
              <a:rPr lang="ko-KR" altLang="en-US"/>
              <a:t>차원상의 물체의 변형을 나타내는 데 사용된다</a:t>
            </a:r>
            <a:r>
              <a:rPr lang="en-US" altLang="ko-KR"/>
              <a:t>.</a:t>
            </a:r>
          </a:p>
        </p:txBody>
      </p:sp>
      <p:sp>
        <p:nvSpPr>
          <p:cNvPr id="71" name="내용 개체 틀 2"/>
          <p:cNvSpPr txBox="1">
            <a:spLocks/>
          </p:cNvSpPr>
          <p:nvPr/>
        </p:nvSpPr>
        <p:spPr>
          <a:xfrm>
            <a:off x="668791" y="3547060"/>
            <a:ext cx="10515600" cy="657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평면</a:t>
            </a:r>
            <a:r>
              <a:rPr lang="en-US" altLang="ko-KR"/>
              <a:t>: </a:t>
            </a:r>
            <a:r>
              <a:rPr lang="ko-KR" altLang="en-US"/>
              <a:t>수학적 계산을 하는데 필요한 가상의 평면</a:t>
            </a:r>
            <a:endParaRPr lang="en-US" altLang="ko-KR"/>
          </a:p>
        </p:txBody>
      </p:sp>
      <p:sp>
        <p:nvSpPr>
          <p:cNvPr id="73" name="내용 개체 틀 2"/>
          <p:cNvSpPr txBox="1">
            <a:spLocks/>
          </p:cNvSpPr>
          <p:nvPr/>
        </p:nvSpPr>
        <p:spPr>
          <a:xfrm>
            <a:off x="668791" y="4143007"/>
            <a:ext cx="10515600" cy="559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광선</a:t>
            </a:r>
            <a:r>
              <a:rPr lang="en-US" altLang="ko-KR"/>
              <a:t>: </a:t>
            </a:r>
            <a:r>
              <a:rPr lang="ko-KR" altLang="en-US"/>
              <a:t>시작위치와 방향을 가지는 수학적 계산에 필요한 광선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172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31" grpId="0" animBg="1"/>
      <p:bldP spid="32" grpId="0" animBg="1"/>
      <p:bldP spid="40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9158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55215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 dirty="0"/>
              <a:t>모델의 표현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962608" y="1497221"/>
            <a:ext cx="10515600" cy="886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버텍스</a:t>
            </a:r>
            <a:r>
              <a:rPr lang="en-US" altLang="ko-KR" dirty="0"/>
              <a:t>(</a:t>
            </a:r>
            <a:r>
              <a:rPr lang="ko-KR" altLang="en-US" dirty="0"/>
              <a:t>정점</a:t>
            </a:r>
            <a:r>
              <a:rPr lang="en-US" altLang="ko-KR" dirty="0"/>
              <a:t>)</a:t>
            </a:r>
            <a:r>
              <a:rPr lang="ko-KR" altLang="en-US" dirty="0"/>
              <a:t>이 </a:t>
            </a:r>
            <a:r>
              <a:rPr lang="en-US" altLang="ko-KR" dirty="0"/>
              <a:t>3</a:t>
            </a:r>
            <a:r>
              <a:rPr lang="ko-KR" altLang="en-US" dirty="0"/>
              <a:t>개가 </a:t>
            </a:r>
            <a:r>
              <a:rPr lang="ko-KR" altLang="en-US"/>
              <a:t>모여 인덱스</a:t>
            </a:r>
            <a:r>
              <a:rPr lang="en-US" altLang="ko-KR"/>
              <a:t>(</a:t>
            </a:r>
            <a:r>
              <a:rPr lang="ko-KR" altLang="en-US"/>
              <a:t>점의 연결 순서</a:t>
            </a:r>
            <a:r>
              <a:rPr lang="en-US" altLang="ko-KR"/>
              <a:t>)</a:t>
            </a:r>
            <a:r>
              <a:rPr lang="ko-KR" altLang="en-US"/>
              <a:t>가 </a:t>
            </a:r>
            <a:br>
              <a:rPr lang="en-US" altLang="ko-KR"/>
            </a:br>
            <a:r>
              <a:rPr lang="ko-KR" altLang="en-US"/>
              <a:t>부여되어 이어지면서</a:t>
            </a:r>
            <a:r>
              <a:rPr lang="en-US" altLang="ko-KR"/>
              <a:t>, </a:t>
            </a:r>
            <a:r>
              <a:rPr lang="ko-KR" altLang="en-US"/>
              <a:t>폴리곤</a:t>
            </a:r>
            <a:r>
              <a:rPr lang="en-US" altLang="ko-KR" dirty="0"/>
              <a:t>(</a:t>
            </a:r>
            <a:r>
              <a:rPr lang="ko-KR" altLang="en-US" dirty="0"/>
              <a:t>삼각형</a:t>
            </a:r>
            <a:r>
              <a:rPr lang="en-US" altLang="ko-KR" dirty="0"/>
              <a:t>)</a:t>
            </a:r>
            <a:r>
              <a:rPr lang="ko-KR" altLang="en-US" dirty="0"/>
              <a:t>이 된다</a:t>
            </a:r>
            <a:r>
              <a:rPr lang="en-US" altLang="ko-KR" dirty="0"/>
              <a:t>. </a:t>
            </a:r>
          </a:p>
        </p:txBody>
      </p:sp>
      <p:pic>
        <p:nvPicPr>
          <p:cNvPr id="1026" name="Picture 2" descr="폴리곤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176" y="3781289"/>
            <a:ext cx="2645814" cy="2645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37855" y="6477412"/>
            <a:ext cx="2635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폴리곤</a:t>
            </a:r>
            <a:r>
              <a:rPr lang="en-US" altLang="ko-KR" dirty="0"/>
              <a:t>&lt;</a:t>
            </a:r>
            <a:r>
              <a:rPr lang="ko-KR" altLang="en-US" dirty="0"/>
              <a:t>포켓몬스터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5" name="자유형 4"/>
          <p:cNvSpPr/>
          <p:nvPr/>
        </p:nvSpPr>
        <p:spPr>
          <a:xfrm>
            <a:off x="2802576" y="4254932"/>
            <a:ext cx="190005" cy="391886"/>
          </a:xfrm>
          <a:custGeom>
            <a:avLst/>
            <a:gdLst>
              <a:gd name="connsiteX0" fmla="*/ 0 w 190005"/>
              <a:gd name="connsiteY0" fmla="*/ 0 h 391886"/>
              <a:gd name="connsiteX1" fmla="*/ 0 w 190005"/>
              <a:gd name="connsiteY1" fmla="*/ 391886 h 391886"/>
              <a:gd name="connsiteX2" fmla="*/ 190005 w 190005"/>
              <a:gd name="connsiteY2" fmla="*/ 273133 h 391886"/>
              <a:gd name="connsiteX3" fmla="*/ 0 w 190005"/>
              <a:gd name="connsiteY3" fmla="*/ 0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005" h="391886">
                <a:moveTo>
                  <a:pt x="0" y="0"/>
                </a:moveTo>
                <a:lnTo>
                  <a:pt x="0" y="391886"/>
                </a:lnTo>
                <a:lnTo>
                  <a:pt x="190005" y="2731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 7"/>
          <p:cNvSpPr/>
          <p:nvPr/>
        </p:nvSpPr>
        <p:spPr>
          <a:xfrm>
            <a:off x="2648197" y="4266807"/>
            <a:ext cx="142504" cy="391886"/>
          </a:xfrm>
          <a:custGeom>
            <a:avLst/>
            <a:gdLst>
              <a:gd name="connsiteX0" fmla="*/ 130629 w 142504"/>
              <a:gd name="connsiteY0" fmla="*/ 0 h 391886"/>
              <a:gd name="connsiteX1" fmla="*/ 0 w 142504"/>
              <a:gd name="connsiteY1" fmla="*/ 249382 h 391886"/>
              <a:gd name="connsiteX2" fmla="*/ 142504 w 142504"/>
              <a:gd name="connsiteY2" fmla="*/ 391886 h 391886"/>
              <a:gd name="connsiteX3" fmla="*/ 130629 w 142504"/>
              <a:gd name="connsiteY3" fmla="*/ 0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504" h="391886">
                <a:moveTo>
                  <a:pt x="130629" y="0"/>
                </a:moveTo>
                <a:lnTo>
                  <a:pt x="0" y="249382"/>
                </a:lnTo>
                <a:lnTo>
                  <a:pt x="142504" y="391886"/>
                </a:lnTo>
                <a:lnTo>
                  <a:pt x="130629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172989" y="4171805"/>
            <a:ext cx="881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폴리곤</a:t>
            </a:r>
            <a:endParaRPr lang="ko-KR" altLang="en-US" dirty="0"/>
          </a:p>
        </p:txBody>
      </p:sp>
      <p:cxnSp>
        <p:nvCxnSpPr>
          <p:cNvPr id="12" name="직선 화살표 연결선 11"/>
          <p:cNvCxnSpPr>
            <a:endCxn id="9" idx="1"/>
          </p:cNvCxnSpPr>
          <p:nvPr/>
        </p:nvCxnSpPr>
        <p:spPr>
          <a:xfrm flipV="1">
            <a:off x="2862263" y="4356471"/>
            <a:ext cx="1310726" cy="134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자유형 15"/>
          <p:cNvSpPr/>
          <p:nvPr/>
        </p:nvSpPr>
        <p:spPr>
          <a:xfrm>
            <a:off x="2626822" y="4248994"/>
            <a:ext cx="382385" cy="399011"/>
          </a:xfrm>
          <a:custGeom>
            <a:avLst/>
            <a:gdLst>
              <a:gd name="connsiteX0" fmla="*/ 174567 w 382385"/>
              <a:gd name="connsiteY0" fmla="*/ 0 h 399011"/>
              <a:gd name="connsiteX1" fmla="*/ 174567 w 382385"/>
              <a:gd name="connsiteY1" fmla="*/ 0 h 399011"/>
              <a:gd name="connsiteX2" fmla="*/ 99753 w 382385"/>
              <a:gd name="connsiteY2" fmla="*/ 124691 h 399011"/>
              <a:gd name="connsiteX3" fmla="*/ 83127 w 382385"/>
              <a:gd name="connsiteY3" fmla="*/ 149630 h 399011"/>
              <a:gd name="connsiteX4" fmla="*/ 41563 w 382385"/>
              <a:gd name="connsiteY4" fmla="*/ 199506 h 399011"/>
              <a:gd name="connsiteX5" fmla="*/ 24938 w 382385"/>
              <a:gd name="connsiteY5" fmla="*/ 249382 h 399011"/>
              <a:gd name="connsiteX6" fmla="*/ 16625 w 382385"/>
              <a:gd name="connsiteY6" fmla="*/ 274320 h 399011"/>
              <a:gd name="connsiteX7" fmla="*/ 0 w 382385"/>
              <a:gd name="connsiteY7" fmla="*/ 282633 h 399011"/>
              <a:gd name="connsiteX8" fmla="*/ 182880 w 382385"/>
              <a:gd name="connsiteY8" fmla="*/ 399011 h 399011"/>
              <a:gd name="connsiteX9" fmla="*/ 382385 w 382385"/>
              <a:gd name="connsiteY9" fmla="*/ 282633 h 399011"/>
              <a:gd name="connsiteX10" fmla="*/ 174567 w 382385"/>
              <a:gd name="connsiteY10" fmla="*/ 0 h 399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2385" h="399011">
                <a:moveTo>
                  <a:pt x="174567" y="0"/>
                </a:moveTo>
                <a:lnTo>
                  <a:pt x="174567" y="0"/>
                </a:lnTo>
                <a:cubicBezTo>
                  <a:pt x="123302" y="92277"/>
                  <a:pt x="148826" y="51081"/>
                  <a:pt x="99753" y="124691"/>
                </a:cubicBezTo>
                <a:cubicBezTo>
                  <a:pt x="94211" y="133004"/>
                  <a:pt x="90192" y="142565"/>
                  <a:pt x="83127" y="149630"/>
                </a:cubicBezTo>
                <a:cubicBezTo>
                  <a:pt x="51125" y="181632"/>
                  <a:pt x="64710" y="164787"/>
                  <a:pt x="41563" y="199506"/>
                </a:cubicBezTo>
                <a:lnTo>
                  <a:pt x="24938" y="249382"/>
                </a:lnTo>
                <a:cubicBezTo>
                  <a:pt x="22167" y="257695"/>
                  <a:pt x="24462" y="270401"/>
                  <a:pt x="16625" y="274320"/>
                </a:cubicBezTo>
                <a:lnTo>
                  <a:pt x="0" y="282633"/>
                </a:lnTo>
                <a:lnTo>
                  <a:pt x="182880" y="399011"/>
                </a:lnTo>
                <a:lnTo>
                  <a:pt x="382385" y="282633"/>
                </a:lnTo>
                <a:lnTo>
                  <a:pt x="174567" y="0"/>
                </a:lnTo>
                <a:close/>
              </a:path>
            </a:pathLst>
          </a:cu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/>
          <p:nvPr/>
        </p:nvCxnSpPr>
        <p:spPr>
          <a:xfrm flipV="1">
            <a:off x="2801388" y="3908174"/>
            <a:ext cx="1554481" cy="544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72493" y="3756350"/>
            <a:ext cx="532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면</a:t>
            </a:r>
          </a:p>
        </p:txBody>
      </p:sp>
      <p:pic>
        <p:nvPicPr>
          <p:cNvPr id="1030" name="Picture 6" descr="폴리곤2에 대한 이미지 검색결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6" y="3979304"/>
            <a:ext cx="2308316" cy="2308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오른쪽 화살표 20"/>
          <p:cNvSpPr/>
          <p:nvPr/>
        </p:nvSpPr>
        <p:spPr>
          <a:xfrm>
            <a:off x="4372493" y="4797634"/>
            <a:ext cx="1147158" cy="65670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807966" y="6477412"/>
            <a:ext cx="2635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폴리곤</a:t>
            </a:r>
            <a:r>
              <a:rPr lang="en-US" altLang="ko-KR" dirty="0"/>
              <a:t>2&lt;</a:t>
            </a:r>
            <a:r>
              <a:rPr lang="ko-KR" altLang="en-US" dirty="0"/>
              <a:t>포켓몬스터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23" name="곱셈 기호 22"/>
          <p:cNvSpPr/>
          <p:nvPr/>
        </p:nvSpPr>
        <p:spPr>
          <a:xfrm>
            <a:off x="4272585" y="4463170"/>
            <a:ext cx="1105229" cy="1300539"/>
          </a:xfrm>
          <a:prstGeom prst="mathMultiply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512334" y="4948796"/>
            <a:ext cx="737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진화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3537" y="4940411"/>
            <a:ext cx="1063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노말맵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2785375" y="4615689"/>
            <a:ext cx="48897" cy="533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3675274" y="4558721"/>
            <a:ext cx="881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버텍스</a:t>
            </a:r>
            <a:endParaRPr lang="ko-KR" altLang="en-US" dirty="0"/>
          </a:p>
        </p:txBody>
      </p:sp>
      <p:cxnSp>
        <p:nvCxnSpPr>
          <p:cNvPr id="30" name="직선 화살표 연결선 29"/>
          <p:cNvCxnSpPr>
            <a:endCxn id="32" idx="1"/>
          </p:cNvCxnSpPr>
          <p:nvPr/>
        </p:nvCxnSpPr>
        <p:spPr>
          <a:xfrm>
            <a:off x="2846147" y="4657042"/>
            <a:ext cx="829127" cy="86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타원 34"/>
          <p:cNvSpPr/>
          <p:nvPr/>
        </p:nvSpPr>
        <p:spPr>
          <a:xfrm>
            <a:off x="2968132" y="4504517"/>
            <a:ext cx="48897" cy="533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2776940" y="4234599"/>
            <a:ext cx="48897" cy="533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/>
          <p:cNvSpPr txBox="1">
            <a:spLocks/>
          </p:cNvSpPr>
          <p:nvPr/>
        </p:nvSpPr>
        <p:spPr>
          <a:xfrm>
            <a:off x="962608" y="2355856"/>
            <a:ext cx="10515600" cy="522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폴리곤</a:t>
            </a:r>
            <a:r>
              <a:rPr lang="en-US" altLang="ko-KR" dirty="0"/>
              <a:t> 2</a:t>
            </a:r>
            <a:r>
              <a:rPr lang="ko-KR" altLang="en-US" dirty="0"/>
              <a:t>개가 모여 면이 된다</a:t>
            </a:r>
            <a:r>
              <a:rPr lang="en-US" altLang="ko-KR" dirty="0"/>
              <a:t>.</a:t>
            </a:r>
          </a:p>
        </p:txBody>
      </p:sp>
      <p:sp>
        <p:nvSpPr>
          <p:cNvPr id="40" name="내용 개체 틀 2"/>
          <p:cNvSpPr txBox="1">
            <a:spLocks/>
          </p:cNvSpPr>
          <p:nvPr/>
        </p:nvSpPr>
        <p:spPr>
          <a:xfrm>
            <a:off x="962608" y="2806116"/>
            <a:ext cx="10515600" cy="7304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폴리곤에</a:t>
            </a:r>
            <a:r>
              <a:rPr lang="ko-KR" altLang="en-US" dirty="0"/>
              <a:t> </a:t>
            </a:r>
            <a:r>
              <a:rPr lang="ko-KR" altLang="en-US" sz="3000" dirty="0" err="1"/>
              <a:t>노말맵을</a:t>
            </a:r>
            <a:r>
              <a:rPr lang="ko-KR" altLang="en-US" dirty="0"/>
              <a:t> 적용해 같은 수의 </a:t>
            </a:r>
            <a:r>
              <a:rPr lang="ko-KR" altLang="en-US" dirty="0" err="1"/>
              <a:t>폴리곤으로</a:t>
            </a:r>
            <a:r>
              <a:rPr lang="ko-KR" altLang="en-US" dirty="0"/>
              <a:t> 둥글게 표현한다</a:t>
            </a:r>
            <a:r>
              <a:rPr lang="en-US" altLang="ko-KR" dirty="0"/>
              <a:t>.</a:t>
            </a:r>
          </a:p>
        </p:txBody>
      </p:sp>
      <p:sp>
        <p:nvSpPr>
          <p:cNvPr id="28" name="내용 개체 틀 2"/>
          <p:cNvSpPr txBox="1">
            <a:spLocks/>
          </p:cNvSpPr>
          <p:nvPr/>
        </p:nvSpPr>
        <p:spPr>
          <a:xfrm>
            <a:off x="966855" y="3294509"/>
            <a:ext cx="10515600" cy="730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600" dirty="0"/>
              <a:t>인덱스버퍼는</a:t>
            </a:r>
            <a:r>
              <a:rPr lang="en-US" altLang="ko-KR" sz="2600" dirty="0"/>
              <a:t> </a:t>
            </a:r>
            <a:r>
              <a:rPr lang="ko-KR" altLang="en-US" sz="2600" dirty="0" err="1"/>
              <a:t>버텍스의</a:t>
            </a:r>
            <a:r>
              <a:rPr lang="ko-KR" altLang="en-US" sz="2600" dirty="0"/>
              <a:t> 연결순서를 저장하는 버퍼를 말한다</a:t>
            </a:r>
            <a:r>
              <a:rPr lang="en-US" altLang="ko-KR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65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5" grpId="0" animBg="1"/>
      <p:bldP spid="8" grpId="0" animBg="1"/>
      <p:bldP spid="9" grpId="0"/>
      <p:bldP spid="16" grpId="0" animBg="1"/>
      <p:bldP spid="19" grpId="0"/>
      <p:bldP spid="21" grpId="0" animBg="1"/>
      <p:bldP spid="25" grpId="0"/>
      <p:bldP spid="23" grpId="0" animBg="1"/>
      <p:bldP spid="23" grpId="1" animBg="1"/>
      <p:bldP spid="24" grpId="0"/>
      <p:bldP spid="29" grpId="0"/>
      <p:bldP spid="26" grpId="0" animBg="1"/>
      <p:bldP spid="32" grpId="0"/>
      <p:bldP spid="35" grpId="0" animBg="1"/>
      <p:bldP spid="36" grpId="0" animBg="1"/>
      <p:bldP spid="38" grpId="0"/>
      <p:bldP spid="40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9158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/>
              <a:t>깊이버퍼</a:t>
            </a:r>
            <a:endParaRPr lang="ko-KR" altLang="en-US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361941" y="1572075"/>
            <a:ext cx="11620500" cy="123643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/>
              <a:t>z</a:t>
            </a:r>
            <a:r>
              <a:rPr lang="ko-KR" altLang="en-US" b="1"/>
              <a:t>버퍼</a:t>
            </a:r>
            <a:r>
              <a:rPr lang="ko-KR" altLang="en-US"/>
              <a:t>라고도 불리며 오브젝트를 카메라 위치에 따라 </a:t>
            </a:r>
            <a:r>
              <a:rPr lang="en-US" altLang="ko-KR"/>
              <a:t>z</a:t>
            </a:r>
            <a:r>
              <a:rPr lang="ko-KR" altLang="en-US"/>
              <a:t>축을 기준으로 오브젝트를 다시 정렬하여 저장하는 퍼버를 말한다</a:t>
            </a:r>
            <a:r>
              <a:rPr lang="en-US" altLang="ko-KR"/>
              <a:t>. </a:t>
            </a:r>
            <a:br>
              <a:rPr lang="en-US" altLang="ko-KR"/>
            </a:br>
            <a:r>
              <a:rPr lang="ko-KR" altLang="en-US"/>
              <a:t>다음과 같은 문제 해결을 위해 사용된다</a:t>
            </a:r>
            <a:r>
              <a:rPr lang="en-US" altLang="ko-KR"/>
              <a:t>.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517072" y="2715084"/>
            <a:ext cx="11312463" cy="20855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800" b="1"/>
              <a:t>기본 렌더링은 오브젝트의 생성 순서에 해 랜더링이 된다</a:t>
            </a:r>
            <a:r>
              <a:rPr lang="en-US" altLang="ko-KR" sz="2800" b="1"/>
              <a:t>.</a:t>
            </a:r>
            <a:br>
              <a:rPr lang="en-US" altLang="ko-KR" sz="2800" b="1"/>
            </a:br>
            <a:r>
              <a:rPr lang="ko-KR" altLang="en-US" sz="2800" b="1"/>
              <a:t>그래서 위에 있는 물체일수록 마지막에 랜더링을 하는것이 상식이다</a:t>
            </a:r>
            <a:r>
              <a:rPr lang="en-US" altLang="ko-KR" sz="2800" b="1"/>
              <a:t>.</a:t>
            </a:r>
            <a:br>
              <a:rPr lang="en-US" altLang="ko-KR" sz="2800" b="1"/>
            </a:br>
            <a:r>
              <a:rPr lang="ko-KR" altLang="en-US" sz="2800" b="1"/>
              <a:t>그러나 </a:t>
            </a:r>
            <a:r>
              <a:rPr lang="en-US" altLang="ko-KR" sz="2800" b="1"/>
              <a:t>2</a:t>
            </a:r>
            <a:r>
              <a:rPr lang="ko-KR" altLang="en-US" sz="2800" b="1"/>
              <a:t>차원과 달리 </a:t>
            </a:r>
            <a:r>
              <a:rPr lang="en-US" altLang="ko-KR" sz="2800" b="1"/>
              <a:t>3</a:t>
            </a:r>
            <a:r>
              <a:rPr lang="ko-KR" altLang="en-US" sz="2800" b="1"/>
              <a:t>차원에서는 </a:t>
            </a:r>
            <a:r>
              <a:rPr lang="en-US" altLang="ko-KR" sz="2800" b="1"/>
              <a:t>z</a:t>
            </a:r>
            <a:r>
              <a:rPr lang="ko-KR" altLang="en-US" sz="2800" b="1"/>
              <a:t>축이 추가되므로 물체를 바라보는</a:t>
            </a:r>
            <a:br>
              <a:rPr lang="en-US" altLang="ko-KR" sz="2800" b="1"/>
            </a:br>
            <a:r>
              <a:rPr lang="ko-KR" altLang="en-US" sz="2800" b="1"/>
              <a:t>방향에 따라 물체가 먼저 그려져야하는 순서 바뀌어야 한다</a:t>
            </a:r>
            <a:r>
              <a:rPr lang="en-US" altLang="ko-KR" sz="2800" b="1"/>
              <a:t>.</a:t>
            </a:r>
          </a:p>
        </p:txBody>
      </p:sp>
      <p:sp>
        <p:nvSpPr>
          <p:cNvPr id="5" name="타원 4"/>
          <p:cNvSpPr/>
          <p:nvPr/>
        </p:nvSpPr>
        <p:spPr>
          <a:xfrm>
            <a:off x="1397726" y="5177789"/>
            <a:ext cx="1100546" cy="1100546"/>
          </a:xfrm>
          <a:prstGeom prst="ellipse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86636" y="5277392"/>
            <a:ext cx="881743" cy="8817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02129" y="6294664"/>
            <a:ext cx="2792185" cy="375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r>
              <a:rPr lang="ko-KR" altLang="en-US"/>
              <a:t>차원의 랜더링</a:t>
            </a:r>
          </a:p>
        </p:txBody>
      </p:sp>
      <p:sp>
        <p:nvSpPr>
          <p:cNvPr id="23" name="타원 22"/>
          <p:cNvSpPr/>
          <p:nvPr/>
        </p:nvSpPr>
        <p:spPr>
          <a:xfrm>
            <a:off x="6172191" y="5190850"/>
            <a:ext cx="1100546" cy="1100546"/>
          </a:xfrm>
          <a:prstGeom prst="ellipse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5661101" y="5282833"/>
            <a:ext cx="881743" cy="8817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5509252" y="6388282"/>
            <a:ext cx="179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3</a:t>
            </a:r>
            <a:r>
              <a:rPr lang="ko-KR" altLang="en-US"/>
              <a:t>차원의 랜더링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7511135" y="5486398"/>
            <a:ext cx="1796143" cy="489859"/>
            <a:chOff x="3151414" y="5461906"/>
            <a:chExt cx="1796143" cy="489859"/>
          </a:xfrm>
        </p:grpSpPr>
        <p:sp>
          <p:nvSpPr>
            <p:cNvPr id="12" name="순서도: 추출 11"/>
            <p:cNvSpPr/>
            <p:nvPr/>
          </p:nvSpPr>
          <p:spPr>
            <a:xfrm rot="5400000">
              <a:off x="3869871" y="5486400"/>
              <a:ext cx="489858" cy="440871"/>
            </a:xfrm>
            <a:prstGeom prst="flowChartExtra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4114800" y="5461906"/>
              <a:ext cx="832757" cy="48985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" name="직선 화살표 연결선 17"/>
            <p:cNvCxnSpPr>
              <a:stCxn id="12" idx="2"/>
            </p:cNvCxnSpPr>
            <p:nvPr/>
          </p:nvCxnSpPr>
          <p:spPr>
            <a:xfrm flipH="1" flipV="1">
              <a:off x="3151414" y="5706835"/>
              <a:ext cx="742951" cy="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/>
          <p:cNvGrpSpPr/>
          <p:nvPr/>
        </p:nvGrpSpPr>
        <p:grpSpPr>
          <a:xfrm rot="10800000">
            <a:off x="3549819" y="5486398"/>
            <a:ext cx="1796143" cy="489859"/>
            <a:chOff x="3151414" y="5461906"/>
            <a:chExt cx="1796143" cy="489859"/>
          </a:xfrm>
        </p:grpSpPr>
        <p:sp>
          <p:nvSpPr>
            <p:cNvPr id="31" name="순서도: 추출 30"/>
            <p:cNvSpPr/>
            <p:nvPr/>
          </p:nvSpPr>
          <p:spPr>
            <a:xfrm rot="5400000">
              <a:off x="3869871" y="5486400"/>
              <a:ext cx="489858" cy="440871"/>
            </a:xfrm>
            <a:prstGeom prst="flowChartExtra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4114800" y="5461906"/>
              <a:ext cx="832757" cy="48985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" name="직선 화살표 연결선 32"/>
            <p:cNvCxnSpPr>
              <a:stCxn id="31" idx="2"/>
            </p:cNvCxnSpPr>
            <p:nvPr/>
          </p:nvCxnSpPr>
          <p:spPr>
            <a:xfrm flipH="1" flipV="1">
              <a:off x="3151414" y="5706835"/>
              <a:ext cx="742951" cy="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도넛 19"/>
          <p:cNvSpPr/>
          <p:nvPr/>
        </p:nvSpPr>
        <p:spPr>
          <a:xfrm>
            <a:off x="3541580" y="5174288"/>
            <a:ext cx="1091179" cy="1091179"/>
          </a:xfrm>
          <a:prstGeom prst="donut">
            <a:avLst>
              <a:gd name="adj" fmla="val 9682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&quot;없음&quot; 기호 28"/>
          <p:cNvSpPr/>
          <p:nvPr/>
        </p:nvSpPr>
        <p:spPr>
          <a:xfrm>
            <a:off x="8237757" y="5137773"/>
            <a:ext cx="1103008" cy="1103008"/>
          </a:xfrm>
          <a:prstGeom prst="noSmoking">
            <a:avLst>
              <a:gd name="adj" fmla="val 9835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5" name="직선 화살표 연결선 34"/>
          <p:cNvCxnSpPr/>
          <p:nvPr/>
        </p:nvCxnSpPr>
        <p:spPr>
          <a:xfrm flipH="1">
            <a:off x="886637" y="5056127"/>
            <a:ext cx="1611635" cy="0"/>
          </a:xfrm>
          <a:prstGeom prst="straightConnector1">
            <a:avLst/>
          </a:prstGeom>
          <a:ln w="254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52500" y="4840390"/>
            <a:ext cx="10009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solidFill>
                  <a:srgbClr val="92D050"/>
                </a:solidFill>
              </a:rPr>
              <a:t>랜더링순서</a:t>
            </a:r>
          </a:p>
        </p:txBody>
      </p:sp>
      <p:grpSp>
        <p:nvGrpSpPr>
          <p:cNvPr id="39" name="그룹 38"/>
          <p:cNvGrpSpPr/>
          <p:nvPr/>
        </p:nvGrpSpPr>
        <p:grpSpPr>
          <a:xfrm>
            <a:off x="6168656" y="5070903"/>
            <a:ext cx="571171" cy="112590"/>
            <a:chOff x="6092456" y="4926123"/>
            <a:chExt cx="814158" cy="160488"/>
          </a:xfrm>
        </p:grpSpPr>
        <p:sp>
          <p:nvSpPr>
            <p:cNvPr id="38" name="직사각형 37"/>
            <p:cNvSpPr/>
            <p:nvPr/>
          </p:nvSpPr>
          <p:spPr>
            <a:xfrm>
              <a:off x="6092456" y="4926123"/>
              <a:ext cx="184150" cy="16027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6302007" y="4926334"/>
              <a:ext cx="184150" cy="15812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6512914" y="4926123"/>
              <a:ext cx="184150" cy="16027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6722464" y="4926334"/>
              <a:ext cx="184150" cy="16027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5871380" y="5058760"/>
            <a:ext cx="2932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/>
              <a:t>Z</a:t>
            </a:r>
            <a:r>
              <a:rPr lang="ko-KR" altLang="en-US" sz="800"/>
              <a:t>버퍼</a:t>
            </a:r>
          </a:p>
        </p:txBody>
      </p:sp>
      <p:cxnSp>
        <p:nvCxnSpPr>
          <p:cNvPr id="56" name="직선 화살표 연결선 55"/>
          <p:cNvCxnSpPr/>
          <p:nvPr/>
        </p:nvCxnSpPr>
        <p:spPr>
          <a:xfrm flipH="1">
            <a:off x="5824538" y="5015965"/>
            <a:ext cx="1228725" cy="0"/>
          </a:xfrm>
          <a:prstGeom prst="straightConnector1">
            <a:avLst/>
          </a:prstGeom>
          <a:ln w="25400">
            <a:solidFill>
              <a:srgbClr val="92D05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917015" y="4784173"/>
            <a:ext cx="10009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solidFill>
                  <a:srgbClr val="92D050"/>
                </a:solidFill>
              </a:rPr>
              <a:t>랜더링순서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6170930" y="5070788"/>
            <a:ext cx="129190" cy="1124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/>
          <p:cNvSpPr/>
          <p:nvPr/>
        </p:nvSpPr>
        <p:spPr>
          <a:xfrm>
            <a:off x="6315430" y="5070788"/>
            <a:ext cx="129190" cy="112442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60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/>
      <p:bldP spid="23" grpId="0" animBg="1"/>
      <p:bldP spid="27" grpId="0" animBg="1"/>
      <p:bldP spid="28" grpId="0"/>
      <p:bldP spid="20" grpId="0" animBg="1"/>
      <p:bldP spid="20" grpId="1" animBg="1"/>
      <p:bldP spid="29" grpId="0" animBg="1"/>
      <p:bldP spid="29" grpId="1" animBg="1"/>
      <p:bldP spid="37" grpId="0"/>
      <p:bldP spid="40" grpId="0"/>
      <p:bldP spid="59" grpId="0"/>
      <p:bldP spid="67" grpId="0" animBg="1"/>
      <p:bldP spid="6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9158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 dirty="0"/>
              <a:t>스텐실 버퍼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361941" y="1572075"/>
            <a:ext cx="11620500" cy="1236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이미지에서 픽셀을 </a:t>
            </a:r>
            <a:r>
              <a:rPr lang="ko-KR" altLang="en-US" dirty="0" err="1"/>
              <a:t>마스킹하여</a:t>
            </a:r>
            <a:r>
              <a:rPr lang="ko-KR" altLang="en-US" dirty="0"/>
              <a:t> 합성</a:t>
            </a:r>
            <a:r>
              <a:rPr lang="en-US" altLang="ko-KR" dirty="0"/>
              <a:t>, </a:t>
            </a:r>
            <a:r>
              <a:rPr lang="ko-KR" altLang="en-US" dirty="0" err="1"/>
              <a:t>디스케링</a:t>
            </a:r>
            <a:r>
              <a:rPr lang="en-US" altLang="ko-KR" dirty="0"/>
              <a:t>, </a:t>
            </a:r>
            <a:r>
              <a:rPr lang="ko-KR" altLang="en-US" dirty="0" err="1"/>
              <a:t>디졸브</a:t>
            </a:r>
            <a:r>
              <a:rPr lang="en-US" altLang="ko-KR" dirty="0"/>
              <a:t>, </a:t>
            </a:r>
            <a:r>
              <a:rPr lang="ko-KR" altLang="en-US" dirty="0" err="1"/>
              <a:t>페이드</a:t>
            </a:r>
            <a:r>
              <a:rPr lang="en-US" altLang="ko-KR" dirty="0"/>
              <a:t>,</a:t>
            </a:r>
            <a:r>
              <a:rPr lang="ko-KR" altLang="en-US" dirty="0" err="1"/>
              <a:t>스와이프</a:t>
            </a:r>
            <a:r>
              <a:rPr lang="en-US" altLang="ko-KR" dirty="0"/>
              <a:t>, </a:t>
            </a:r>
            <a:r>
              <a:rPr lang="ko-KR" altLang="en-US" dirty="0"/>
              <a:t>아웃라인과 실루엣</a:t>
            </a:r>
            <a:r>
              <a:rPr lang="en-US" altLang="ko-KR" dirty="0"/>
              <a:t>, </a:t>
            </a:r>
            <a:r>
              <a:rPr lang="ko-KR" altLang="en-US" dirty="0"/>
              <a:t>양면 </a:t>
            </a:r>
            <a:r>
              <a:rPr lang="ko-KR" altLang="en-US" dirty="0" err="1"/>
              <a:t>스텐실등</a:t>
            </a:r>
            <a:r>
              <a:rPr lang="ko-KR" altLang="en-US" dirty="0"/>
              <a:t> </a:t>
            </a:r>
            <a:r>
              <a:rPr lang="ko-KR" altLang="en-US" dirty="0" err="1"/>
              <a:t>특수효과르라</a:t>
            </a:r>
            <a:r>
              <a:rPr lang="ko-KR" altLang="en-US" dirty="0"/>
              <a:t> 내는데 사용됨</a:t>
            </a:r>
            <a:r>
              <a:rPr lang="en-US" altLang="ko-KR" dirty="0"/>
              <a:t>.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3060" y="2867166"/>
            <a:ext cx="4623661" cy="3282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445" y="2867166"/>
            <a:ext cx="1984828" cy="1490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445" y="4508187"/>
            <a:ext cx="1984828" cy="1484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62668" y="6306001"/>
            <a:ext cx="664572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400" dirty="0"/>
              <a:t>그림</a:t>
            </a:r>
            <a:r>
              <a:rPr lang="en-US" altLang="ko-KR" sz="1400" dirty="0"/>
              <a:t>: DX12 </a:t>
            </a:r>
            <a:r>
              <a:rPr lang="ko-KR" altLang="en-US" sz="1400" dirty="0"/>
              <a:t>를 이용한 </a:t>
            </a:r>
            <a:r>
              <a:rPr lang="en-US" altLang="ko-KR" sz="1400" dirty="0"/>
              <a:t>3D</a:t>
            </a:r>
            <a:r>
              <a:rPr lang="ko-KR" altLang="en-US" sz="1400" dirty="0"/>
              <a:t>게임프로그래밍 입문 </a:t>
            </a:r>
            <a:r>
              <a:rPr lang="en-US" altLang="ko-KR" sz="1400" dirty="0"/>
              <a:t>-</a:t>
            </a:r>
            <a:r>
              <a:rPr lang="ko-KR" altLang="en-US" sz="1400" dirty="0"/>
              <a:t> 스텐실 버퍼 거울사용 예제 </a:t>
            </a:r>
          </a:p>
        </p:txBody>
      </p:sp>
      <p:pic>
        <p:nvPicPr>
          <p:cNvPr id="1033" name="Picture 9" descr="C:\Users\Administrator\Downloads\DX12\Figures\Chapter 11 Stenciling\Fig11-5.bmp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68" y="3085807"/>
            <a:ext cx="3569712" cy="2544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3496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9158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/>
              <a:t>더블버퍼링</a:t>
            </a:r>
            <a:endParaRPr lang="ko-KR" altLang="en-US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361941" y="1572075"/>
            <a:ext cx="11620500" cy="2034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화면이 수사률에 맞지않아 화면이 일부 갱신되지않는 현상을</a:t>
            </a:r>
            <a:br>
              <a:rPr lang="en-US" altLang="ko-KR"/>
            </a:br>
            <a:r>
              <a:rPr lang="ko-KR" altLang="en-US"/>
              <a:t>해결하기 위해서 사용되는 기법</a:t>
            </a:r>
            <a:r>
              <a:rPr lang="en-US" altLang="ko-KR"/>
              <a:t>.</a:t>
            </a:r>
          </a:p>
          <a:p>
            <a:r>
              <a:rPr lang="ko-KR" altLang="en-US"/>
              <a:t>후면버퍼에 다음 화면에 갱신될 이미지를 그린다음 전면버퍼와 스왑시켜 한번에 화면이 바뀐것을 보도록 하는 것을 말한다</a:t>
            </a:r>
            <a:r>
              <a:rPr lang="en-US" altLang="ko-KR"/>
              <a:t>.</a:t>
            </a:r>
          </a:p>
        </p:txBody>
      </p:sp>
      <p:grpSp>
        <p:nvGrpSpPr>
          <p:cNvPr id="59" name="그룹 58"/>
          <p:cNvGrpSpPr/>
          <p:nvPr/>
        </p:nvGrpSpPr>
        <p:grpSpPr>
          <a:xfrm>
            <a:off x="562192" y="4245729"/>
            <a:ext cx="8524658" cy="1657495"/>
            <a:chOff x="562192" y="4596869"/>
            <a:chExt cx="8524658" cy="1657495"/>
          </a:xfrm>
        </p:grpSpPr>
        <p:grpSp>
          <p:nvGrpSpPr>
            <p:cNvPr id="5" name="그룹 4"/>
            <p:cNvGrpSpPr/>
            <p:nvPr/>
          </p:nvGrpSpPr>
          <p:grpSpPr>
            <a:xfrm>
              <a:off x="1776696" y="4970712"/>
              <a:ext cx="1134000" cy="1129764"/>
              <a:chOff x="999509" y="4382595"/>
              <a:chExt cx="1134000" cy="1129764"/>
            </a:xfrm>
          </p:grpSpPr>
          <p:sp>
            <p:nvSpPr>
              <p:cNvPr id="3" name="직사각형 2"/>
              <p:cNvSpPr/>
              <p:nvPr/>
            </p:nvSpPr>
            <p:spPr>
              <a:xfrm>
                <a:off x="999726" y="5117855"/>
                <a:ext cx="1133783" cy="3945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버퍼</a:t>
                </a: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999509" y="4382595"/>
                <a:ext cx="1134000" cy="43815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버퍼</a:t>
                </a:r>
              </a:p>
            </p:txBody>
          </p:sp>
        </p:grpSp>
        <p:grpSp>
          <p:nvGrpSpPr>
            <p:cNvPr id="2" name="그룹 1"/>
            <p:cNvGrpSpPr/>
            <p:nvPr/>
          </p:nvGrpSpPr>
          <p:grpSpPr>
            <a:xfrm>
              <a:off x="3946872" y="4970712"/>
              <a:ext cx="1151019" cy="1129764"/>
              <a:chOff x="-462597" y="5634384"/>
              <a:chExt cx="1151019" cy="1129764"/>
            </a:xfrm>
          </p:grpSpPr>
          <p:sp>
            <p:nvSpPr>
              <p:cNvPr id="9" name="직사각형 8"/>
              <p:cNvSpPr/>
              <p:nvPr/>
            </p:nvSpPr>
            <p:spPr>
              <a:xfrm>
                <a:off x="-462597" y="5634384"/>
                <a:ext cx="1133783" cy="43815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버퍼</a:t>
                </a:r>
              </a:p>
            </p:txBody>
          </p:sp>
          <p:sp>
            <p:nvSpPr>
              <p:cNvPr id="10" name="직사각형 9"/>
              <p:cNvSpPr/>
              <p:nvPr/>
            </p:nvSpPr>
            <p:spPr>
              <a:xfrm>
                <a:off x="-445578" y="6369644"/>
                <a:ext cx="1134000" cy="39450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버퍼</a:t>
                </a:r>
              </a:p>
            </p:txBody>
          </p:sp>
        </p:grpSp>
        <p:grpSp>
          <p:nvGrpSpPr>
            <p:cNvPr id="23" name="그룹 22"/>
            <p:cNvGrpSpPr/>
            <p:nvPr/>
          </p:nvGrpSpPr>
          <p:grpSpPr>
            <a:xfrm>
              <a:off x="6015321" y="4970712"/>
              <a:ext cx="1134000" cy="1129764"/>
              <a:chOff x="999509" y="4382595"/>
              <a:chExt cx="1134000" cy="1129764"/>
            </a:xfrm>
          </p:grpSpPr>
          <p:sp>
            <p:nvSpPr>
              <p:cNvPr id="24" name="직사각형 23"/>
              <p:cNvSpPr/>
              <p:nvPr/>
            </p:nvSpPr>
            <p:spPr>
              <a:xfrm>
                <a:off x="999726" y="5117854"/>
                <a:ext cx="1133783" cy="39450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버퍼</a:t>
                </a:r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999509" y="4382595"/>
                <a:ext cx="1134000" cy="43815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버퍼</a:t>
                </a:r>
              </a:p>
            </p:txBody>
          </p:sp>
        </p:grpSp>
        <p:cxnSp>
          <p:nvCxnSpPr>
            <p:cNvPr id="30" name="직선 화살표 연결선 29"/>
            <p:cNvCxnSpPr>
              <a:stCxn id="10" idx="3"/>
              <a:endCxn id="25" idx="1"/>
            </p:cNvCxnSpPr>
            <p:nvPr/>
          </p:nvCxnSpPr>
          <p:spPr>
            <a:xfrm flipV="1">
              <a:off x="5097891" y="5189787"/>
              <a:ext cx="917430" cy="713437"/>
            </a:xfrm>
            <a:prstGeom prst="straightConnector1">
              <a:avLst/>
            </a:prstGeom>
            <a:ln w="5080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/>
            <p:cNvCxnSpPr>
              <a:stCxn id="41" idx="3"/>
              <a:endCxn id="10" idx="1"/>
            </p:cNvCxnSpPr>
            <p:nvPr/>
          </p:nvCxnSpPr>
          <p:spPr>
            <a:xfrm>
              <a:off x="2910696" y="5189787"/>
              <a:ext cx="1053195" cy="713437"/>
            </a:xfrm>
            <a:prstGeom prst="straightConnector1">
              <a:avLst/>
            </a:prstGeom>
            <a:ln w="5080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/>
            <p:cNvCxnSpPr>
              <a:stCxn id="3" idx="3"/>
              <a:endCxn id="9" idx="1"/>
            </p:cNvCxnSpPr>
            <p:nvPr/>
          </p:nvCxnSpPr>
          <p:spPr>
            <a:xfrm flipV="1">
              <a:off x="2910696" y="5189787"/>
              <a:ext cx="1036176" cy="713437"/>
            </a:xfrm>
            <a:prstGeom prst="straightConnector1">
              <a:avLst/>
            </a:prstGeom>
            <a:ln w="50800">
              <a:solidFill>
                <a:schemeClr val="accent6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/>
            <p:cNvCxnSpPr>
              <a:endCxn id="24" idx="1"/>
            </p:cNvCxnSpPr>
            <p:nvPr/>
          </p:nvCxnSpPr>
          <p:spPr>
            <a:xfrm>
              <a:off x="5097891" y="5189787"/>
              <a:ext cx="917647" cy="713437"/>
            </a:xfrm>
            <a:prstGeom prst="straightConnector1">
              <a:avLst/>
            </a:prstGeom>
            <a:ln w="50800">
              <a:solidFill>
                <a:schemeClr val="accent6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562193" y="5033011"/>
              <a:ext cx="102870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dirty="0"/>
                <a:t>전면버퍼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62192" y="5706745"/>
              <a:ext cx="102870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dirty="0"/>
                <a:t>후면버퍼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022955" y="6100476"/>
              <a:ext cx="82867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/>
                <a:t>Swap Change</a:t>
              </a:r>
              <a:endParaRPr lang="ko-KR" altLang="en-US" sz="1000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148479" y="6100476"/>
              <a:ext cx="82867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/>
                <a:t>Swap Change</a:t>
              </a:r>
              <a:endParaRPr lang="ko-KR" altLang="en-US" sz="10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984377" y="4596869"/>
              <a:ext cx="718854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00" dirty="0"/>
                <a:t>n</a:t>
              </a:r>
              <a:endParaRPr lang="ko-KR" altLang="en-US" sz="1000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154336" y="4596869"/>
              <a:ext cx="718854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00" dirty="0"/>
                <a:t>n+1</a:t>
              </a:r>
              <a:endParaRPr lang="ko-KR" altLang="en-US" sz="1000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222894" y="4629830"/>
              <a:ext cx="718854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00" dirty="0"/>
                <a:t>n+2</a:t>
              </a:r>
              <a:endParaRPr lang="ko-KR" altLang="en-US" sz="1000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353300" y="5017496"/>
              <a:ext cx="1733550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4400" dirty="0"/>
                <a:t>……….</a:t>
              </a:r>
              <a:endParaRPr lang="ko-KR" altLang="en-US" sz="4400" dirty="0"/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717115" y="4278690"/>
            <a:ext cx="7188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/>
              <a:t>프레임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9172574" y="4517337"/>
            <a:ext cx="2409825" cy="14998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RnderTarget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5647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9158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/>
              <a:t>셰이더와 셰이딩</a:t>
            </a:r>
            <a:endParaRPr lang="ko-KR" altLang="en-US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361941" y="1572076"/>
            <a:ext cx="11620500" cy="10101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/>
              <a:t>셰이더</a:t>
            </a:r>
            <a:r>
              <a:rPr lang="en-US" altLang="ko-KR" b="1"/>
              <a:t>:</a:t>
            </a:r>
            <a:r>
              <a:rPr lang="en-US" altLang="ko-KR"/>
              <a:t> GPU</a:t>
            </a:r>
            <a:r>
              <a:rPr lang="ko-KR" altLang="en-US"/>
              <a:t>에서 렌더링효과를 계산하는데 사용되는 명령도구집합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          </a:t>
            </a:r>
            <a:r>
              <a:rPr lang="ko-KR" altLang="en-US"/>
              <a:t>이를 사용하여 만들기위해 셰이딩언어를 사용한다</a:t>
            </a:r>
            <a:r>
              <a:rPr lang="en-US" altLang="ko-KR"/>
              <a:t>.</a:t>
            </a:r>
          </a:p>
        </p:txBody>
      </p:sp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404" y="4759804"/>
            <a:ext cx="1590675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593" y="4759804"/>
            <a:ext cx="1485900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2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649" y="4747558"/>
            <a:ext cx="1543050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내용 개체 틀 2"/>
          <p:cNvSpPr txBox="1">
            <a:spLocks/>
          </p:cNvSpPr>
          <p:nvPr/>
        </p:nvSpPr>
        <p:spPr>
          <a:xfrm>
            <a:off x="582375" y="4294433"/>
            <a:ext cx="4405993" cy="2432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/>
              <a:t>셰이딩 기법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플랫</a:t>
            </a:r>
            <a:r>
              <a:rPr lang="en-US" altLang="ko-KR"/>
              <a:t>(Flat) 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고러드</a:t>
            </a:r>
            <a:r>
              <a:rPr lang="en-US" altLang="ko-KR"/>
              <a:t>(Gouraud)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>
                <a:solidFill>
                  <a:srgbClr val="FF0000"/>
                </a:solidFill>
              </a:rPr>
              <a:t>퐁</a:t>
            </a:r>
            <a:r>
              <a:rPr lang="en-US" altLang="ko-KR">
                <a:solidFill>
                  <a:srgbClr val="FF0000"/>
                </a:solidFill>
              </a:rPr>
              <a:t>(Pong)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br>
              <a:rPr lang="en-US" altLang="ko-KR">
                <a:solidFill>
                  <a:srgbClr val="FF0000"/>
                </a:solidFill>
              </a:rPr>
            </a:br>
            <a:r>
              <a:rPr lang="en-US" altLang="ko-KR"/>
              <a:t>- </a:t>
            </a:r>
            <a:r>
              <a:rPr lang="ko-KR" altLang="en-US"/>
              <a:t>광원추적</a:t>
            </a:r>
            <a:r>
              <a:rPr lang="en-US" altLang="ko-KR"/>
              <a:t>(Raytracing)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난반사방식</a:t>
            </a:r>
            <a:r>
              <a:rPr lang="en-US" altLang="ko-KR"/>
              <a:t>(Radiosity)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2922" y="6253863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Flat Shading</a:t>
            </a: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7136256" y="6291960"/>
            <a:ext cx="2138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Gouraud Shading</a:t>
            </a:r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308649" y="6291960"/>
            <a:ext cx="17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Pong Shading</a:t>
            </a:r>
            <a:endParaRPr lang="ko-KR" altLang="en-US"/>
          </a:p>
        </p:txBody>
      </p:sp>
      <p:sp>
        <p:nvSpPr>
          <p:cNvPr id="26" name="내용 개체 틀 2"/>
          <p:cNvSpPr txBox="1">
            <a:spLocks/>
          </p:cNvSpPr>
          <p:nvPr/>
        </p:nvSpPr>
        <p:spPr>
          <a:xfrm>
            <a:off x="315672" y="3283568"/>
            <a:ext cx="11876328" cy="1108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/>
              <a:t>셰이딩</a:t>
            </a:r>
            <a:r>
              <a:rPr lang="en-US" altLang="ko-KR" b="1"/>
              <a:t>:</a:t>
            </a:r>
            <a:r>
              <a:rPr lang="en-US" altLang="ko-KR"/>
              <a:t> 3</a:t>
            </a:r>
            <a:r>
              <a:rPr lang="ko-KR" altLang="en-US"/>
              <a:t>차원공간에서 물체의 비치는 광원의 밝기나 각도에 따라 더욱</a:t>
            </a:r>
            <a:br>
              <a:rPr lang="en-US" altLang="ko-KR"/>
            </a:br>
            <a:r>
              <a:rPr lang="en-US" altLang="ko-KR"/>
              <a:t>          </a:t>
            </a:r>
            <a:r>
              <a:rPr lang="ko-KR" altLang="en-US"/>
              <a:t>명암을 처리하여 사실적으로 물체재질를 표현하기 위해</a:t>
            </a:r>
            <a:r>
              <a:rPr lang="en-US" altLang="ko-KR"/>
              <a:t> </a:t>
            </a:r>
            <a:r>
              <a:rPr lang="ko-KR" altLang="en-US"/>
              <a:t>사용</a:t>
            </a:r>
            <a:r>
              <a:rPr lang="en-US" altLang="ko-KR"/>
              <a:t>.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5742220" y="2363522"/>
            <a:ext cx="5763298" cy="800219"/>
            <a:chOff x="5742220" y="2363522"/>
            <a:chExt cx="5763298" cy="800219"/>
          </a:xfrm>
        </p:grpSpPr>
        <p:sp>
          <p:nvSpPr>
            <p:cNvPr id="13" name="양쪽 대괄호 12"/>
            <p:cNvSpPr/>
            <p:nvPr/>
          </p:nvSpPr>
          <p:spPr>
            <a:xfrm>
              <a:off x="5747661" y="2649328"/>
              <a:ext cx="5551710" cy="503608"/>
            </a:xfrm>
            <a:prstGeom prst="bracketPair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5742220" y="2363522"/>
              <a:ext cx="5763298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b="1">
                  <a:solidFill>
                    <a:srgbClr val="FF0000"/>
                  </a:solidFill>
                </a:rPr>
                <a:t>※ </a:t>
              </a:r>
              <a:r>
                <a:rPr lang="ko-KR" altLang="en-US" b="1">
                  <a:solidFill>
                    <a:srgbClr val="FF0000"/>
                  </a:solidFill>
                </a:rPr>
                <a:t>셰이더언어</a:t>
              </a:r>
              <a:r>
                <a:rPr lang="en-US" altLang="ko-KR" b="1">
                  <a:solidFill>
                    <a:srgbClr val="FF0000"/>
                  </a:solidFill>
                </a:rPr>
                <a:t>(ShaderLanguage)</a:t>
              </a:r>
              <a:br>
                <a:rPr lang="en-US" altLang="ko-KR" b="1">
                  <a:solidFill>
                    <a:srgbClr val="FF0000"/>
                  </a:solidFill>
                </a:rPr>
              </a:br>
              <a:r>
                <a:rPr lang="en-US" altLang="ko-KR" sz="2800"/>
                <a:t>HLSL(Driect3D),GLSL(OpenGL)</a:t>
              </a:r>
              <a:r>
                <a:rPr lang="ko-KR" altLang="en-US" sz="2800"/>
                <a:t>등</a:t>
              </a:r>
              <a:r>
                <a:rPr lang="en-US" altLang="ko-KR" sz="2800"/>
                <a:t>..</a:t>
              </a:r>
              <a:endParaRPr lang="ko-KR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26931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22" grpId="0" build="p"/>
      <p:bldP spid="8" grpId="0"/>
      <p:bldP spid="24" grpId="0"/>
      <p:bldP spid="25" grpId="0"/>
      <p:bldP spid="2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9158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/>
              <a:t>재질과 조명</a:t>
            </a:r>
            <a:endParaRPr lang="ko-KR" altLang="en-US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990600" y="1495425"/>
            <a:ext cx="10515600" cy="1080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/>
          </a:p>
        </p:txBody>
      </p:sp>
      <p:grpSp>
        <p:nvGrpSpPr>
          <p:cNvPr id="84" name="그룹 83"/>
          <p:cNvGrpSpPr/>
          <p:nvPr/>
        </p:nvGrpSpPr>
        <p:grpSpPr>
          <a:xfrm>
            <a:off x="6378904" y="4765719"/>
            <a:ext cx="1010920" cy="1317515"/>
            <a:chOff x="1539240" y="5171440"/>
            <a:chExt cx="1010920" cy="1317515"/>
          </a:xfrm>
        </p:grpSpPr>
        <p:grpSp>
          <p:nvGrpSpPr>
            <p:cNvPr id="60" name="그룹 59"/>
            <p:cNvGrpSpPr/>
            <p:nvPr/>
          </p:nvGrpSpPr>
          <p:grpSpPr>
            <a:xfrm>
              <a:off x="1539240" y="5171440"/>
              <a:ext cx="1010920" cy="1031240"/>
              <a:chOff x="1539240" y="5171440"/>
              <a:chExt cx="1010920" cy="10312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46884" y="5325111"/>
                <a:ext cx="740716" cy="739718"/>
              </a:xfrm>
              <a:prstGeom prst="line">
                <a:avLst/>
              </a:prstGeom>
              <a:ln w="50800">
                <a:solidFill>
                  <a:schemeClr val="accent4">
                    <a:lumMod val="60000"/>
                    <a:lumOff val="4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/>
              <p:cNvCxnSpPr/>
              <p:nvPr/>
            </p:nvCxnSpPr>
            <p:spPr>
              <a:xfrm>
                <a:off x="1539240" y="5702300"/>
                <a:ext cx="1010920" cy="0"/>
              </a:xfrm>
              <a:prstGeom prst="line">
                <a:avLst/>
              </a:prstGeom>
              <a:ln w="50800">
                <a:solidFill>
                  <a:schemeClr val="accent4">
                    <a:lumMod val="60000"/>
                    <a:lumOff val="4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/>
              <p:cNvCxnSpPr/>
              <p:nvPr/>
            </p:nvCxnSpPr>
            <p:spPr>
              <a:xfrm flipV="1">
                <a:off x="1646884" y="5325111"/>
                <a:ext cx="780594" cy="745717"/>
              </a:xfrm>
              <a:prstGeom prst="line">
                <a:avLst/>
              </a:prstGeom>
              <a:ln w="50800">
                <a:solidFill>
                  <a:schemeClr val="accent4">
                    <a:lumMod val="60000"/>
                    <a:lumOff val="4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/>
              <p:cNvCxnSpPr/>
              <p:nvPr/>
            </p:nvCxnSpPr>
            <p:spPr>
              <a:xfrm flipV="1">
                <a:off x="2032000" y="5171440"/>
                <a:ext cx="0" cy="1031240"/>
              </a:xfrm>
              <a:prstGeom prst="line">
                <a:avLst/>
              </a:prstGeom>
              <a:ln w="50800">
                <a:solidFill>
                  <a:schemeClr val="accent4">
                    <a:lumMod val="60000"/>
                    <a:lumOff val="4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타원 63"/>
              <p:cNvSpPr/>
              <p:nvPr/>
            </p:nvSpPr>
            <p:spPr>
              <a:xfrm>
                <a:off x="1669744" y="5332731"/>
                <a:ext cx="740716" cy="7407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" name="타원 1"/>
              <p:cNvSpPr/>
              <p:nvPr/>
            </p:nvSpPr>
            <p:spPr>
              <a:xfrm>
                <a:off x="1701800" y="5359400"/>
                <a:ext cx="685800" cy="6858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/>
            <p:cNvSpPr txBox="1"/>
            <p:nvPr/>
          </p:nvSpPr>
          <p:spPr>
            <a:xfrm>
              <a:off x="1539240" y="6335067"/>
              <a:ext cx="87122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1000"/>
                <a:t>점광원</a:t>
              </a: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7894014" y="4829526"/>
            <a:ext cx="1379220" cy="1271795"/>
            <a:chOff x="3054350" y="5235247"/>
            <a:chExt cx="1379220" cy="1271795"/>
          </a:xfrm>
        </p:grpSpPr>
        <p:sp>
          <p:nvSpPr>
            <p:cNvPr id="61" name="직사각형 60"/>
            <p:cNvSpPr/>
            <p:nvPr/>
          </p:nvSpPr>
          <p:spPr>
            <a:xfrm>
              <a:off x="3763010" y="5424477"/>
              <a:ext cx="648970" cy="64897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5" name="직선 화살표 연결선 64"/>
            <p:cNvCxnSpPr/>
            <p:nvPr/>
          </p:nvCxnSpPr>
          <p:spPr>
            <a:xfrm>
              <a:off x="3061970" y="5235247"/>
              <a:ext cx="1371600" cy="0"/>
            </a:xfrm>
            <a:prstGeom prst="straightConnector1">
              <a:avLst/>
            </a:prstGeom>
            <a:ln w="50800">
              <a:solidFill>
                <a:schemeClr val="accent4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/>
            <p:cNvCxnSpPr/>
            <p:nvPr/>
          </p:nvCxnSpPr>
          <p:spPr>
            <a:xfrm>
              <a:off x="3061970" y="5424477"/>
              <a:ext cx="548640" cy="0"/>
            </a:xfrm>
            <a:prstGeom prst="straightConnector1">
              <a:avLst/>
            </a:prstGeom>
            <a:ln w="50800">
              <a:solidFill>
                <a:schemeClr val="accent4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/>
            <p:cNvCxnSpPr/>
            <p:nvPr/>
          </p:nvCxnSpPr>
          <p:spPr>
            <a:xfrm>
              <a:off x="3061970" y="5714037"/>
              <a:ext cx="548640" cy="0"/>
            </a:xfrm>
            <a:prstGeom prst="straightConnector1">
              <a:avLst/>
            </a:prstGeom>
            <a:ln w="50800">
              <a:solidFill>
                <a:schemeClr val="accent4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/>
            <p:cNvCxnSpPr/>
            <p:nvPr/>
          </p:nvCxnSpPr>
          <p:spPr>
            <a:xfrm>
              <a:off x="3054350" y="5995977"/>
              <a:ext cx="548640" cy="0"/>
            </a:xfrm>
            <a:prstGeom prst="straightConnector1">
              <a:avLst/>
            </a:prstGeom>
            <a:ln w="50800">
              <a:solidFill>
                <a:schemeClr val="accent4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화살표 연결선 79"/>
            <p:cNvCxnSpPr/>
            <p:nvPr/>
          </p:nvCxnSpPr>
          <p:spPr>
            <a:xfrm>
              <a:off x="3061970" y="6202296"/>
              <a:ext cx="1371600" cy="0"/>
            </a:xfrm>
            <a:prstGeom prst="straightConnector1">
              <a:avLst/>
            </a:prstGeom>
            <a:ln w="50800">
              <a:solidFill>
                <a:schemeClr val="accent4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3054350" y="6353154"/>
              <a:ext cx="87122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1000"/>
                <a:t>방향성광원</a:t>
              </a:r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9929824" y="4669199"/>
            <a:ext cx="1150620" cy="1437639"/>
            <a:chOff x="5090160" y="5074920"/>
            <a:chExt cx="1150620" cy="1437639"/>
          </a:xfrm>
        </p:grpSpPr>
        <p:sp>
          <p:nvSpPr>
            <p:cNvPr id="83" name="타원 82"/>
            <p:cNvSpPr/>
            <p:nvPr/>
          </p:nvSpPr>
          <p:spPr>
            <a:xfrm>
              <a:off x="5570220" y="5151427"/>
              <a:ext cx="167640" cy="16764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사다리꼴 75"/>
            <p:cNvSpPr/>
            <p:nvPr/>
          </p:nvSpPr>
          <p:spPr>
            <a:xfrm>
              <a:off x="5501640" y="5074920"/>
              <a:ext cx="320040" cy="167947"/>
            </a:xfrm>
            <a:prstGeom prst="trapezoid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사다리꼴 76"/>
            <p:cNvSpPr/>
            <p:nvPr/>
          </p:nvSpPr>
          <p:spPr>
            <a:xfrm>
              <a:off x="5090160" y="5235247"/>
              <a:ext cx="1150620" cy="1099820"/>
            </a:xfrm>
            <a:prstGeom prst="trapezoid">
              <a:avLst>
                <a:gd name="adj" fmla="val 39550"/>
              </a:avLst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097780" y="6358671"/>
              <a:ext cx="87122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1000"/>
                <a:t>스포트광원</a:t>
              </a:r>
            </a:p>
          </p:txBody>
        </p:sp>
      </p:grpSp>
      <p:sp>
        <p:nvSpPr>
          <p:cNvPr id="92" name="내용 개체 틀 2"/>
          <p:cNvSpPr txBox="1">
            <a:spLocks/>
          </p:cNvSpPr>
          <p:nvPr/>
        </p:nvSpPr>
        <p:spPr>
          <a:xfrm>
            <a:off x="990600" y="4707048"/>
            <a:ext cx="5237480" cy="1773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광원</a:t>
            </a:r>
            <a:r>
              <a:rPr lang="en-US" altLang="ko-KR"/>
              <a:t>(Light)</a:t>
            </a:r>
            <a:r>
              <a:rPr lang="ko-KR" altLang="en-US"/>
              <a:t>의 종류</a:t>
            </a:r>
            <a:r>
              <a:rPr lang="en-US" altLang="ko-KR"/>
              <a:t>. </a:t>
            </a:r>
            <a:br>
              <a:rPr lang="en-US" altLang="ko-KR"/>
            </a:br>
            <a:r>
              <a:rPr lang="en-US" altLang="ko-KR"/>
              <a:t>-</a:t>
            </a:r>
            <a:r>
              <a:rPr lang="ko-KR" altLang="en-US"/>
              <a:t>점</a:t>
            </a:r>
            <a:r>
              <a:rPr lang="en-US" altLang="ko-KR"/>
              <a:t>(Point)</a:t>
            </a:r>
            <a:r>
              <a:rPr lang="ko-KR" altLang="en-US"/>
              <a:t>광원</a:t>
            </a:r>
            <a:br>
              <a:rPr lang="en-US" altLang="ko-KR"/>
            </a:br>
            <a:r>
              <a:rPr lang="en-US" altLang="ko-KR"/>
              <a:t>-</a:t>
            </a:r>
            <a:r>
              <a:rPr lang="ko-KR" altLang="en-US"/>
              <a:t>방향성</a:t>
            </a:r>
            <a:r>
              <a:rPr lang="en-US" altLang="ko-KR"/>
              <a:t>(Directional)</a:t>
            </a:r>
            <a:r>
              <a:rPr lang="ko-KR" altLang="en-US"/>
              <a:t>광원</a:t>
            </a:r>
            <a:br>
              <a:rPr lang="en-US" altLang="ko-KR"/>
            </a:br>
            <a:r>
              <a:rPr lang="en-US" altLang="ko-KR"/>
              <a:t>-</a:t>
            </a:r>
            <a:r>
              <a:rPr lang="ko-KR" altLang="en-US"/>
              <a:t>스포트</a:t>
            </a:r>
            <a:r>
              <a:rPr lang="en-US" altLang="ko-KR"/>
              <a:t>(Sport)</a:t>
            </a:r>
            <a:r>
              <a:rPr lang="ko-KR" altLang="en-US"/>
              <a:t>광원</a:t>
            </a:r>
            <a:endParaRPr lang="en-US" altLang="ko-KR"/>
          </a:p>
        </p:txBody>
      </p:sp>
      <p:grpSp>
        <p:nvGrpSpPr>
          <p:cNvPr id="10" name="그룹 9"/>
          <p:cNvGrpSpPr/>
          <p:nvPr/>
        </p:nvGrpSpPr>
        <p:grpSpPr>
          <a:xfrm>
            <a:off x="8765234" y="2901752"/>
            <a:ext cx="2880726" cy="1681395"/>
            <a:chOff x="1302654" y="2575274"/>
            <a:chExt cx="2880726" cy="1681395"/>
          </a:xfrm>
        </p:grpSpPr>
        <p:grpSp>
          <p:nvGrpSpPr>
            <p:cNvPr id="114" name="그룹 113"/>
            <p:cNvGrpSpPr/>
            <p:nvPr/>
          </p:nvGrpSpPr>
          <p:grpSpPr>
            <a:xfrm rot="1243477">
              <a:off x="1317894" y="2595509"/>
              <a:ext cx="1722120" cy="1653540"/>
              <a:chOff x="2987040" y="2644140"/>
              <a:chExt cx="1722120" cy="1653540"/>
            </a:xfrm>
          </p:grpSpPr>
          <p:cxnSp>
            <p:nvCxnSpPr>
              <p:cNvPr id="115" name="직선 화살표 연결선 114"/>
              <p:cNvCxnSpPr/>
              <p:nvPr/>
            </p:nvCxnSpPr>
            <p:spPr>
              <a:xfrm flipV="1">
                <a:off x="3505200" y="2644140"/>
                <a:ext cx="685800" cy="1653540"/>
              </a:xfrm>
              <a:prstGeom prst="straightConnector1">
                <a:avLst/>
              </a:prstGeom>
              <a:ln w="38100">
                <a:solidFill>
                  <a:schemeClr val="bg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화살표 연결선 115"/>
              <p:cNvCxnSpPr/>
              <p:nvPr/>
            </p:nvCxnSpPr>
            <p:spPr>
              <a:xfrm flipH="1" flipV="1">
                <a:off x="3505200" y="2644140"/>
                <a:ext cx="685800" cy="1653540"/>
              </a:xfrm>
              <a:prstGeom prst="straightConnector1">
                <a:avLst/>
              </a:prstGeom>
              <a:ln w="38100">
                <a:solidFill>
                  <a:schemeClr val="bg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화살표 연결선 116"/>
              <p:cNvCxnSpPr/>
              <p:nvPr/>
            </p:nvCxnSpPr>
            <p:spPr>
              <a:xfrm flipV="1">
                <a:off x="2987040" y="3131820"/>
                <a:ext cx="1722120" cy="670560"/>
              </a:xfrm>
              <a:prstGeom prst="straightConnector1">
                <a:avLst/>
              </a:prstGeom>
              <a:ln w="38100">
                <a:solidFill>
                  <a:schemeClr val="bg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화살표 연결선 117"/>
              <p:cNvCxnSpPr/>
              <p:nvPr/>
            </p:nvCxnSpPr>
            <p:spPr>
              <a:xfrm>
                <a:off x="2987040" y="3093720"/>
                <a:ext cx="1722120" cy="739140"/>
              </a:xfrm>
              <a:prstGeom prst="straightConnector1">
                <a:avLst/>
              </a:prstGeom>
              <a:ln w="38100">
                <a:solidFill>
                  <a:schemeClr val="bg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그룹 4"/>
            <p:cNvGrpSpPr/>
            <p:nvPr/>
          </p:nvGrpSpPr>
          <p:grpSpPr>
            <a:xfrm>
              <a:off x="1302654" y="2575274"/>
              <a:ext cx="2880726" cy="1681395"/>
              <a:chOff x="2987040" y="2616285"/>
              <a:chExt cx="2880726" cy="1681395"/>
            </a:xfrm>
          </p:grpSpPr>
          <p:grpSp>
            <p:nvGrpSpPr>
              <p:cNvPr id="111" name="그룹 110"/>
              <p:cNvGrpSpPr/>
              <p:nvPr/>
            </p:nvGrpSpPr>
            <p:grpSpPr>
              <a:xfrm>
                <a:off x="2987040" y="2644140"/>
                <a:ext cx="1722120" cy="1653540"/>
                <a:chOff x="2987040" y="2644140"/>
                <a:chExt cx="1722120" cy="1653540"/>
              </a:xfrm>
            </p:grpSpPr>
            <p:grpSp>
              <p:nvGrpSpPr>
                <p:cNvPr id="110" name="그룹 109"/>
                <p:cNvGrpSpPr/>
                <p:nvPr/>
              </p:nvGrpSpPr>
              <p:grpSpPr>
                <a:xfrm>
                  <a:off x="2987040" y="2644140"/>
                  <a:ext cx="1722120" cy="1653540"/>
                  <a:chOff x="2987040" y="2644140"/>
                  <a:chExt cx="1722120" cy="1653540"/>
                </a:xfrm>
              </p:grpSpPr>
              <p:cxnSp>
                <p:nvCxnSpPr>
                  <p:cNvPr id="91" name="직선 화살표 연결선 90"/>
                  <p:cNvCxnSpPr/>
                  <p:nvPr/>
                </p:nvCxnSpPr>
                <p:spPr>
                  <a:xfrm flipV="1">
                    <a:off x="3505200" y="2644140"/>
                    <a:ext cx="685800" cy="1653540"/>
                  </a:xfrm>
                  <a:prstGeom prst="straightConnector1">
                    <a:avLst/>
                  </a:prstGeom>
                  <a:ln w="50800">
                    <a:solidFill>
                      <a:schemeClr val="accent4">
                        <a:lumMod val="60000"/>
                        <a:lumOff val="40000"/>
                      </a:schemeClr>
                    </a:solidFill>
                    <a:headEnd type="arrow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직선 화살표 연결선 96"/>
                  <p:cNvCxnSpPr/>
                  <p:nvPr/>
                </p:nvCxnSpPr>
                <p:spPr>
                  <a:xfrm flipH="1" flipV="1">
                    <a:off x="3505200" y="2644140"/>
                    <a:ext cx="685800" cy="1653540"/>
                  </a:xfrm>
                  <a:prstGeom prst="straightConnector1">
                    <a:avLst/>
                  </a:prstGeom>
                  <a:ln w="50800">
                    <a:solidFill>
                      <a:schemeClr val="accent4">
                        <a:lumMod val="60000"/>
                        <a:lumOff val="40000"/>
                      </a:schemeClr>
                    </a:solidFill>
                    <a:headEnd type="arrow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직선 화살표 연결선 100"/>
                  <p:cNvCxnSpPr/>
                  <p:nvPr/>
                </p:nvCxnSpPr>
                <p:spPr>
                  <a:xfrm flipV="1">
                    <a:off x="2987040" y="3131820"/>
                    <a:ext cx="1722120" cy="670560"/>
                  </a:xfrm>
                  <a:prstGeom prst="straightConnector1">
                    <a:avLst/>
                  </a:prstGeom>
                  <a:ln w="50800">
                    <a:solidFill>
                      <a:schemeClr val="accent4">
                        <a:lumMod val="60000"/>
                        <a:lumOff val="40000"/>
                      </a:schemeClr>
                    </a:solidFill>
                    <a:headEnd type="arrow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직선 화살표 연결선 107"/>
                  <p:cNvCxnSpPr/>
                  <p:nvPr/>
                </p:nvCxnSpPr>
                <p:spPr>
                  <a:xfrm>
                    <a:off x="2987040" y="3093720"/>
                    <a:ext cx="1722120" cy="739140"/>
                  </a:xfrm>
                  <a:prstGeom prst="straightConnector1">
                    <a:avLst/>
                  </a:prstGeom>
                  <a:ln w="50800">
                    <a:solidFill>
                      <a:schemeClr val="accent4">
                        <a:lumMod val="60000"/>
                        <a:lumOff val="40000"/>
                      </a:schemeClr>
                    </a:solidFill>
                    <a:headEnd type="arrow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9" name="팔각형 88"/>
                <p:cNvSpPr/>
                <p:nvPr/>
              </p:nvSpPr>
              <p:spPr>
                <a:xfrm>
                  <a:off x="3360420" y="2971800"/>
                  <a:ext cx="997200" cy="997200"/>
                </a:xfrm>
                <a:prstGeom prst="octagon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0" name="팔각형 119"/>
                <p:cNvSpPr/>
                <p:nvPr/>
              </p:nvSpPr>
              <p:spPr>
                <a:xfrm>
                  <a:off x="3382260" y="2993640"/>
                  <a:ext cx="960120" cy="960120"/>
                </a:xfrm>
                <a:prstGeom prst="octagon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" name="TextBox 2"/>
              <p:cNvSpPr txBox="1"/>
              <p:nvPr/>
            </p:nvSpPr>
            <p:spPr>
              <a:xfrm>
                <a:off x="4838700" y="2616285"/>
                <a:ext cx="1029066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1400" b="1">
                    <a:solidFill>
                      <a:srgbClr val="FFC000"/>
                    </a:solidFill>
                  </a:rPr>
                  <a:t>버텍스 법선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4838700" y="2894272"/>
                <a:ext cx="85344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1400" b="1">
                    <a:solidFill>
                      <a:schemeClr val="bg1">
                        <a:lumMod val="85000"/>
                      </a:schemeClr>
                    </a:solidFill>
                  </a:rPr>
                  <a:t>면 법선</a:t>
                </a:r>
              </a:p>
            </p:txBody>
          </p:sp>
        </p:grpSp>
      </p:grpSp>
      <p:sp>
        <p:nvSpPr>
          <p:cNvPr id="46" name="내용 개체 틀 2"/>
          <p:cNvSpPr txBox="1">
            <a:spLocks/>
          </p:cNvSpPr>
          <p:nvPr/>
        </p:nvSpPr>
        <p:spPr>
          <a:xfrm>
            <a:off x="961330" y="1641044"/>
            <a:ext cx="10030337" cy="1776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재질</a:t>
            </a:r>
            <a:r>
              <a:rPr lang="en-US" altLang="ko-KR"/>
              <a:t>(Material)</a:t>
            </a:r>
            <a:r>
              <a:rPr lang="ko-KR" altLang="en-US"/>
              <a:t>은 컴퓨터그래픽스에서 모델의 표면이 표현되는것을 말한다</a:t>
            </a:r>
            <a:r>
              <a:rPr lang="en-US" altLang="ko-KR"/>
              <a:t>. </a:t>
            </a:r>
            <a:r>
              <a:rPr lang="ko-KR" altLang="en-US"/>
              <a:t>이것을 표현하는데 빛에 영향을 받는다</a:t>
            </a:r>
            <a:r>
              <a:rPr lang="en-US" altLang="ko-KR"/>
              <a:t>.</a:t>
            </a:r>
          </a:p>
          <a:p>
            <a:r>
              <a:rPr lang="ko-KR" altLang="en-US"/>
              <a:t>조명</a:t>
            </a:r>
            <a:r>
              <a:rPr lang="en-US" altLang="ko-KR"/>
              <a:t>(Light)</a:t>
            </a:r>
            <a:r>
              <a:rPr lang="ko-KR" altLang="en-US"/>
              <a:t>은 컴퓨터 그래픽스에서 빛을 표현한다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이 빛에는 </a:t>
            </a:r>
            <a:r>
              <a:rPr lang="en-US" altLang="ko-KR"/>
              <a:t>3</a:t>
            </a:r>
            <a:r>
              <a:rPr lang="ko-KR" altLang="en-US"/>
              <a:t>가지 종류가 있다</a:t>
            </a:r>
            <a:r>
              <a:rPr lang="en-US" altLang="ko-KR"/>
              <a:t>.</a:t>
            </a:r>
          </a:p>
        </p:txBody>
      </p:sp>
      <p:sp>
        <p:nvSpPr>
          <p:cNvPr id="47" name="내용 개체 틀 2"/>
          <p:cNvSpPr txBox="1">
            <a:spLocks/>
          </p:cNvSpPr>
          <p:nvPr/>
        </p:nvSpPr>
        <p:spPr>
          <a:xfrm>
            <a:off x="990600" y="3417287"/>
            <a:ext cx="5237480" cy="1773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재질을 결정하는 빛의 종류</a:t>
            </a:r>
            <a:r>
              <a:rPr lang="en-US" altLang="ko-KR" dirty="0"/>
              <a:t>. 										</a:t>
            </a:r>
          </a:p>
        </p:txBody>
      </p:sp>
    </p:spTree>
    <p:extLst>
      <p:ext uri="{BB962C8B-B14F-4D97-AF65-F5344CB8AC3E}">
        <p14:creationId xmlns:p14="http://schemas.microsoft.com/office/powerpoint/2010/main" val="205752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2" grpId="0" build="p"/>
      <p:bldP spid="46" grpId="0" uiExpand="1" build="p"/>
      <p:bldP spid="4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9158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 dirty="0" err="1"/>
              <a:t>텍스쳐</a:t>
            </a:r>
            <a:endParaRPr lang="ko-KR" altLang="en-US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990600" y="1978025"/>
            <a:ext cx="10515600" cy="2031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질감으로 </a:t>
            </a:r>
            <a:r>
              <a:rPr lang="ko-KR" altLang="en-US" dirty="0" err="1"/>
              <a:t>변역되며</a:t>
            </a:r>
            <a:r>
              <a:rPr lang="en-US" altLang="ko-KR" dirty="0"/>
              <a:t>, 3D</a:t>
            </a:r>
            <a:r>
              <a:rPr lang="ko-KR" altLang="en-US" dirty="0"/>
              <a:t>에서는 </a:t>
            </a:r>
            <a:r>
              <a:rPr lang="ko-KR" altLang="en-US" dirty="0" err="1"/>
              <a:t>메쉬</a:t>
            </a:r>
            <a:r>
              <a:rPr lang="ko-KR" altLang="en-US" dirty="0"/>
              <a:t> 위에 덧입혀지는 스킨 같은 것을 말한다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텍스쳐는</a:t>
            </a:r>
            <a:r>
              <a:rPr lang="ko-KR" altLang="en-US" dirty="0"/>
              <a:t> </a:t>
            </a:r>
            <a:r>
              <a:rPr lang="en-US" altLang="ko-KR" dirty="0"/>
              <a:t>UV</a:t>
            </a:r>
            <a:r>
              <a:rPr lang="ko-KR" altLang="en-US" dirty="0"/>
              <a:t>좌표를 이용하여 각각의 </a:t>
            </a:r>
            <a:r>
              <a:rPr lang="ko-KR" altLang="en-US" dirty="0" err="1"/>
              <a:t>메쉬에</a:t>
            </a:r>
            <a:r>
              <a:rPr lang="ko-KR" altLang="en-US" dirty="0"/>
              <a:t> 덧씌워진다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이와 </a:t>
            </a:r>
            <a:r>
              <a:rPr lang="ko-KR" altLang="en-US" dirty="0" err="1"/>
              <a:t>같은과정을</a:t>
            </a:r>
            <a:r>
              <a:rPr lang="ko-KR" altLang="en-US" dirty="0"/>
              <a:t> </a:t>
            </a:r>
            <a:r>
              <a:rPr lang="ko-KR" altLang="en-US" dirty="0" err="1"/>
              <a:t>텍스쳐링</a:t>
            </a:r>
            <a:r>
              <a:rPr lang="ko-KR" altLang="en-US" dirty="0"/>
              <a:t> </a:t>
            </a:r>
            <a:r>
              <a:rPr lang="ko-KR" altLang="en-US" err="1"/>
              <a:t>이라고한다</a:t>
            </a:r>
            <a:r>
              <a:rPr lang="en-US" altLang="ko-KR"/>
              <a:t>.</a:t>
            </a:r>
            <a:endParaRPr lang="en-US" altLang="ko-KR" dirty="0"/>
          </a:p>
        </p:txBody>
      </p:sp>
      <p:grpSp>
        <p:nvGrpSpPr>
          <p:cNvPr id="55" name="그룹 54"/>
          <p:cNvGrpSpPr/>
          <p:nvPr/>
        </p:nvGrpSpPr>
        <p:grpSpPr>
          <a:xfrm>
            <a:off x="1374396" y="3956233"/>
            <a:ext cx="2456577" cy="2550564"/>
            <a:chOff x="1374396" y="3956233"/>
            <a:chExt cx="2456577" cy="2550564"/>
          </a:xfrm>
        </p:grpSpPr>
        <p:pic>
          <p:nvPicPr>
            <p:cNvPr id="3108" name="Picture 3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7331" y="4118360"/>
              <a:ext cx="1761688" cy="1761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7" name="직선 화살표 연결선 16"/>
            <p:cNvCxnSpPr/>
            <p:nvPr/>
          </p:nvCxnSpPr>
          <p:spPr>
            <a:xfrm>
              <a:off x="1549167" y="4110121"/>
              <a:ext cx="213919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/>
            <p:cNvCxnSpPr/>
            <p:nvPr/>
          </p:nvCxnSpPr>
          <p:spPr>
            <a:xfrm>
              <a:off x="1549167" y="4110121"/>
              <a:ext cx="0" cy="221762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310855" y="5871809"/>
              <a:ext cx="52011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/>
                <a:t>(1,1)</a:t>
              </a:r>
              <a:endParaRPr lang="ko-KR" altLang="en-US" sz="10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374396" y="3956233"/>
              <a:ext cx="52011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/>
                <a:t>(0,0)</a:t>
              </a:r>
              <a:endParaRPr lang="ko-KR" altLang="en-US" sz="10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439099" y="4837077"/>
              <a:ext cx="52011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/>
                <a:t>(0.5,0.5)</a:t>
              </a:r>
              <a:endParaRPr lang="ko-KR" altLang="en-US" sz="1000"/>
            </a:p>
          </p:txBody>
        </p:sp>
        <p:cxnSp>
          <p:nvCxnSpPr>
            <p:cNvPr id="25" name="직선 연결선 24"/>
            <p:cNvCxnSpPr/>
            <p:nvPr/>
          </p:nvCxnSpPr>
          <p:spPr>
            <a:xfrm flipV="1">
              <a:off x="2430011" y="3956233"/>
              <a:ext cx="0" cy="206946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/>
          </p:nvCxnSpPr>
          <p:spPr>
            <a:xfrm>
              <a:off x="1374396" y="4990965"/>
              <a:ext cx="212940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1532389" y="6352909"/>
              <a:ext cx="2021747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/>
                <a:t>UV</a:t>
              </a:r>
              <a:r>
                <a:rPr lang="ko-KR" altLang="en-US" sz="1000"/>
                <a:t>좌표계</a:t>
              </a:r>
            </a:p>
          </p:txBody>
        </p:sp>
      </p:grpSp>
      <p:pic>
        <p:nvPicPr>
          <p:cNvPr id="3109" name="Picture 3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38" y="4257114"/>
            <a:ext cx="2009227" cy="2017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10" name="Picture 3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304" y="4257114"/>
            <a:ext cx="2009229" cy="2017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직사각형 43"/>
          <p:cNvSpPr/>
          <p:nvPr/>
        </p:nvSpPr>
        <p:spPr>
          <a:xfrm>
            <a:off x="1557331" y="4116933"/>
            <a:ext cx="1769852" cy="177135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1557405" y="4110121"/>
            <a:ext cx="872680" cy="88084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/>
          <p:cNvCxnSpPr/>
          <p:nvPr/>
        </p:nvCxnSpPr>
        <p:spPr>
          <a:xfrm>
            <a:off x="1993671" y="4550543"/>
            <a:ext cx="5975633" cy="71523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endCxn id="3109" idx="1"/>
          </p:cNvCxnSpPr>
          <p:nvPr/>
        </p:nvCxnSpPr>
        <p:spPr>
          <a:xfrm>
            <a:off x="2618763" y="5148649"/>
            <a:ext cx="2745275" cy="117130"/>
          </a:xfrm>
          <a:prstGeom prst="straightConnector1">
            <a:avLst/>
          </a:prstGeom>
          <a:ln w="2540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 rot="185860">
            <a:off x="3443268" y="5275664"/>
            <a:ext cx="20092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/>
              <a:t>텍스쳐링 </a:t>
            </a:r>
            <a:r>
              <a:rPr lang="en-US" altLang="ko-KR" sz="1000"/>
              <a:t>(0,0,1,1)</a:t>
            </a:r>
            <a:endParaRPr lang="ko-KR" altLang="en-US" sz="1000"/>
          </a:p>
        </p:txBody>
      </p:sp>
      <p:sp>
        <p:nvSpPr>
          <p:cNvPr id="62" name="TextBox 61"/>
          <p:cNvSpPr txBox="1"/>
          <p:nvPr/>
        </p:nvSpPr>
        <p:spPr>
          <a:xfrm rot="413180">
            <a:off x="3416506" y="4653569"/>
            <a:ext cx="20092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/>
              <a:t>텍스쳐링 </a:t>
            </a:r>
            <a:r>
              <a:rPr lang="en-US" altLang="ko-KR" sz="1000"/>
              <a:t>(0,0,0.5,0.5)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89769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33" grpId="0" animBg="1"/>
      <p:bldP spid="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9158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97711" y="3008867"/>
            <a:ext cx="10515600" cy="2718240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 dirty="0"/>
              <a:t>렌더링 파이프라인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990600" y="2255619"/>
            <a:ext cx="10515600" cy="475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로컬스페이스</a:t>
            </a:r>
            <a:r>
              <a:rPr lang="en-US" altLang="ko-KR" dirty="0"/>
              <a:t>: </a:t>
            </a:r>
            <a:r>
              <a:rPr lang="ko-KR" altLang="en-US" dirty="0"/>
              <a:t>오브젝트를 기준으로 하는 위치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990600" y="2731545"/>
            <a:ext cx="10515600" cy="475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월드스페이스</a:t>
            </a:r>
            <a:r>
              <a:rPr lang="en-US" altLang="ko-KR" dirty="0"/>
              <a:t>: 3</a:t>
            </a:r>
            <a:r>
              <a:rPr lang="ko-KR" altLang="en-US" dirty="0"/>
              <a:t>차원 공간 전체를 기준으로 하는 위치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990600" y="3181262"/>
            <a:ext cx="10515600" cy="475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뷰스페이스</a:t>
            </a:r>
            <a:r>
              <a:rPr lang="en-US" altLang="ko-KR" dirty="0"/>
              <a:t>: </a:t>
            </a:r>
            <a:r>
              <a:rPr lang="ko-KR" altLang="en-US" dirty="0"/>
              <a:t>가상의 카메라를 </a:t>
            </a:r>
            <a:r>
              <a:rPr lang="ko-KR" altLang="en-US" dirty="0" err="1"/>
              <a:t>기준으로하는</a:t>
            </a:r>
            <a:r>
              <a:rPr lang="ko-KR" altLang="en-US" dirty="0"/>
              <a:t> 위치</a:t>
            </a:r>
            <a:endParaRPr lang="en-US" altLang="ko-KR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990600" y="3666649"/>
            <a:ext cx="10515600" cy="1266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뷰포트변환</a:t>
            </a:r>
            <a:r>
              <a:rPr lang="en-US" altLang="ko-KR" dirty="0"/>
              <a:t>: </a:t>
            </a:r>
            <a:r>
              <a:rPr lang="ko-KR" altLang="en-US" dirty="0"/>
              <a:t>뷰스페이스를 기준으로 화면을 추려내고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/>
              <a:t>                </a:t>
            </a:r>
            <a:r>
              <a:rPr lang="ko-KR" altLang="en-US"/>
              <a:t>조명</a:t>
            </a:r>
            <a:r>
              <a:rPr lang="en-US" altLang="ko-KR"/>
              <a:t>, </a:t>
            </a:r>
            <a:r>
              <a:rPr lang="ko-KR" altLang="en-US"/>
              <a:t>클리핑후 투영을 </a:t>
            </a:r>
            <a:r>
              <a:rPr lang="ko-KR" altLang="en-US" dirty="0"/>
              <a:t>하여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뷰포트에</a:t>
            </a:r>
            <a:r>
              <a:rPr lang="ko-KR" altLang="en-US" dirty="0"/>
              <a:t> 보여줌</a:t>
            </a:r>
            <a:endParaRPr lang="en-US" altLang="ko-KR" dirty="0"/>
          </a:p>
        </p:txBody>
      </p:sp>
      <p:grpSp>
        <p:nvGrpSpPr>
          <p:cNvPr id="44" name="그룹 43"/>
          <p:cNvGrpSpPr/>
          <p:nvPr/>
        </p:nvGrpSpPr>
        <p:grpSpPr>
          <a:xfrm>
            <a:off x="2043404" y="4788800"/>
            <a:ext cx="1315616" cy="1287768"/>
            <a:chOff x="2043404" y="4543865"/>
            <a:chExt cx="1315616" cy="1287768"/>
          </a:xfrm>
        </p:grpSpPr>
        <p:grpSp>
          <p:nvGrpSpPr>
            <p:cNvPr id="25" name="그룹 24"/>
            <p:cNvGrpSpPr/>
            <p:nvPr/>
          </p:nvGrpSpPr>
          <p:grpSpPr>
            <a:xfrm>
              <a:off x="2242293" y="4954484"/>
              <a:ext cx="609930" cy="589383"/>
              <a:chOff x="5760874" y="4990323"/>
              <a:chExt cx="946279" cy="914401"/>
            </a:xfrm>
          </p:grpSpPr>
          <p:sp>
            <p:nvSpPr>
              <p:cNvPr id="22" name="자유형 21"/>
              <p:cNvSpPr/>
              <p:nvPr/>
            </p:nvSpPr>
            <p:spPr>
              <a:xfrm rot="10800000" flipV="1">
                <a:off x="5770984" y="4990323"/>
                <a:ext cx="914400" cy="264367"/>
              </a:xfrm>
              <a:custGeom>
                <a:avLst/>
                <a:gdLst>
                  <a:gd name="connsiteX0" fmla="*/ 0 w 914400"/>
                  <a:gd name="connsiteY0" fmla="*/ 0 h 289249"/>
                  <a:gd name="connsiteX1" fmla="*/ 625151 w 914400"/>
                  <a:gd name="connsiteY1" fmla="*/ 0 h 289249"/>
                  <a:gd name="connsiteX2" fmla="*/ 914400 w 914400"/>
                  <a:gd name="connsiteY2" fmla="*/ 289249 h 289249"/>
                  <a:gd name="connsiteX3" fmla="*/ 279919 w 914400"/>
                  <a:gd name="connsiteY3" fmla="*/ 289249 h 289249"/>
                  <a:gd name="connsiteX4" fmla="*/ 0 w 914400"/>
                  <a:gd name="connsiteY4" fmla="*/ 0 h 289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289249">
                    <a:moveTo>
                      <a:pt x="0" y="0"/>
                    </a:moveTo>
                    <a:lnTo>
                      <a:pt x="625151" y="0"/>
                    </a:lnTo>
                    <a:lnTo>
                      <a:pt x="914400" y="289249"/>
                    </a:lnTo>
                    <a:lnTo>
                      <a:pt x="279919" y="2892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자유형 22"/>
              <p:cNvSpPr/>
              <p:nvPr/>
            </p:nvSpPr>
            <p:spPr>
              <a:xfrm rot="5400000">
                <a:off x="6105329" y="5302899"/>
                <a:ext cx="914400" cy="289249"/>
              </a:xfrm>
              <a:custGeom>
                <a:avLst/>
                <a:gdLst>
                  <a:gd name="connsiteX0" fmla="*/ 0 w 914400"/>
                  <a:gd name="connsiteY0" fmla="*/ 0 h 289249"/>
                  <a:gd name="connsiteX1" fmla="*/ 625151 w 914400"/>
                  <a:gd name="connsiteY1" fmla="*/ 0 h 289249"/>
                  <a:gd name="connsiteX2" fmla="*/ 914400 w 914400"/>
                  <a:gd name="connsiteY2" fmla="*/ 289249 h 289249"/>
                  <a:gd name="connsiteX3" fmla="*/ 279919 w 914400"/>
                  <a:gd name="connsiteY3" fmla="*/ 289249 h 289249"/>
                  <a:gd name="connsiteX4" fmla="*/ 0 w 914400"/>
                  <a:gd name="connsiteY4" fmla="*/ 0 h 289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289249">
                    <a:moveTo>
                      <a:pt x="0" y="0"/>
                    </a:moveTo>
                    <a:lnTo>
                      <a:pt x="625151" y="0"/>
                    </a:lnTo>
                    <a:lnTo>
                      <a:pt x="914400" y="289249"/>
                    </a:lnTo>
                    <a:lnTo>
                      <a:pt x="279919" y="2892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5760874" y="5274909"/>
                <a:ext cx="650033" cy="62501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6" name="그룹 35"/>
            <p:cNvGrpSpPr/>
            <p:nvPr/>
          </p:nvGrpSpPr>
          <p:grpSpPr>
            <a:xfrm>
              <a:off x="2043404" y="4543865"/>
              <a:ext cx="1315616" cy="1287768"/>
              <a:chOff x="2043404" y="4543865"/>
              <a:chExt cx="1315616" cy="1287768"/>
            </a:xfrm>
          </p:grpSpPr>
          <p:cxnSp>
            <p:nvCxnSpPr>
              <p:cNvPr id="15" name="직선 화살표 연결선 14"/>
              <p:cNvCxnSpPr/>
              <p:nvPr/>
            </p:nvCxnSpPr>
            <p:spPr>
              <a:xfrm flipH="1">
                <a:off x="2043404" y="5327780"/>
                <a:ext cx="503853" cy="5038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5" name="그룹 34"/>
              <p:cNvGrpSpPr/>
              <p:nvPr/>
            </p:nvGrpSpPr>
            <p:grpSpPr>
              <a:xfrm>
                <a:off x="2547257" y="4543865"/>
                <a:ext cx="811763" cy="783915"/>
                <a:chOff x="2547257" y="4543865"/>
                <a:chExt cx="811763" cy="783915"/>
              </a:xfrm>
            </p:grpSpPr>
            <p:cxnSp>
              <p:nvCxnSpPr>
                <p:cNvPr id="5" name="직선 화살표 연결선 4"/>
                <p:cNvCxnSpPr/>
                <p:nvPr/>
              </p:nvCxnSpPr>
              <p:spPr>
                <a:xfrm flipV="1">
                  <a:off x="2547257" y="4543865"/>
                  <a:ext cx="0" cy="78391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직선 화살표 연결선 16"/>
                <p:cNvCxnSpPr/>
                <p:nvPr/>
              </p:nvCxnSpPr>
              <p:spPr>
                <a:xfrm>
                  <a:off x="2547257" y="5327780"/>
                  <a:ext cx="81176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3" name="그룹 42"/>
          <p:cNvGrpSpPr/>
          <p:nvPr/>
        </p:nvGrpSpPr>
        <p:grpSpPr>
          <a:xfrm>
            <a:off x="3715917" y="4769123"/>
            <a:ext cx="1315616" cy="1287768"/>
            <a:chOff x="3715917" y="4524188"/>
            <a:chExt cx="1315616" cy="1287768"/>
          </a:xfrm>
        </p:grpSpPr>
        <p:sp>
          <p:nvSpPr>
            <p:cNvPr id="33" name="타원 32"/>
            <p:cNvSpPr/>
            <p:nvPr/>
          </p:nvSpPr>
          <p:spPr>
            <a:xfrm>
              <a:off x="3938932" y="4979096"/>
              <a:ext cx="561674" cy="56167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4" name="그룹 33"/>
            <p:cNvGrpSpPr/>
            <p:nvPr/>
          </p:nvGrpSpPr>
          <p:grpSpPr>
            <a:xfrm>
              <a:off x="3715917" y="4524188"/>
              <a:ext cx="1315616" cy="1287768"/>
              <a:chOff x="3715917" y="4524188"/>
              <a:chExt cx="1315616" cy="1287768"/>
            </a:xfrm>
          </p:grpSpPr>
          <p:cxnSp>
            <p:nvCxnSpPr>
              <p:cNvPr id="30" name="직선 화살표 연결선 29"/>
              <p:cNvCxnSpPr/>
              <p:nvPr/>
            </p:nvCxnSpPr>
            <p:spPr>
              <a:xfrm flipV="1">
                <a:off x="4219770" y="4524188"/>
                <a:ext cx="0" cy="7839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화살표 연결선 30"/>
              <p:cNvCxnSpPr/>
              <p:nvPr/>
            </p:nvCxnSpPr>
            <p:spPr>
              <a:xfrm flipH="1">
                <a:off x="3715917" y="5308103"/>
                <a:ext cx="503853" cy="5038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화살표 연결선 31"/>
              <p:cNvCxnSpPr/>
              <p:nvPr/>
            </p:nvCxnSpPr>
            <p:spPr>
              <a:xfrm>
                <a:off x="4219770" y="5308103"/>
                <a:ext cx="81176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7" name="그룹 36"/>
          <p:cNvGrpSpPr/>
          <p:nvPr/>
        </p:nvGrpSpPr>
        <p:grpSpPr>
          <a:xfrm>
            <a:off x="2473937" y="4592393"/>
            <a:ext cx="2026669" cy="1983770"/>
            <a:chOff x="3715917" y="4524188"/>
            <a:chExt cx="1315616" cy="1287768"/>
          </a:xfrm>
        </p:grpSpPr>
        <p:cxnSp>
          <p:nvCxnSpPr>
            <p:cNvPr id="38" name="직선 화살표 연결선 37"/>
            <p:cNvCxnSpPr/>
            <p:nvPr/>
          </p:nvCxnSpPr>
          <p:spPr>
            <a:xfrm flipV="1">
              <a:off x="4219770" y="4524188"/>
              <a:ext cx="0" cy="783915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/>
            <p:cNvCxnSpPr/>
            <p:nvPr/>
          </p:nvCxnSpPr>
          <p:spPr>
            <a:xfrm flipH="1">
              <a:off x="3715917" y="5308103"/>
              <a:ext cx="503853" cy="50385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/>
            <p:cNvCxnSpPr/>
            <p:nvPr/>
          </p:nvCxnSpPr>
          <p:spPr>
            <a:xfrm>
              <a:off x="4219770" y="5308103"/>
              <a:ext cx="811763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그룹 54"/>
          <p:cNvGrpSpPr/>
          <p:nvPr/>
        </p:nvGrpSpPr>
        <p:grpSpPr>
          <a:xfrm>
            <a:off x="1949804" y="4462372"/>
            <a:ext cx="2727170" cy="2367885"/>
            <a:chOff x="1949804" y="4217437"/>
            <a:chExt cx="2727170" cy="2367885"/>
          </a:xfrm>
        </p:grpSpPr>
        <p:grpSp>
          <p:nvGrpSpPr>
            <p:cNvPr id="46" name="그룹 45"/>
            <p:cNvGrpSpPr/>
            <p:nvPr/>
          </p:nvGrpSpPr>
          <p:grpSpPr>
            <a:xfrm rot="2700000">
              <a:off x="4057072" y="5965421"/>
              <a:ext cx="811763" cy="428040"/>
              <a:chOff x="6399392" y="4971117"/>
              <a:chExt cx="811763" cy="428040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6587413" y="4974366"/>
                <a:ext cx="623742" cy="4247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이등변 삼각형 44"/>
              <p:cNvSpPr/>
              <p:nvPr/>
            </p:nvSpPr>
            <p:spPr>
              <a:xfrm rot="5400000">
                <a:off x="6359879" y="5010630"/>
                <a:ext cx="420691" cy="341665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2" name="직선 화살표 연결선 51"/>
            <p:cNvCxnSpPr>
              <a:stCxn id="45" idx="2"/>
            </p:cNvCxnSpPr>
            <p:nvPr/>
          </p:nvCxnSpPr>
          <p:spPr>
            <a:xfrm flipH="1" flipV="1">
              <a:off x="3967843" y="4217437"/>
              <a:ext cx="359444" cy="15236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/>
            <p:cNvCxnSpPr>
              <a:stCxn id="45" idx="4"/>
            </p:cNvCxnSpPr>
            <p:nvPr/>
          </p:nvCxnSpPr>
          <p:spPr>
            <a:xfrm flipH="1" flipV="1">
              <a:off x="1949804" y="5538747"/>
              <a:ext cx="2080010" cy="4998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자유형 55"/>
          <p:cNvSpPr/>
          <p:nvPr/>
        </p:nvSpPr>
        <p:spPr>
          <a:xfrm>
            <a:off x="1950098" y="4490364"/>
            <a:ext cx="2377189" cy="1793148"/>
          </a:xfrm>
          <a:custGeom>
            <a:avLst/>
            <a:gdLst>
              <a:gd name="connsiteX0" fmla="*/ 2034073 w 2388637"/>
              <a:gd name="connsiteY0" fmla="*/ 0 h 1791477"/>
              <a:gd name="connsiteX1" fmla="*/ 0 w 2388637"/>
              <a:gd name="connsiteY1" fmla="*/ 1306285 h 1791477"/>
              <a:gd name="connsiteX2" fmla="*/ 2052735 w 2388637"/>
              <a:gd name="connsiteY2" fmla="*/ 1791477 h 1791477"/>
              <a:gd name="connsiteX3" fmla="*/ 2388637 w 2388637"/>
              <a:gd name="connsiteY3" fmla="*/ 1483567 h 1791477"/>
              <a:gd name="connsiteX4" fmla="*/ 2034073 w 2388637"/>
              <a:gd name="connsiteY4" fmla="*/ 0 h 179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8637" h="1791477">
                <a:moveTo>
                  <a:pt x="2034073" y="0"/>
                </a:moveTo>
                <a:lnTo>
                  <a:pt x="0" y="1306285"/>
                </a:lnTo>
                <a:lnTo>
                  <a:pt x="2052735" y="1791477"/>
                </a:lnTo>
                <a:lnTo>
                  <a:pt x="2388637" y="1483567"/>
                </a:lnTo>
                <a:lnTo>
                  <a:pt x="2034073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8" name="직선 연결선 57"/>
          <p:cNvCxnSpPr>
            <a:stCxn id="56" idx="1"/>
            <a:endCxn id="56" idx="0"/>
          </p:cNvCxnSpPr>
          <p:nvPr/>
        </p:nvCxnSpPr>
        <p:spPr>
          <a:xfrm flipV="1">
            <a:off x="1950098" y="4490364"/>
            <a:ext cx="2024324" cy="13075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endCxn id="61" idx="1"/>
          </p:cNvCxnSpPr>
          <p:nvPr/>
        </p:nvCxnSpPr>
        <p:spPr>
          <a:xfrm>
            <a:off x="2989809" y="5144115"/>
            <a:ext cx="3757218" cy="30136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자유형 76"/>
          <p:cNvSpPr/>
          <p:nvPr/>
        </p:nvSpPr>
        <p:spPr>
          <a:xfrm>
            <a:off x="7269956" y="5133641"/>
            <a:ext cx="207169" cy="345282"/>
          </a:xfrm>
          <a:custGeom>
            <a:avLst/>
            <a:gdLst>
              <a:gd name="connsiteX0" fmla="*/ 0 w 207169"/>
              <a:gd name="connsiteY0" fmla="*/ 0 h 345282"/>
              <a:gd name="connsiteX1" fmla="*/ 207169 w 207169"/>
              <a:gd name="connsiteY1" fmla="*/ 171450 h 345282"/>
              <a:gd name="connsiteX2" fmla="*/ 2382 w 207169"/>
              <a:gd name="connsiteY2" fmla="*/ 345282 h 345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7169" h="345282">
                <a:moveTo>
                  <a:pt x="0" y="0"/>
                </a:moveTo>
                <a:lnTo>
                  <a:pt x="207169" y="171450"/>
                </a:lnTo>
                <a:lnTo>
                  <a:pt x="2382" y="345282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5" name="그룹 94"/>
          <p:cNvGrpSpPr/>
          <p:nvPr/>
        </p:nvGrpSpPr>
        <p:grpSpPr>
          <a:xfrm>
            <a:off x="6689327" y="4849831"/>
            <a:ext cx="1774532" cy="1468893"/>
            <a:chOff x="6689327" y="4604896"/>
            <a:chExt cx="1774532" cy="1468893"/>
          </a:xfrm>
        </p:grpSpPr>
        <p:sp>
          <p:nvSpPr>
            <p:cNvPr id="83" name="TextBox 82"/>
            <p:cNvSpPr txBox="1"/>
            <p:nvPr/>
          </p:nvSpPr>
          <p:spPr>
            <a:xfrm>
              <a:off x="6689327" y="5827568"/>
              <a:ext cx="13953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err="1"/>
                <a:t>뷰포트</a:t>
              </a:r>
              <a:endParaRPr lang="ko-KR" altLang="en-US" sz="1000" dirty="0"/>
            </a:p>
          </p:txBody>
        </p:sp>
        <p:grpSp>
          <p:nvGrpSpPr>
            <p:cNvPr id="94" name="그룹 93"/>
            <p:cNvGrpSpPr/>
            <p:nvPr/>
          </p:nvGrpSpPr>
          <p:grpSpPr>
            <a:xfrm>
              <a:off x="6747027" y="4604896"/>
              <a:ext cx="1716832" cy="1191289"/>
              <a:chOff x="6747027" y="4604896"/>
              <a:chExt cx="1716832" cy="1191289"/>
            </a:xfrm>
          </p:grpSpPr>
          <p:sp>
            <p:nvSpPr>
              <p:cNvPr id="61" name="직사각형 60"/>
              <p:cNvSpPr/>
              <p:nvPr/>
            </p:nvSpPr>
            <p:spPr>
              <a:xfrm>
                <a:off x="6747027" y="4604896"/>
                <a:ext cx="1716832" cy="119128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1" name="그룹 90"/>
              <p:cNvGrpSpPr/>
              <p:nvPr/>
            </p:nvGrpSpPr>
            <p:grpSpPr>
              <a:xfrm>
                <a:off x="7012039" y="4907542"/>
                <a:ext cx="1163990" cy="561674"/>
                <a:chOff x="9015363" y="4404184"/>
                <a:chExt cx="1163990" cy="561674"/>
              </a:xfrm>
            </p:grpSpPr>
            <p:sp>
              <p:nvSpPr>
                <p:cNvPr id="62" name="타원 61"/>
                <p:cNvSpPr/>
                <p:nvPr/>
              </p:nvSpPr>
              <p:spPr>
                <a:xfrm>
                  <a:off x="9617679" y="4404184"/>
                  <a:ext cx="561674" cy="561674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8" name="직사각형 87"/>
                <p:cNvSpPr/>
                <p:nvPr/>
              </p:nvSpPr>
              <p:spPr>
                <a:xfrm>
                  <a:off x="9015363" y="4522325"/>
                  <a:ext cx="382300" cy="38214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92" name="타원 91"/>
          <p:cNvSpPr/>
          <p:nvPr/>
        </p:nvSpPr>
        <p:spPr>
          <a:xfrm>
            <a:off x="2726454" y="4221874"/>
            <a:ext cx="466725" cy="46672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538843" y="1375907"/>
            <a:ext cx="10967357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2800"/>
              <a:t>3</a:t>
            </a:r>
            <a:r>
              <a:rPr lang="ko-KR" altLang="en-US" sz="2800"/>
              <a:t>차원 공간의 가상카메라를 이용하여 </a:t>
            </a:r>
            <a:r>
              <a:rPr lang="en-US" altLang="ko-KR" sz="2800"/>
              <a:t>2D</a:t>
            </a:r>
            <a:r>
              <a:rPr lang="ko-KR" altLang="en-US" sz="2800"/>
              <a:t>의 이미지를 만들어 </a:t>
            </a:r>
            <a:br>
              <a:rPr lang="en-US" altLang="ko-KR" sz="2800"/>
            </a:br>
            <a:r>
              <a:rPr lang="ko-KR" altLang="en-US" sz="2800"/>
              <a:t>화면에 보여주는 과정</a:t>
            </a:r>
          </a:p>
        </p:txBody>
      </p:sp>
    </p:spTree>
    <p:extLst>
      <p:ext uri="{BB962C8B-B14F-4D97-AF65-F5344CB8AC3E}">
        <p14:creationId xmlns:p14="http://schemas.microsoft.com/office/powerpoint/2010/main" val="428088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56" grpId="0" animBg="1"/>
      <p:bldP spid="92" grpId="0" animBg="1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48829"/>
          </a:xfrm>
        </p:spPr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353844" y="205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dirty="0" err="1"/>
              <a:t>QnA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0987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0800">
          <a:solidFill>
            <a:schemeClr val="accent6">
              <a:lumMod val="60000"/>
              <a:lumOff val="40000"/>
            </a:schemeClr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3252</TotalTime>
  <Words>662</Words>
  <Application>Microsoft Office PowerPoint</Application>
  <PresentationFormat>와이드스크린</PresentationFormat>
  <Paragraphs>134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3D 기초이론</vt:lpstr>
      <vt:lpstr>3차원 좌표계</vt:lpstr>
      <vt:lpstr>3D수학</vt:lpstr>
      <vt:lpstr>모델의 표현</vt:lpstr>
      <vt:lpstr>깊이버퍼</vt:lpstr>
      <vt:lpstr>스텐실 버퍼</vt:lpstr>
      <vt:lpstr>더블버퍼링</vt:lpstr>
      <vt:lpstr>셰이더와 셰이딩</vt:lpstr>
      <vt:lpstr>재질과 조명</vt:lpstr>
      <vt:lpstr>텍스쳐</vt:lpstr>
      <vt:lpstr>렌더링 파이프라인</vt:lpstr>
      <vt:lpstr>감사합니다!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게임 프로그래밍 세계에 오신 것 을 환영합니다!</dc:title>
  <dc:creator>khg</dc:creator>
  <cp:lastModifiedBy>김 홍규</cp:lastModifiedBy>
  <cp:revision>181</cp:revision>
  <dcterms:created xsi:type="dcterms:W3CDTF">2017-03-04T14:06:46Z</dcterms:created>
  <dcterms:modified xsi:type="dcterms:W3CDTF">2022-04-12T11:29:20Z</dcterms:modified>
</cp:coreProperties>
</file>